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5088"/>
  <p:notesSz cx="5145088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CD26CF-6AE2-5CC9-8F70-D03A7D08BE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04329A-6967-90F0-3C9E-C88AF1DC550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291465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66A806-DEF6-412E-9108-76949F5D9483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864C5DC-A3CF-7072-B7E3-6B491F8AD1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68275" y="1143000"/>
            <a:ext cx="5481638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CC46B13-A436-6DC2-352E-476CBA6155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6388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45608-2C36-2CD2-335B-2DA60B60EF5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CB487-D37B-2F33-4C65-5C0136E426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291465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A47123C-7FAC-4A59-981B-D1497F296A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PlaceHolder 1">
            <a:extLst>
              <a:ext uri="{FF2B5EF4-FFF2-40B4-BE49-F238E27FC236}">
                <a16:creationId xmlns:a16="http://schemas.microsoft.com/office/drawing/2014/main" id="{A06EF382-FC17-4638-9E4E-C4AF27E8BD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03" name="PlaceHolder 2">
            <a:extLst>
              <a:ext uri="{FF2B5EF4-FFF2-40B4-BE49-F238E27FC236}">
                <a16:creationId xmlns:a16="http://schemas.microsoft.com/office/drawing/2014/main" id="{EB5D5822-4F8C-9954-5677-7D5C6997B7D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04" name="Slide Number Placeholder 3">
            <a:extLst>
              <a:ext uri="{FF2B5EF4-FFF2-40B4-BE49-F238E27FC236}">
                <a16:creationId xmlns:a16="http://schemas.microsoft.com/office/drawing/2014/main" id="{DF26CA0F-072E-4C04-7078-EB37F4641544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ECCC862-0694-43AB-8D87-DEFB973F72DB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PlaceHolder 1">
            <a:extLst>
              <a:ext uri="{FF2B5EF4-FFF2-40B4-BE49-F238E27FC236}">
                <a16:creationId xmlns:a16="http://schemas.microsoft.com/office/drawing/2014/main" id="{59EE4BE8-9DB8-887D-BF69-8B40D4D90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06" name="PlaceHolder 2">
            <a:extLst>
              <a:ext uri="{FF2B5EF4-FFF2-40B4-BE49-F238E27FC236}">
                <a16:creationId xmlns:a16="http://schemas.microsoft.com/office/drawing/2014/main" id="{1AAB2870-85F2-502E-24A4-E0902DACD5F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07" name="Slide Number Placeholder 3">
            <a:extLst>
              <a:ext uri="{FF2B5EF4-FFF2-40B4-BE49-F238E27FC236}">
                <a16:creationId xmlns:a16="http://schemas.microsoft.com/office/drawing/2014/main" id="{378130AD-15E0-2F99-5CF8-CB50F1492E0C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8648C19-C883-4930-A34D-8C51FA600146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PlaceHolder 1">
            <a:extLst>
              <a:ext uri="{FF2B5EF4-FFF2-40B4-BE49-F238E27FC236}">
                <a16:creationId xmlns:a16="http://schemas.microsoft.com/office/drawing/2014/main" id="{7C3076D4-C39C-A584-4A47-CC56148754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09" name="PlaceHolder 2">
            <a:extLst>
              <a:ext uri="{FF2B5EF4-FFF2-40B4-BE49-F238E27FC236}">
                <a16:creationId xmlns:a16="http://schemas.microsoft.com/office/drawing/2014/main" id="{87C394F9-3890-AF25-EEC4-17921E575CB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10" name="Slide Number Placeholder 3">
            <a:extLst>
              <a:ext uri="{FF2B5EF4-FFF2-40B4-BE49-F238E27FC236}">
                <a16:creationId xmlns:a16="http://schemas.microsoft.com/office/drawing/2014/main" id="{935562AF-E926-D9A3-40CB-2008CA4F2F6A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B6DC4246-6FA9-4D2D-8071-55CCA624796A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PlaceHolder 1">
            <a:extLst>
              <a:ext uri="{FF2B5EF4-FFF2-40B4-BE49-F238E27FC236}">
                <a16:creationId xmlns:a16="http://schemas.microsoft.com/office/drawing/2014/main" id="{F17AF295-BD09-3C3D-A7BB-F37F1726AB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12" name="PlaceHolder 2">
            <a:extLst>
              <a:ext uri="{FF2B5EF4-FFF2-40B4-BE49-F238E27FC236}">
                <a16:creationId xmlns:a16="http://schemas.microsoft.com/office/drawing/2014/main" id="{2CB4B37D-3CCF-941B-2574-26E0E5A5F23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13" name="Slide Number Placeholder 3">
            <a:extLst>
              <a:ext uri="{FF2B5EF4-FFF2-40B4-BE49-F238E27FC236}">
                <a16:creationId xmlns:a16="http://schemas.microsoft.com/office/drawing/2014/main" id="{18E9399A-D92B-12B4-4DD1-5535EBFE34D4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46BEDAF-2761-4F11-98B5-FF8512C4298F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4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PlaceHolder 1">
            <a:extLst>
              <a:ext uri="{FF2B5EF4-FFF2-40B4-BE49-F238E27FC236}">
                <a16:creationId xmlns:a16="http://schemas.microsoft.com/office/drawing/2014/main" id="{E4638BF8-F96F-330B-20CB-D98DB8E7C6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15" name="PlaceHolder 2">
            <a:extLst>
              <a:ext uri="{FF2B5EF4-FFF2-40B4-BE49-F238E27FC236}">
                <a16:creationId xmlns:a16="http://schemas.microsoft.com/office/drawing/2014/main" id="{BAAEDE27-B660-5479-9DB5-C205515C0F2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16" name="Slide Number Placeholder 3">
            <a:extLst>
              <a:ext uri="{FF2B5EF4-FFF2-40B4-BE49-F238E27FC236}">
                <a16:creationId xmlns:a16="http://schemas.microsoft.com/office/drawing/2014/main" id="{0C688BA4-A3A2-1CC7-3A99-66F135C37AEA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750CA07-EE43-4B43-B667-3857F1B223AC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5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PlaceHolder 1">
            <a:extLst>
              <a:ext uri="{FF2B5EF4-FFF2-40B4-BE49-F238E27FC236}">
                <a16:creationId xmlns:a16="http://schemas.microsoft.com/office/drawing/2014/main" id="{0A6A6C1E-7B38-3377-8648-64F347D0E1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18" name="PlaceHolder 2">
            <a:extLst>
              <a:ext uri="{FF2B5EF4-FFF2-40B4-BE49-F238E27FC236}">
                <a16:creationId xmlns:a16="http://schemas.microsoft.com/office/drawing/2014/main" id="{5532939F-F4B9-4B9C-74CF-CF1F1A01FD4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19" name="Slide Number Placeholder 3">
            <a:extLst>
              <a:ext uri="{FF2B5EF4-FFF2-40B4-BE49-F238E27FC236}">
                <a16:creationId xmlns:a16="http://schemas.microsoft.com/office/drawing/2014/main" id="{969A3346-555E-3269-BCDA-EDC245FD33AC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CA4C683-221F-4E11-8DDE-9FD3F1D7F784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6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PlaceHolder 1">
            <a:extLst>
              <a:ext uri="{FF2B5EF4-FFF2-40B4-BE49-F238E27FC236}">
                <a16:creationId xmlns:a16="http://schemas.microsoft.com/office/drawing/2014/main" id="{A6569BB8-CFF7-5E67-5D1D-F12010414C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21" name="PlaceHolder 2">
            <a:extLst>
              <a:ext uri="{FF2B5EF4-FFF2-40B4-BE49-F238E27FC236}">
                <a16:creationId xmlns:a16="http://schemas.microsoft.com/office/drawing/2014/main" id="{A7859EF6-E283-0E41-8F24-57B0C56C2F3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22" name="Slide Number Placeholder 3">
            <a:extLst>
              <a:ext uri="{FF2B5EF4-FFF2-40B4-BE49-F238E27FC236}">
                <a16:creationId xmlns:a16="http://schemas.microsoft.com/office/drawing/2014/main" id="{B08450E6-708C-6EAC-4BE5-BE3D2688786B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F52B7EF-6BDE-4E59-8BB3-321D5DB50937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7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PlaceHolder 1">
            <a:extLst>
              <a:ext uri="{FF2B5EF4-FFF2-40B4-BE49-F238E27FC236}">
                <a16:creationId xmlns:a16="http://schemas.microsoft.com/office/drawing/2014/main" id="{CBA33BA6-DB60-1FD3-CE5A-A23973E5EE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24" name="PlaceHolder 2">
            <a:extLst>
              <a:ext uri="{FF2B5EF4-FFF2-40B4-BE49-F238E27FC236}">
                <a16:creationId xmlns:a16="http://schemas.microsoft.com/office/drawing/2014/main" id="{FB6F5709-72E6-35EC-B06E-A5349B77E3A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25" name="Slide Number Placeholder 3">
            <a:extLst>
              <a:ext uri="{FF2B5EF4-FFF2-40B4-BE49-F238E27FC236}">
                <a16:creationId xmlns:a16="http://schemas.microsoft.com/office/drawing/2014/main" id="{2454ACDA-764C-EF11-0993-290D2AAE676F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449F145-E5B9-4912-ADA3-416159D97C02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8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PlaceHolder 1">
            <a:extLst>
              <a:ext uri="{FF2B5EF4-FFF2-40B4-BE49-F238E27FC236}">
                <a16:creationId xmlns:a16="http://schemas.microsoft.com/office/drawing/2014/main" id="{E336A3E3-6836-E23E-282C-A653F96CF0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27" name="PlaceHolder 2">
            <a:extLst>
              <a:ext uri="{FF2B5EF4-FFF2-40B4-BE49-F238E27FC236}">
                <a16:creationId xmlns:a16="http://schemas.microsoft.com/office/drawing/2014/main" id="{CC44A1A0-3A93-8172-4014-1176D53B7C2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28" name="Slide Number Placeholder 3">
            <a:extLst>
              <a:ext uri="{FF2B5EF4-FFF2-40B4-BE49-F238E27FC236}">
                <a16:creationId xmlns:a16="http://schemas.microsoft.com/office/drawing/2014/main" id="{0C145AF8-42E4-FAA0-15D3-201B3D6C03D2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20D8410-5B2B-4AAA-AA09-F6D5F88348F1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9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PlaceHolder 1">
            <a:extLst>
              <a:ext uri="{FF2B5EF4-FFF2-40B4-BE49-F238E27FC236}">
                <a16:creationId xmlns:a16="http://schemas.microsoft.com/office/drawing/2014/main" id="{84D4BAA4-6D8B-18D1-9194-BA6AAF9F1E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30" name="PlaceHolder 2">
            <a:extLst>
              <a:ext uri="{FF2B5EF4-FFF2-40B4-BE49-F238E27FC236}">
                <a16:creationId xmlns:a16="http://schemas.microsoft.com/office/drawing/2014/main" id="{911DD084-9A7B-C3A1-FCA0-B90C27D2911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31" name="Slide Number Placeholder 3">
            <a:extLst>
              <a:ext uri="{FF2B5EF4-FFF2-40B4-BE49-F238E27FC236}">
                <a16:creationId xmlns:a16="http://schemas.microsoft.com/office/drawing/2014/main" id="{0F9E41CD-63E4-512A-2724-FEEDBBC8ACAF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8C4AAE52-B986-4568-A432-8DA299E6C7F4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10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PlaceHolder 1">
            <a:extLst>
              <a:ext uri="{FF2B5EF4-FFF2-40B4-BE49-F238E27FC236}">
                <a16:creationId xmlns:a16="http://schemas.microsoft.com/office/drawing/2014/main" id="{DB15ED04-34A0-DD02-D8CE-632397D865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33" name="PlaceHolder 2">
            <a:extLst>
              <a:ext uri="{FF2B5EF4-FFF2-40B4-BE49-F238E27FC236}">
                <a16:creationId xmlns:a16="http://schemas.microsoft.com/office/drawing/2014/main" id="{9915D5B9-98F5-03C1-A4E9-CDDAB8E974D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34" name="Slide Number Placeholder 3">
            <a:extLst>
              <a:ext uri="{FF2B5EF4-FFF2-40B4-BE49-F238E27FC236}">
                <a16:creationId xmlns:a16="http://schemas.microsoft.com/office/drawing/2014/main" id="{BB5E15BF-BA88-68F2-68C5-50F9302B8846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80C3240-27EA-4BC8-AC5B-58EA5432FDFB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11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PlaceHolder 1">
            <a:extLst>
              <a:ext uri="{FF2B5EF4-FFF2-40B4-BE49-F238E27FC236}">
                <a16:creationId xmlns:a16="http://schemas.microsoft.com/office/drawing/2014/main" id="{D345A633-2A52-836D-AD7F-85BB0B281D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36" name="PlaceHolder 2">
            <a:extLst>
              <a:ext uri="{FF2B5EF4-FFF2-40B4-BE49-F238E27FC236}">
                <a16:creationId xmlns:a16="http://schemas.microsoft.com/office/drawing/2014/main" id="{D7249786-ED3A-5D1E-76D4-7D75E133C54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37" name="Slide Number Placeholder 3">
            <a:extLst>
              <a:ext uri="{FF2B5EF4-FFF2-40B4-BE49-F238E27FC236}">
                <a16:creationId xmlns:a16="http://schemas.microsoft.com/office/drawing/2014/main" id="{7B65CB97-43CA-F5C4-2A05-C2BD726367B0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8E29BEBE-CABA-4570-BABA-22E17829ED50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12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PlaceHolder 1">
            <a:extLst>
              <a:ext uri="{FF2B5EF4-FFF2-40B4-BE49-F238E27FC236}">
                <a16:creationId xmlns:a16="http://schemas.microsoft.com/office/drawing/2014/main" id="{85DACEB5-3BCD-6D4D-6A41-23227D5B67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39" name="PlaceHolder 2">
            <a:extLst>
              <a:ext uri="{FF2B5EF4-FFF2-40B4-BE49-F238E27FC236}">
                <a16:creationId xmlns:a16="http://schemas.microsoft.com/office/drawing/2014/main" id="{2B564BA1-9415-1AA9-2BBC-73F6718011C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40" name="Slide Number Placeholder 3">
            <a:extLst>
              <a:ext uri="{FF2B5EF4-FFF2-40B4-BE49-F238E27FC236}">
                <a16:creationId xmlns:a16="http://schemas.microsoft.com/office/drawing/2014/main" id="{C1F7AC24-722B-8F56-5D7D-926A03CD009A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4BCF276-F1EA-4168-8476-18E819A9BBC8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13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PlaceHolder 1">
            <a:extLst>
              <a:ext uri="{FF2B5EF4-FFF2-40B4-BE49-F238E27FC236}">
                <a16:creationId xmlns:a16="http://schemas.microsoft.com/office/drawing/2014/main" id="{DF2E6F7E-461F-A5E4-A1D0-A08988F8D4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42" name="PlaceHolder 2">
            <a:extLst>
              <a:ext uri="{FF2B5EF4-FFF2-40B4-BE49-F238E27FC236}">
                <a16:creationId xmlns:a16="http://schemas.microsoft.com/office/drawing/2014/main" id="{42B18052-CFDC-1B00-9494-52718CDDA9E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43" name="Slide Number Placeholder 3">
            <a:extLst>
              <a:ext uri="{FF2B5EF4-FFF2-40B4-BE49-F238E27FC236}">
                <a16:creationId xmlns:a16="http://schemas.microsoft.com/office/drawing/2014/main" id="{2FC2215D-FCBC-AD46-228A-38E6E88FA1B1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907FEEDD-66A3-4B9A-8933-6D492014398F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14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PlaceHolder 1">
            <a:extLst>
              <a:ext uri="{FF2B5EF4-FFF2-40B4-BE49-F238E27FC236}">
                <a16:creationId xmlns:a16="http://schemas.microsoft.com/office/drawing/2014/main" id="{A2CAA1ED-1A5B-BC51-35AB-6BF630B945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45" name="PlaceHolder 2">
            <a:extLst>
              <a:ext uri="{FF2B5EF4-FFF2-40B4-BE49-F238E27FC236}">
                <a16:creationId xmlns:a16="http://schemas.microsoft.com/office/drawing/2014/main" id="{A54116A8-5B9D-B141-57E6-5F9A9B4689C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46" name="Slide Number Placeholder 3">
            <a:extLst>
              <a:ext uri="{FF2B5EF4-FFF2-40B4-BE49-F238E27FC236}">
                <a16:creationId xmlns:a16="http://schemas.microsoft.com/office/drawing/2014/main" id="{0B28F336-63B0-2C47-CABA-6BF6587F583D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17CEE2D-B9E7-4740-87B8-36B0F2F09015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15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PlaceHolder 1">
            <a:extLst>
              <a:ext uri="{FF2B5EF4-FFF2-40B4-BE49-F238E27FC236}">
                <a16:creationId xmlns:a16="http://schemas.microsoft.com/office/drawing/2014/main" id="{5C8CD020-A77C-4E65-30F2-CDA009CF1D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48" name="PlaceHolder 2">
            <a:extLst>
              <a:ext uri="{FF2B5EF4-FFF2-40B4-BE49-F238E27FC236}">
                <a16:creationId xmlns:a16="http://schemas.microsoft.com/office/drawing/2014/main" id="{F2012276-946E-FCB4-666B-F834D90F379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49" name="Slide Number Placeholder 3">
            <a:extLst>
              <a:ext uri="{FF2B5EF4-FFF2-40B4-BE49-F238E27FC236}">
                <a16:creationId xmlns:a16="http://schemas.microsoft.com/office/drawing/2014/main" id="{900B9017-6BE1-B5EE-41B6-92956C737873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8C1A089-CEDC-4BBB-B32B-678C553F772B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16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PlaceHolder 1">
            <a:extLst>
              <a:ext uri="{FF2B5EF4-FFF2-40B4-BE49-F238E27FC236}">
                <a16:creationId xmlns:a16="http://schemas.microsoft.com/office/drawing/2014/main" id="{8C77022E-5E51-1816-9569-68CD00B142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51" name="PlaceHolder 2">
            <a:extLst>
              <a:ext uri="{FF2B5EF4-FFF2-40B4-BE49-F238E27FC236}">
                <a16:creationId xmlns:a16="http://schemas.microsoft.com/office/drawing/2014/main" id="{B2483437-88A8-B62D-C273-352A594B9B3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52" name="Slide Number Placeholder 3">
            <a:extLst>
              <a:ext uri="{FF2B5EF4-FFF2-40B4-BE49-F238E27FC236}">
                <a16:creationId xmlns:a16="http://schemas.microsoft.com/office/drawing/2014/main" id="{005F2C65-C095-277D-2186-67ABAF3FE2CB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D2B4C29-1F9C-46AF-9DEF-94A546A7E16C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17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PlaceHolder 1">
            <a:extLst>
              <a:ext uri="{FF2B5EF4-FFF2-40B4-BE49-F238E27FC236}">
                <a16:creationId xmlns:a16="http://schemas.microsoft.com/office/drawing/2014/main" id="{338BBC56-B42C-0A58-DEBE-7D9BED08DD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54" name="PlaceHolder 2">
            <a:extLst>
              <a:ext uri="{FF2B5EF4-FFF2-40B4-BE49-F238E27FC236}">
                <a16:creationId xmlns:a16="http://schemas.microsoft.com/office/drawing/2014/main" id="{CC3DC275-A8C6-9ABB-E15B-89690F6B779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55" name="Slide Number Placeholder 3">
            <a:extLst>
              <a:ext uri="{FF2B5EF4-FFF2-40B4-BE49-F238E27FC236}">
                <a16:creationId xmlns:a16="http://schemas.microsoft.com/office/drawing/2014/main" id="{71F58984-0829-462A-7E4C-C0D902A65E3B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6DFB5F70-E63E-4BE9-9C74-5C3DD6BF515B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18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PlaceHolder 1">
            <a:extLst>
              <a:ext uri="{FF2B5EF4-FFF2-40B4-BE49-F238E27FC236}">
                <a16:creationId xmlns:a16="http://schemas.microsoft.com/office/drawing/2014/main" id="{747EF756-E96D-1943-5E82-F0795CE06C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57" name="PlaceHolder 2">
            <a:extLst>
              <a:ext uri="{FF2B5EF4-FFF2-40B4-BE49-F238E27FC236}">
                <a16:creationId xmlns:a16="http://schemas.microsoft.com/office/drawing/2014/main" id="{0EE68F77-48CE-6107-8A37-8D9BD848F7E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58" name="Slide Number Placeholder 3">
            <a:extLst>
              <a:ext uri="{FF2B5EF4-FFF2-40B4-BE49-F238E27FC236}">
                <a16:creationId xmlns:a16="http://schemas.microsoft.com/office/drawing/2014/main" id="{DB0F58AF-A2F9-2FED-2BB4-95C58AA70593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4017AC4-FE10-4B27-A3B5-725F47D7A045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19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PlaceHolder 1">
            <a:extLst>
              <a:ext uri="{FF2B5EF4-FFF2-40B4-BE49-F238E27FC236}">
                <a16:creationId xmlns:a16="http://schemas.microsoft.com/office/drawing/2014/main" id="{5E9EDFDC-539E-518B-5505-C1BCC7028C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60" name="PlaceHolder 2">
            <a:extLst>
              <a:ext uri="{FF2B5EF4-FFF2-40B4-BE49-F238E27FC236}">
                <a16:creationId xmlns:a16="http://schemas.microsoft.com/office/drawing/2014/main" id="{F1B6C40E-8665-4B2D-3B0E-815C3D023C4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61" name="Slide Number Placeholder 3">
            <a:extLst>
              <a:ext uri="{FF2B5EF4-FFF2-40B4-BE49-F238E27FC236}">
                <a16:creationId xmlns:a16="http://schemas.microsoft.com/office/drawing/2014/main" id="{126A7271-0A33-6A68-540C-03FF884BD038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CA73923-4A3C-4955-99B5-F7D41F3D3675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20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PlaceHolder 1">
            <a:extLst>
              <a:ext uri="{FF2B5EF4-FFF2-40B4-BE49-F238E27FC236}">
                <a16:creationId xmlns:a16="http://schemas.microsoft.com/office/drawing/2014/main" id="{288C2B21-36D0-E326-9DBF-BABB0139FE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63" name="PlaceHolder 2">
            <a:extLst>
              <a:ext uri="{FF2B5EF4-FFF2-40B4-BE49-F238E27FC236}">
                <a16:creationId xmlns:a16="http://schemas.microsoft.com/office/drawing/2014/main" id="{A782035A-4641-5F58-A91E-CBDCCA75D94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64" name="Slide Number Placeholder 3">
            <a:extLst>
              <a:ext uri="{FF2B5EF4-FFF2-40B4-BE49-F238E27FC236}">
                <a16:creationId xmlns:a16="http://schemas.microsoft.com/office/drawing/2014/main" id="{65A4B720-DA23-57CD-F569-4D6A88D43C03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013E687-AC5F-46FF-A87F-FD4AD0127857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21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PlaceHolder 1">
            <a:extLst>
              <a:ext uri="{FF2B5EF4-FFF2-40B4-BE49-F238E27FC236}">
                <a16:creationId xmlns:a16="http://schemas.microsoft.com/office/drawing/2014/main" id="{86EECB0D-222B-8ECE-D88D-BB3FF6201B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66" name="PlaceHolder 2">
            <a:extLst>
              <a:ext uri="{FF2B5EF4-FFF2-40B4-BE49-F238E27FC236}">
                <a16:creationId xmlns:a16="http://schemas.microsoft.com/office/drawing/2014/main" id="{E5A41D90-3297-6AA9-A618-653769ACA4A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67" name="Slide Number Placeholder 3">
            <a:extLst>
              <a:ext uri="{FF2B5EF4-FFF2-40B4-BE49-F238E27FC236}">
                <a16:creationId xmlns:a16="http://schemas.microsoft.com/office/drawing/2014/main" id="{3B9DBB48-E7B0-519C-AEC4-00C597713045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5880FC8-2912-48AD-B7CD-7D7E9FB54DAD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22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PlaceHolder 1">
            <a:extLst>
              <a:ext uri="{FF2B5EF4-FFF2-40B4-BE49-F238E27FC236}">
                <a16:creationId xmlns:a16="http://schemas.microsoft.com/office/drawing/2014/main" id="{79079AC3-D81D-72BA-D75B-90F23A54A5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69" name="PlaceHolder 2">
            <a:extLst>
              <a:ext uri="{FF2B5EF4-FFF2-40B4-BE49-F238E27FC236}">
                <a16:creationId xmlns:a16="http://schemas.microsoft.com/office/drawing/2014/main" id="{E4B7BCCA-DFFA-B768-1F89-2B8CA9A4519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70" name="Slide Number Placeholder 3">
            <a:extLst>
              <a:ext uri="{FF2B5EF4-FFF2-40B4-BE49-F238E27FC236}">
                <a16:creationId xmlns:a16="http://schemas.microsoft.com/office/drawing/2014/main" id="{C108BDDD-E95F-2BD8-D6A6-211561A79195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6B535B1D-5975-436A-A73F-90F9B716716F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23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PlaceHolder 1">
            <a:extLst>
              <a:ext uri="{FF2B5EF4-FFF2-40B4-BE49-F238E27FC236}">
                <a16:creationId xmlns:a16="http://schemas.microsoft.com/office/drawing/2014/main" id="{89D720AF-3177-E4EC-4F6A-1150469508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72" name="PlaceHolder 2">
            <a:extLst>
              <a:ext uri="{FF2B5EF4-FFF2-40B4-BE49-F238E27FC236}">
                <a16:creationId xmlns:a16="http://schemas.microsoft.com/office/drawing/2014/main" id="{69C475F5-C76C-AE92-BF00-D1957274055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73" name="Slide Number Placeholder 3">
            <a:extLst>
              <a:ext uri="{FF2B5EF4-FFF2-40B4-BE49-F238E27FC236}">
                <a16:creationId xmlns:a16="http://schemas.microsoft.com/office/drawing/2014/main" id="{F3E3BC8C-FB58-A4CB-2C75-80CB7B6D28FE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F51E03E-F94D-4789-8904-7B7970636DAE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24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PlaceHolder 1">
            <a:extLst>
              <a:ext uri="{FF2B5EF4-FFF2-40B4-BE49-F238E27FC236}">
                <a16:creationId xmlns:a16="http://schemas.microsoft.com/office/drawing/2014/main" id="{32798828-A039-1A69-4102-74C855BB68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75" name="PlaceHolder 2">
            <a:extLst>
              <a:ext uri="{FF2B5EF4-FFF2-40B4-BE49-F238E27FC236}">
                <a16:creationId xmlns:a16="http://schemas.microsoft.com/office/drawing/2014/main" id="{7433FCE2-1225-E856-FA38-07AEA0A1931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76" name="Slide Number Placeholder 3">
            <a:extLst>
              <a:ext uri="{FF2B5EF4-FFF2-40B4-BE49-F238E27FC236}">
                <a16:creationId xmlns:a16="http://schemas.microsoft.com/office/drawing/2014/main" id="{DC6FD2F2-509F-44E4-AC97-1CA76337CAEA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54AA11B-0D26-452C-B4B6-8F89413A00E8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25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PlaceHolder 1">
            <a:extLst>
              <a:ext uri="{FF2B5EF4-FFF2-40B4-BE49-F238E27FC236}">
                <a16:creationId xmlns:a16="http://schemas.microsoft.com/office/drawing/2014/main" id="{D5836E9F-CA26-590C-5FFE-A31E6DA333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78" name="PlaceHolder 2">
            <a:extLst>
              <a:ext uri="{FF2B5EF4-FFF2-40B4-BE49-F238E27FC236}">
                <a16:creationId xmlns:a16="http://schemas.microsoft.com/office/drawing/2014/main" id="{36099A8A-93CD-94D0-CCC1-24053ED091B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79" name="Slide Number Placeholder 3">
            <a:extLst>
              <a:ext uri="{FF2B5EF4-FFF2-40B4-BE49-F238E27FC236}">
                <a16:creationId xmlns:a16="http://schemas.microsoft.com/office/drawing/2014/main" id="{07B0EF44-8F87-3101-2A2C-944B559EB868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48FD8C6-AC1E-4319-B5E7-EBD56EAA3C3D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26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PlaceHolder 1">
            <a:extLst>
              <a:ext uri="{FF2B5EF4-FFF2-40B4-BE49-F238E27FC236}">
                <a16:creationId xmlns:a16="http://schemas.microsoft.com/office/drawing/2014/main" id="{A3853607-721F-1489-1B74-EBC50DE87F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81" name="PlaceHolder 2">
            <a:extLst>
              <a:ext uri="{FF2B5EF4-FFF2-40B4-BE49-F238E27FC236}">
                <a16:creationId xmlns:a16="http://schemas.microsoft.com/office/drawing/2014/main" id="{E5DCF018-8D1C-E0DE-59A7-48F6E43CB06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82" name="Slide Number Placeholder 3">
            <a:extLst>
              <a:ext uri="{FF2B5EF4-FFF2-40B4-BE49-F238E27FC236}">
                <a16:creationId xmlns:a16="http://schemas.microsoft.com/office/drawing/2014/main" id="{7DF4AEB0-4C60-AE69-2C80-4C53FE0BFA09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293097B-7D85-4AF5-883D-9A687C662FF8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27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PlaceHolder 1">
            <a:extLst>
              <a:ext uri="{FF2B5EF4-FFF2-40B4-BE49-F238E27FC236}">
                <a16:creationId xmlns:a16="http://schemas.microsoft.com/office/drawing/2014/main" id="{023FE0C1-E944-8A90-06F4-73CB7C33FA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84" name="PlaceHolder 2">
            <a:extLst>
              <a:ext uri="{FF2B5EF4-FFF2-40B4-BE49-F238E27FC236}">
                <a16:creationId xmlns:a16="http://schemas.microsoft.com/office/drawing/2014/main" id="{B738A669-C40B-9690-9EE6-C0EF42D6F96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85" name="Slide Number Placeholder 3">
            <a:extLst>
              <a:ext uri="{FF2B5EF4-FFF2-40B4-BE49-F238E27FC236}">
                <a16:creationId xmlns:a16="http://schemas.microsoft.com/office/drawing/2014/main" id="{10A5A4D3-6F2A-3333-0139-D784A10858B8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4DA350A-0B33-43DD-BED9-E36E0BFE2181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28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PlaceHolder 1">
            <a:extLst>
              <a:ext uri="{FF2B5EF4-FFF2-40B4-BE49-F238E27FC236}">
                <a16:creationId xmlns:a16="http://schemas.microsoft.com/office/drawing/2014/main" id="{DB231A53-E3E7-58F2-659C-367946D01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87" name="PlaceHolder 2">
            <a:extLst>
              <a:ext uri="{FF2B5EF4-FFF2-40B4-BE49-F238E27FC236}">
                <a16:creationId xmlns:a16="http://schemas.microsoft.com/office/drawing/2014/main" id="{98E4C9F0-8593-1E2B-A258-23520184D6B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88" name="Slide Number Placeholder 3">
            <a:extLst>
              <a:ext uri="{FF2B5EF4-FFF2-40B4-BE49-F238E27FC236}">
                <a16:creationId xmlns:a16="http://schemas.microsoft.com/office/drawing/2014/main" id="{2F0DF1D7-2B16-C615-44C7-9D7F31B4DC64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40E9002-4559-4ABF-809A-7D44194EDBD6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29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PlaceHolder 1">
            <a:extLst>
              <a:ext uri="{FF2B5EF4-FFF2-40B4-BE49-F238E27FC236}">
                <a16:creationId xmlns:a16="http://schemas.microsoft.com/office/drawing/2014/main" id="{11B79DA1-200F-C1F9-693A-62859A5E13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90" name="PlaceHolder 2">
            <a:extLst>
              <a:ext uri="{FF2B5EF4-FFF2-40B4-BE49-F238E27FC236}">
                <a16:creationId xmlns:a16="http://schemas.microsoft.com/office/drawing/2014/main" id="{CDC454A9-6DD6-A374-196A-4766C832C4E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91" name="Slide Number Placeholder 3">
            <a:extLst>
              <a:ext uri="{FF2B5EF4-FFF2-40B4-BE49-F238E27FC236}">
                <a16:creationId xmlns:a16="http://schemas.microsoft.com/office/drawing/2014/main" id="{24141D44-4971-0A7C-CF7F-D1E3AE46A7DC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C62A97C-9F72-4117-B3D6-22604112ABF1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30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PlaceHolder 1">
            <a:extLst>
              <a:ext uri="{FF2B5EF4-FFF2-40B4-BE49-F238E27FC236}">
                <a16:creationId xmlns:a16="http://schemas.microsoft.com/office/drawing/2014/main" id="{D89076C5-7424-F94A-F748-7D5694A5F4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93" name="PlaceHolder 2">
            <a:extLst>
              <a:ext uri="{FF2B5EF4-FFF2-40B4-BE49-F238E27FC236}">
                <a16:creationId xmlns:a16="http://schemas.microsoft.com/office/drawing/2014/main" id="{65CEC4A6-42FC-1384-2E59-1FAFA1802F4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94" name="Slide Number Placeholder 3">
            <a:extLst>
              <a:ext uri="{FF2B5EF4-FFF2-40B4-BE49-F238E27FC236}">
                <a16:creationId xmlns:a16="http://schemas.microsoft.com/office/drawing/2014/main" id="{EC3CA005-F9ED-A6E1-0EBC-215BD0A13298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8011454-146E-4D8B-A3AE-6BDD981B8B91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31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PlaceHolder 1">
            <a:extLst>
              <a:ext uri="{FF2B5EF4-FFF2-40B4-BE49-F238E27FC236}">
                <a16:creationId xmlns:a16="http://schemas.microsoft.com/office/drawing/2014/main" id="{5FFE57F3-CB73-BA16-6BA6-876698C80E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0"/>
            <a:ext cx="0" cy="0"/>
          </a:xfr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96" name="PlaceHolder 2">
            <a:extLst>
              <a:ext uri="{FF2B5EF4-FFF2-40B4-BE49-F238E27FC236}">
                <a16:creationId xmlns:a16="http://schemas.microsoft.com/office/drawing/2014/main" id="{52D27685-38C3-8B8A-E195-6A64268E544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3292475"/>
          </a:xfrm>
          <a:ln w="0"/>
        </p:spPr>
        <p:txBody>
          <a:bodyPr lIns="0" tIns="0" rIns="0" bIns="0" anchor="t">
            <a:noAutofit/>
          </a:bodyPr>
          <a:lstStyle/>
          <a:p>
            <a:pPr eaLnBrk="1" fontAlgn="auto" hangingPunct="1">
              <a:spcBef>
                <a:spcPts val="451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</a:endParaRPr>
          </a:p>
        </p:txBody>
      </p:sp>
      <p:sp>
        <p:nvSpPr>
          <p:cNvPr id="1097" name="Slide Number Placeholder 3">
            <a:extLst>
              <a:ext uri="{FF2B5EF4-FFF2-40B4-BE49-F238E27FC236}">
                <a16:creationId xmlns:a16="http://schemas.microsoft.com/office/drawing/2014/main" id="{939F02D4-2CB4-EDA8-5C99-C2BB728A7B67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30BE9C2-5D34-46F4-904E-7771DC5BB91E}" type="slidenum">
              <a:rPr lang="en-US" spc="-1">
                <a:solidFill>
                  <a:srgbClr val="000000"/>
                </a:solidFill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32</a:t>
            </a:fld>
            <a:endParaRPr lang="en-US" spc="-1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4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/>
          <a:cs typeface="DejaVu Sans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/>
          <a:cs typeface="DejaVu Sans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/>
          <a:cs typeface="DejaVu Sans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/>
          <a:cs typeface="DejaVu Sans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/>
          <a:cs typeface="DejaVu Sans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/>
          <a:cs typeface="DejaVu Sans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/>
          <a:cs typeface="DejaVu Sans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/>
          <a:cs typeface="DejaVu Sans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26B9DE3F-9E61-3FC3-2DD6-8F191CC5294E}"/>
              </a:ext>
            </a:extLst>
          </p:cNvPr>
          <p:cNvSpPr/>
          <p:nvPr/>
        </p:nvSpPr>
        <p:spPr>
          <a:xfrm>
            <a:off x="0" y="0"/>
            <a:ext cx="109538" cy="5143500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9E0D489-05DC-8ED8-F24B-E1352015EB2F}"/>
              </a:ext>
            </a:extLst>
          </p:cNvPr>
          <p:cNvSpPr/>
          <p:nvPr/>
        </p:nvSpPr>
        <p:spPr>
          <a:xfrm>
            <a:off x="6218238" y="0"/>
            <a:ext cx="2925762" cy="5143500"/>
          </a:xfrm>
          <a:prstGeom prst="rect">
            <a:avLst/>
          </a:prstGeom>
          <a:solidFill>
            <a:srgbClr val="BFDBFE"/>
          </a:solidFill>
          <a:ln w="12600">
            <a:solidFill>
              <a:srgbClr val="BFDBFE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D2C13C4-AFCF-486F-B98E-16DC317FC16D}"/>
              </a:ext>
            </a:extLst>
          </p:cNvPr>
          <p:cNvSpPr/>
          <p:nvPr/>
        </p:nvSpPr>
        <p:spPr>
          <a:xfrm>
            <a:off x="6858000" y="-731838"/>
            <a:ext cx="2286000" cy="2286001"/>
          </a:xfrm>
          <a:prstGeom prst="line">
            <a:avLst/>
          </a:prstGeom>
          <a:ln w="12600">
            <a:solidFill>
              <a:srgbClr val="1D4ED8">
                <a:alpha val="70000"/>
              </a:srgb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60E2F35-ADF3-2F09-8B7D-CCEE9125D1D1}"/>
              </a:ext>
            </a:extLst>
          </p:cNvPr>
          <p:cNvSpPr/>
          <p:nvPr/>
        </p:nvSpPr>
        <p:spPr>
          <a:xfrm>
            <a:off x="7497763" y="3200400"/>
            <a:ext cx="1646237" cy="1646238"/>
          </a:xfrm>
          <a:prstGeom prst="line">
            <a:avLst/>
          </a:prstGeom>
          <a:ln w="12600">
            <a:solidFill>
              <a:srgbClr val="1E40AF">
                <a:alpha val="70000"/>
              </a:srgb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4E425D4-9E91-162F-5E44-73AF404744EE}"/>
              </a:ext>
            </a:extLst>
          </p:cNvPr>
          <p:cNvSpPr/>
          <p:nvPr/>
        </p:nvSpPr>
        <p:spPr>
          <a:xfrm>
            <a:off x="320675" y="549275"/>
            <a:ext cx="5486400" cy="365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b="1" spc="-1">
                <a:solidFill>
                  <a:srgbClr val="0EA5E9"/>
                </a:solidFill>
                <a:latin typeface="Calibri"/>
                <a:ea typeface="Calibri"/>
              </a:rPr>
              <a:t>SESSION 3</a:t>
            </a:r>
            <a:endParaRPr lang="en-US" sz="13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C9ED764-F37A-D635-7A8C-2AF0070106E3}"/>
              </a:ext>
            </a:extLst>
          </p:cNvPr>
          <p:cNvSpPr/>
          <p:nvPr/>
        </p:nvSpPr>
        <p:spPr>
          <a:xfrm>
            <a:off x="320675" y="960438"/>
            <a:ext cx="5668963" cy="19192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4800" b="1" spc="-1">
                <a:solidFill>
                  <a:srgbClr val="1E3A8A"/>
                </a:solidFill>
                <a:latin typeface="Calibri"/>
                <a:ea typeface="Calibri"/>
              </a:rPr>
              <a:t>Multi-Agent</a:t>
            </a:r>
            <a:endParaRPr lang="en-US" sz="4800" spc="-1">
              <a:solidFill>
                <a:srgbClr val="000000"/>
              </a:solidFill>
              <a:latin typeface="Calibri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4800" b="1" spc="-1">
                <a:solidFill>
                  <a:srgbClr val="1E3A8A"/>
                </a:solidFill>
                <a:latin typeface="Calibri"/>
                <a:ea typeface="Calibri"/>
              </a:rPr>
              <a:t>Systems</a:t>
            </a:r>
            <a:endParaRPr lang="en-US" sz="4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F032718-7024-A5CF-E2C6-8DB7493BE844}"/>
              </a:ext>
            </a:extLst>
          </p:cNvPr>
          <p:cNvSpPr/>
          <p:nvPr/>
        </p:nvSpPr>
        <p:spPr>
          <a:xfrm>
            <a:off x="320675" y="2879725"/>
            <a:ext cx="5668963" cy="3667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i="1" spc="-1" dirty="0" err="1">
                <a:solidFill>
                  <a:srgbClr val="0C4A6E"/>
                </a:solidFill>
                <a:latin typeface="Calibri"/>
                <a:ea typeface="Calibri"/>
              </a:rPr>
              <a:t>LangGraph</a:t>
            </a:r>
            <a:r>
              <a:rPr lang="en-US" sz="1400" i="1" spc="-1" dirty="0">
                <a:solidFill>
                  <a:srgbClr val="0C4A6E"/>
                </a:solidFill>
                <a:latin typeface="Calibri"/>
                <a:ea typeface="Calibri"/>
              </a:rPr>
              <a:t> &amp; </a:t>
            </a:r>
            <a:r>
              <a:rPr lang="en-US" sz="1400" i="1" spc="-1" dirty="0" err="1">
                <a:solidFill>
                  <a:srgbClr val="0C4A6E"/>
                </a:solidFill>
                <a:latin typeface="Calibri"/>
                <a:ea typeface="Calibri"/>
              </a:rPr>
              <a:t>AutoGen</a:t>
            </a:r>
            <a:r>
              <a:rPr lang="en-US" sz="1400" i="1" spc="-1" dirty="0">
                <a:solidFill>
                  <a:srgbClr val="0C4A6E"/>
                </a:solidFill>
                <a:latin typeface="Calibri"/>
                <a:ea typeface="Calibri"/>
              </a:rPr>
              <a:t> - Building Distributed AI Agents</a:t>
            </a:r>
            <a:endParaRPr lang="en-US" sz="14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E00734A-B069-24E5-EC63-3A038E170AF7}"/>
              </a:ext>
            </a:extLst>
          </p:cNvPr>
          <p:cNvSpPr/>
          <p:nvPr/>
        </p:nvSpPr>
        <p:spPr>
          <a:xfrm>
            <a:off x="320675" y="3382963"/>
            <a:ext cx="2376488" cy="1587"/>
          </a:xfrm>
          <a:prstGeom prst="rect">
            <a:avLst/>
          </a:prstGeom>
          <a:solidFill>
            <a:srgbClr val="7B8DB5"/>
          </a:solidFill>
          <a:ln w="12600">
            <a:solidFill>
              <a:srgbClr val="7B8DB5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283F88E-7AD1-8204-BD6F-10F8F8647233}"/>
              </a:ext>
            </a:extLst>
          </p:cNvPr>
          <p:cNvSpPr/>
          <p:nvPr/>
        </p:nvSpPr>
        <p:spPr>
          <a:xfrm>
            <a:off x="320675" y="3521075"/>
            <a:ext cx="5668963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rgbClr val="1E3A8A"/>
                </a:solidFill>
                <a:latin typeface="Calibri"/>
                <a:ea typeface="Calibri"/>
              </a:rPr>
              <a:t>Agentic AI Workshop  ·  School of CSE  ·  KLE Technological University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059" name="Picture 19" descr="Multi agent system - Free computer icons">
            <a:extLst>
              <a:ext uri="{FF2B5EF4-FFF2-40B4-BE49-F238E27FC236}">
                <a16:creationId xmlns:a16="http://schemas.microsoft.com/office/drawing/2014/main" id="{60BBF66F-780C-EBFC-6B81-5C24781B8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539338" y="2168098"/>
            <a:ext cx="2359335" cy="2359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0" name="Picture 2">
            <a:extLst>
              <a:ext uri="{FF2B5EF4-FFF2-40B4-BE49-F238E27FC236}">
                <a16:creationId xmlns:a16="http://schemas.microsoft.com/office/drawing/2014/main" id="{9AD0AF1B-7CD4-E865-D3A2-245D12255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93675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6706826-1E5A-665E-23E5-5D4981C0BD22}"/>
              </a:ext>
            </a:extLst>
          </p:cNvPr>
          <p:cNvCxnSpPr>
            <a:cxnSpLocks/>
          </p:cNvCxnSpPr>
          <p:nvPr/>
        </p:nvCxnSpPr>
        <p:spPr>
          <a:xfrm flipH="1" flipV="1">
            <a:off x="246063" y="3857625"/>
            <a:ext cx="1582737" cy="1346200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836CD81-1593-D281-58D9-455F1AFF68B2}"/>
              </a:ext>
            </a:extLst>
          </p:cNvPr>
          <p:cNvCxnSpPr>
            <a:cxnSpLocks/>
          </p:cNvCxnSpPr>
          <p:nvPr/>
        </p:nvCxnSpPr>
        <p:spPr>
          <a:xfrm flipH="1" flipV="1">
            <a:off x="338138" y="4267200"/>
            <a:ext cx="1582737" cy="1346200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4DC500-8F82-972C-2A5F-5DBCFA6A7E39}"/>
              </a:ext>
            </a:extLst>
          </p:cNvPr>
          <p:cNvCxnSpPr>
            <a:cxnSpLocks/>
          </p:cNvCxnSpPr>
          <p:nvPr/>
        </p:nvCxnSpPr>
        <p:spPr>
          <a:xfrm flipH="1" flipV="1">
            <a:off x="430213" y="4676775"/>
            <a:ext cx="1584325" cy="1346200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AE66F7BC-4CA2-3777-8848-C23F2E44BF85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C1C42FDA-5F32-40DA-3F7C-C20E2FA94EF3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 dirty="0">
                <a:solidFill>
                  <a:schemeClr val="bg1"/>
                </a:solidFill>
                <a:latin typeface="Calibri"/>
              </a:rPr>
              <a:t>AGENDA</a:t>
            </a:r>
            <a:endParaRPr lang="en-US" sz="8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EEC5D56D-914A-2E22-B4CD-190DAECE5FA5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400" b="1" spc="-1" dirty="0">
                <a:solidFill>
                  <a:srgbClr val="1E3A8A"/>
                </a:solidFill>
                <a:latin typeface="Calibri"/>
                <a:ea typeface="Calibri"/>
              </a:rPr>
              <a:t>Session 3 - Full Agenda</a:t>
            </a:r>
            <a:endParaRPr lang="en-US" sz="24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429E24DC-87DF-609F-A7D3-598EF9F36809}"/>
              </a:ext>
            </a:extLst>
          </p:cNvPr>
          <p:cNvSpPr/>
          <p:nvPr/>
        </p:nvSpPr>
        <p:spPr>
          <a:xfrm>
            <a:off x="365125" y="1050925"/>
            <a:ext cx="2743200" cy="293688"/>
          </a:xfrm>
          <a:prstGeom prst="rect">
            <a:avLst/>
          </a:prstGeom>
          <a:solidFill>
            <a:srgbClr val="DBEAFE"/>
          </a:solidFill>
          <a:ln w="12600">
            <a:solidFill>
              <a:schemeClr val="accent2">
                <a:lumMod val="60000"/>
                <a:lumOff val="40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F15979F-6C5C-B72B-3833-A54EDD3CD885}"/>
              </a:ext>
            </a:extLst>
          </p:cNvPr>
          <p:cNvSpPr/>
          <p:nvPr/>
        </p:nvSpPr>
        <p:spPr>
          <a:xfrm>
            <a:off x="365125" y="1050925"/>
            <a:ext cx="2743200" cy="293688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1E3A8A"/>
                </a:solidFill>
                <a:latin typeface="Calibri"/>
              </a:rPr>
              <a:t>Section 1–3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9D6EA5D2-4D63-2AD9-AFDF-7B127B8C7084}"/>
              </a:ext>
            </a:extLst>
          </p:cNvPr>
          <p:cNvSpPr/>
          <p:nvPr/>
        </p:nvSpPr>
        <p:spPr>
          <a:xfrm>
            <a:off x="365125" y="1417638"/>
            <a:ext cx="2743200" cy="547687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6702F260-DA92-549C-AAC1-0EFCEF3ED12A}"/>
              </a:ext>
            </a:extLst>
          </p:cNvPr>
          <p:cNvSpPr/>
          <p:nvPr/>
        </p:nvSpPr>
        <p:spPr>
          <a:xfrm>
            <a:off x="365125" y="1417638"/>
            <a:ext cx="46038" cy="54768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7F533F5F-3BD7-1176-97FF-DEDEC3ECE7DF}"/>
              </a:ext>
            </a:extLst>
          </p:cNvPr>
          <p:cNvSpPr/>
          <p:nvPr/>
        </p:nvSpPr>
        <p:spPr>
          <a:xfrm>
            <a:off x="476250" y="1454150"/>
            <a:ext cx="257810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1E3A8A"/>
                </a:solidFill>
                <a:latin typeface="Calibri"/>
                <a:ea typeface="Calibri"/>
              </a:rPr>
              <a:t>Session 2 Recap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7BA4F4B5-3B22-A09A-29AB-B494BBBC309E}"/>
              </a:ext>
            </a:extLst>
          </p:cNvPr>
          <p:cNvSpPr/>
          <p:nvPr/>
        </p:nvSpPr>
        <p:spPr>
          <a:xfrm>
            <a:off x="476250" y="1692275"/>
            <a:ext cx="257810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spc="-1" dirty="0" err="1">
                <a:solidFill>
                  <a:srgbClr val="1E3A8A"/>
                </a:solidFill>
                <a:latin typeface="Calibri"/>
                <a:ea typeface="Calibri"/>
              </a:rPr>
              <a:t>LangChain</a:t>
            </a:r>
            <a:r>
              <a:rPr lang="en-US" sz="950" spc="-1" dirty="0">
                <a:solidFill>
                  <a:srgbClr val="1E3A8A"/>
                </a:solidFill>
                <a:latin typeface="Calibri"/>
                <a:ea typeface="Calibri"/>
              </a:rPr>
              <a:t> + RAG + MCP</a:t>
            </a:r>
            <a:endParaRPr lang="en-US" sz="95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44B6509A-E349-552B-47E4-0BEC762DED0B}"/>
              </a:ext>
            </a:extLst>
          </p:cNvPr>
          <p:cNvSpPr/>
          <p:nvPr/>
        </p:nvSpPr>
        <p:spPr>
          <a:xfrm>
            <a:off x="365125" y="2011363"/>
            <a:ext cx="2743200" cy="549275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F9333D74-07DD-BA7A-0C88-FA680E08B036}"/>
              </a:ext>
            </a:extLst>
          </p:cNvPr>
          <p:cNvSpPr/>
          <p:nvPr/>
        </p:nvSpPr>
        <p:spPr>
          <a:xfrm>
            <a:off x="365125" y="2011363"/>
            <a:ext cx="46038" cy="549275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3B557EE8-0E76-B8D1-F8EE-CD3A805659ED}"/>
              </a:ext>
            </a:extLst>
          </p:cNvPr>
          <p:cNvSpPr/>
          <p:nvPr/>
        </p:nvSpPr>
        <p:spPr>
          <a:xfrm>
            <a:off x="476250" y="2047875"/>
            <a:ext cx="257810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  <a:ea typeface="Calibri"/>
              </a:rPr>
              <a:t>Why Multi-Agent?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0E13DFA4-E55F-B81A-8DBA-0022CA6603B8}"/>
              </a:ext>
            </a:extLst>
          </p:cNvPr>
          <p:cNvSpPr/>
          <p:nvPr/>
        </p:nvSpPr>
        <p:spPr>
          <a:xfrm>
            <a:off x="476250" y="2286000"/>
            <a:ext cx="2578100" cy="2016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spc="-1">
                <a:solidFill>
                  <a:srgbClr val="1E3A8A"/>
                </a:solidFill>
                <a:latin typeface="Calibri"/>
                <a:ea typeface="Calibri"/>
              </a:rPr>
              <a:t>Beyond single-agent limits</a:t>
            </a:r>
            <a:endParaRPr lang="en-US" sz="9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5CC57FC2-5059-BF30-E0F7-3BF754D32DA6}"/>
              </a:ext>
            </a:extLst>
          </p:cNvPr>
          <p:cNvSpPr/>
          <p:nvPr/>
        </p:nvSpPr>
        <p:spPr>
          <a:xfrm>
            <a:off x="365125" y="2606675"/>
            <a:ext cx="2743200" cy="547688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61CB86BC-D10D-D6B5-FBDB-022DE8EDC097}"/>
              </a:ext>
            </a:extLst>
          </p:cNvPr>
          <p:cNvSpPr/>
          <p:nvPr/>
        </p:nvSpPr>
        <p:spPr>
          <a:xfrm>
            <a:off x="365125" y="2606675"/>
            <a:ext cx="46038" cy="547688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C73C6DE3-45B3-F8F1-E8C9-C06F72483D9F}"/>
              </a:ext>
            </a:extLst>
          </p:cNvPr>
          <p:cNvSpPr/>
          <p:nvPr/>
        </p:nvSpPr>
        <p:spPr>
          <a:xfrm>
            <a:off x="476250" y="2643188"/>
            <a:ext cx="2578100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  <a:ea typeface="Calibri"/>
              </a:rPr>
              <a:t>Intro: LangGraph &amp; AutoGen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E55312F7-88A0-DF5E-F536-3BB88592E724}"/>
              </a:ext>
            </a:extLst>
          </p:cNvPr>
          <p:cNvSpPr/>
          <p:nvPr/>
        </p:nvSpPr>
        <p:spPr>
          <a:xfrm>
            <a:off x="476250" y="2879725"/>
            <a:ext cx="2578100" cy="2016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spc="-1">
                <a:solidFill>
                  <a:srgbClr val="1E3A8A"/>
                </a:solidFill>
                <a:latin typeface="Calibri"/>
                <a:ea typeface="Calibri"/>
              </a:rPr>
              <a:t>Two frameworks, one goal</a:t>
            </a:r>
            <a:endParaRPr lang="en-US" sz="9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46B1DA8E-28CA-4A0D-CA6C-89D4497ABFAF}"/>
              </a:ext>
            </a:extLst>
          </p:cNvPr>
          <p:cNvSpPr/>
          <p:nvPr/>
        </p:nvSpPr>
        <p:spPr>
          <a:xfrm>
            <a:off x="365125" y="3200400"/>
            <a:ext cx="2743200" cy="549275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3CDDEF05-B0E5-43A1-BE00-469ECD4CB5B4}"/>
              </a:ext>
            </a:extLst>
          </p:cNvPr>
          <p:cNvSpPr/>
          <p:nvPr/>
        </p:nvSpPr>
        <p:spPr>
          <a:xfrm>
            <a:off x="365125" y="3200400"/>
            <a:ext cx="46038" cy="549275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1E45E9DF-3969-78E4-41C5-01D99D00C8E5}"/>
              </a:ext>
            </a:extLst>
          </p:cNvPr>
          <p:cNvSpPr/>
          <p:nvPr/>
        </p:nvSpPr>
        <p:spPr>
          <a:xfrm>
            <a:off x="476250" y="3236913"/>
            <a:ext cx="257810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  <a:ea typeface="Calibri"/>
              </a:rPr>
              <a:t>Why LangGraph?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AF1CAE1C-9086-CFBA-F85A-3445C68CDB63}"/>
              </a:ext>
            </a:extLst>
          </p:cNvPr>
          <p:cNvSpPr/>
          <p:nvPr/>
        </p:nvSpPr>
        <p:spPr>
          <a:xfrm>
            <a:off x="476250" y="3475038"/>
            <a:ext cx="2578100" cy="2016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spc="-1">
                <a:solidFill>
                  <a:srgbClr val="1E3A8A"/>
                </a:solidFill>
                <a:latin typeface="Calibri"/>
                <a:ea typeface="Calibri"/>
              </a:rPr>
              <a:t>Graph-based state machines</a:t>
            </a:r>
            <a:endParaRPr lang="en-US" sz="9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Shape 21">
            <a:extLst>
              <a:ext uri="{FF2B5EF4-FFF2-40B4-BE49-F238E27FC236}">
                <a16:creationId xmlns:a16="http://schemas.microsoft.com/office/drawing/2014/main" id="{3FE8FD8E-1B35-08BA-481D-44A0C933D402}"/>
              </a:ext>
            </a:extLst>
          </p:cNvPr>
          <p:cNvSpPr/>
          <p:nvPr/>
        </p:nvSpPr>
        <p:spPr>
          <a:xfrm>
            <a:off x="365125" y="3794125"/>
            <a:ext cx="2743200" cy="549275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09101C4A-A24D-CD7F-AC38-9AC3586643DE}"/>
              </a:ext>
            </a:extLst>
          </p:cNvPr>
          <p:cNvSpPr/>
          <p:nvPr/>
        </p:nvSpPr>
        <p:spPr>
          <a:xfrm>
            <a:off x="365125" y="3794125"/>
            <a:ext cx="46038" cy="549275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5AF1A133-3EF3-1D5E-B69D-D1C180CCA518}"/>
              </a:ext>
            </a:extLst>
          </p:cNvPr>
          <p:cNvSpPr/>
          <p:nvPr/>
        </p:nvSpPr>
        <p:spPr>
          <a:xfrm>
            <a:off x="476250" y="3830638"/>
            <a:ext cx="257810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  <a:ea typeface="Calibri"/>
              </a:rPr>
              <a:t>LangGraph Architecture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7EB39579-A274-354C-B2FC-C4D3E84D5344}"/>
              </a:ext>
            </a:extLst>
          </p:cNvPr>
          <p:cNvSpPr/>
          <p:nvPr/>
        </p:nvSpPr>
        <p:spPr>
          <a:xfrm>
            <a:off x="476250" y="4068763"/>
            <a:ext cx="2578100" cy="2016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spc="-1">
                <a:solidFill>
                  <a:srgbClr val="1E3A8A"/>
                </a:solidFill>
                <a:latin typeface="Calibri"/>
                <a:ea typeface="Calibri"/>
              </a:rPr>
              <a:t>State · Nodes · Edges</a:t>
            </a:r>
            <a:endParaRPr lang="en-US" sz="9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Shape 25">
            <a:extLst>
              <a:ext uri="{FF2B5EF4-FFF2-40B4-BE49-F238E27FC236}">
                <a16:creationId xmlns:a16="http://schemas.microsoft.com/office/drawing/2014/main" id="{83F839F7-6CE7-4501-74A1-9187996EE523}"/>
              </a:ext>
            </a:extLst>
          </p:cNvPr>
          <p:cNvSpPr/>
          <p:nvPr/>
        </p:nvSpPr>
        <p:spPr>
          <a:xfrm>
            <a:off x="365125" y="4389438"/>
            <a:ext cx="2743200" cy="547687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Shape 26">
            <a:extLst>
              <a:ext uri="{FF2B5EF4-FFF2-40B4-BE49-F238E27FC236}">
                <a16:creationId xmlns:a16="http://schemas.microsoft.com/office/drawing/2014/main" id="{2C6F0FA7-3DEC-23ED-B7C8-487AB8A98A55}"/>
              </a:ext>
            </a:extLst>
          </p:cNvPr>
          <p:cNvSpPr/>
          <p:nvPr/>
        </p:nvSpPr>
        <p:spPr>
          <a:xfrm>
            <a:off x="365125" y="4389438"/>
            <a:ext cx="46038" cy="54768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5A94F407-3358-D7CB-CB62-5E43F458714D}"/>
              </a:ext>
            </a:extLst>
          </p:cNvPr>
          <p:cNvSpPr/>
          <p:nvPr/>
        </p:nvSpPr>
        <p:spPr>
          <a:xfrm>
            <a:off x="476250" y="4425950"/>
            <a:ext cx="257810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  <a:ea typeface="Calibri"/>
              </a:rPr>
              <a:t>LangGraph Patterns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FD3DF3EA-0588-BB4F-40CD-4B877A5D0EB9}"/>
              </a:ext>
            </a:extLst>
          </p:cNvPr>
          <p:cNvSpPr/>
          <p:nvPr/>
        </p:nvSpPr>
        <p:spPr>
          <a:xfrm>
            <a:off x="476250" y="4664075"/>
            <a:ext cx="257810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spc="-1">
                <a:solidFill>
                  <a:srgbClr val="1E3A8A"/>
                </a:solidFill>
                <a:latin typeface="Calibri"/>
                <a:ea typeface="Calibri"/>
              </a:rPr>
              <a:t>Conditional edges &amp; cycles</a:t>
            </a:r>
            <a:endParaRPr lang="en-US" sz="9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Shape 29">
            <a:extLst>
              <a:ext uri="{FF2B5EF4-FFF2-40B4-BE49-F238E27FC236}">
                <a16:creationId xmlns:a16="http://schemas.microsoft.com/office/drawing/2014/main" id="{1689E634-3017-2E01-B851-21BB18478F2F}"/>
              </a:ext>
            </a:extLst>
          </p:cNvPr>
          <p:cNvSpPr/>
          <p:nvPr/>
        </p:nvSpPr>
        <p:spPr>
          <a:xfrm>
            <a:off x="3292475" y="1050925"/>
            <a:ext cx="2743200" cy="293688"/>
          </a:xfrm>
          <a:prstGeom prst="rect">
            <a:avLst/>
          </a:prstGeom>
          <a:solidFill>
            <a:srgbClr val="DBEAFE"/>
          </a:solidFill>
          <a:ln w="12600">
            <a:solidFill>
              <a:schemeClr val="accent2">
                <a:lumMod val="7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513E2607-8A4D-0C4D-2FCA-96BBF893CDB0}"/>
              </a:ext>
            </a:extLst>
          </p:cNvPr>
          <p:cNvSpPr/>
          <p:nvPr/>
        </p:nvSpPr>
        <p:spPr>
          <a:xfrm>
            <a:off x="3292475" y="1050925"/>
            <a:ext cx="2743200" cy="293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1E3A8A"/>
                </a:solidFill>
                <a:latin typeface="Calibri"/>
              </a:rPr>
              <a:t>Section 3–4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Shape 31">
            <a:extLst>
              <a:ext uri="{FF2B5EF4-FFF2-40B4-BE49-F238E27FC236}">
                <a16:creationId xmlns:a16="http://schemas.microsoft.com/office/drawing/2014/main" id="{3AFD5733-7180-FE35-EB85-F73748F5A4C5}"/>
              </a:ext>
            </a:extLst>
          </p:cNvPr>
          <p:cNvSpPr/>
          <p:nvPr/>
        </p:nvSpPr>
        <p:spPr>
          <a:xfrm>
            <a:off x="3292475" y="1417638"/>
            <a:ext cx="2743200" cy="547687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Shape 32">
            <a:extLst>
              <a:ext uri="{FF2B5EF4-FFF2-40B4-BE49-F238E27FC236}">
                <a16:creationId xmlns:a16="http://schemas.microsoft.com/office/drawing/2014/main" id="{CCD50C54-E350-05BB-DDC5-B440E7002E5B}"/>
              </a:ext>
            </a:extLst>
          </p:cNvPr>
          <p:cNvSpPr/>
          <p:nvPr/>
        </p:nvSpPr>
        <p:spPr>
          <a:xfrm>
            <a:off x="3292475" y="1417638"/>
            <a:ext cx="44450" cy="54768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7A480FCE-234B-A197-5577-E0382E2551A0}"/>
              </a:ext>
            </a:extLst>
          </p:cNvPr>
          <p:cNvSpPr/>
          <p:nvPr/>
        </p:nvSpPr>
        <p:spPr>
          <a:xfrm>
            <a:off x="3402013" y="1454150"/>
            <a:ext cx="257810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 err="1">
                <a:solidFill>
                  <a:srgbClr val="1E3A8A"/>
                </a:solidFill>
                <a:latin typeface="Calibri"/>
                <a:ea typeface="Calibri"/>
              </a:rPr>
              <a:t>LangGraph</a:t>
            </a:r>
            <a:r>
              <a:rPr lang="en-US" sz="1100" b="1" spc="-1" dirty="0">
                <a:solidFill>
                  <a:srgbClr val="1E3A8A"/>
                </a:solidFill>
                <a:latin typeface="Calibri"/>
                <a:ea typeface="Calibri"/>
              </a:rPr>
              <a:t> Use Case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Text 34">
            <a:extLst>
              <a:ext uri="{FF2B5EF4-FFF2-40B4-BE49-F238E27FC236}">
                <a16:creationId xmlns:a16="http://schemas.microsoft.com/office/drawing/2014/main" id="{694C9268-9E96-0FF3-3F2E-5042A84B39FD}"/>
              </a:ext>
            </a:extLst>
          </p:cNvPr>
          <p:cNvSpPr/>
          <p:nvPr/>
        </p:nvSpPr>
        <p:spPr>
          <a:xfrm>
            <a:off x="3402013" y="1692275"/>
            <a:ext cx="257810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spc="-1" dirty="0">
                <a:solidFill>
                  <a:srgbClr val="1E3A8A"/>
                </a:solidFill>
                <a:latin typeface="Calibri"/>
                <a:ea typeface="Calibri"/>
              </a:rPr>
              <a:t>Customer support agent walkthrough</a:t>
            </a:r>
            <a:endParaRPr lang="en-US" sz="95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Shape 35">
            <a:extLst>
              <a:ext uri="{FF2B5EF4-FFF2-40B4-BE49-F238E27FC236}">
                <a16:creationId xmlns:a16="http://schemas.microsoft.com/office/drawing/2014/main" id="{6083BA70-66A0-7622-EEE0-85DE1D2889C8}"/>
              </a:ext>
            </a:extLst>
          </p:cNvPr>
          <p:cNvSpPr/>
          <p:nvPr/>
        </p:nvSpPr>
        <p:spPr>
          <a:xfrm>
            <a:off x="3292475" y="2011363"/>
            <a:ext cx="2743200" cy="549275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Shape 36">
            <a:extLst>
              <a:ext uri="{FF2B5EF4-FFF2-40B4-BE49-F238E27FC236}">
                <a16:creationId xmlns:a16="http://schemas.microsoft.com/office/drawing/2014/main" id="{D5DE2E7B-B936-3753-89CE-B0BB85942E36}"/>
              </a:ext>
            </a:extLst>
          </p:cNvPr>
          <p:cNvSpPr/>
          <p:nvPr/>
        </p:nvSpPr>
        <p:spPr>
          <a:xfrm>
            <a:off x="3292475" y="2011363"/>
            <a:ext cx="44450" cy="549275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Text 37">
            <a:extLst>
              <a:ext uri="{FF2B5EF4-FFF2-40B4-BE49-F238E27FC236}">
                <a16:creationId xmlns:a16="http://schemas.microsoft.com/office/drawing/2014/main" id="{90F98896-C2A5-9281-0A02-7EEB9D1D43D1}"/>
              </a:ext>
            </a:extLst>
          </p:cNvPr>
          <p:cNvSpPr/>
          <p:nvPr/>
        </p:nvSpPr>
        <p:spPr>
          <a:xfrm>
            <a:off x="3402013" y="2047875"/>
            <a:ext cx="257810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  <a:ea typeface="Calibri"/>
              </a:rPr>
              <a:t>LangGraph Code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Text 38">
            <a:extLst>
              <a:ext uri="{FF2B5EF4-FFF2-40B4-BE49-F238E27FC236}">
                <a16:creationId xmlns:a16="http://schemas.microsoft.com/office/drawing/2014/main" id="{60FDAB56-BB05-4EED-59E9-BE4077B8EE0E}"/>
              </a:ext>
            </a:extLst>
          </p:cNvPr>
          <p:cNvSpPr/>
          <p:nvPr/>
        </p:nvSpPr>
        <p:spPr>
          <a:xfrm>
            <a:off x="3402013" y="2286000"/>
            <a:ext cx="2578100" cy="2016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spc="-1">
                <a:solidFill>
                  <a:srgbClr val="1E3A8A"/>
                </a:solidFill>
                <a:latin typeface="Calibri"/>
                <a:ea typeface="Calibri"/>
              </a:rPr>
              <a:t>Build a graph in 10 lines</a:t>
            </a:r>
            <a:endParaRPr lang="en-US" sz="9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Shape 39">
            <a:extLst>
              <a:ext uri="{FF2B5EF4-FFF2-40B4-BE49-F238E27FC236}">
                <a16:creationId xmlns:a16="http://schemas.microsoft.com/office/drawing/2014/main" id="{B95EFF5D-7440-9568-EA33-C525BDA1403F}"/>
              </a:ext>
            </a:extLst>
          </p:cNvPr>
          <p:cNvSpPr/>
          <p:nvPr/>
        </p:nvSpPr>
        <p:spPr>
          <a:xfrm>
            <a:off x="3292475" y="2606675"/>
            <a:ext cx="2743200" cy="547688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Shape 40">
            <a:extLst>
              <a:ext uri="{FF2B5EF4-FFF2-40B4-BE49-F238E27FC236}">
                <a16:creationId xmlns:a16="http://schemas.microsoft.com/office/drawing/2014/main" id="{340A3BDF-F29D-11C1-BA1F-2232B90F6483}"/>
              </a:ext>
            </a:extLst>
          </p:cNvPr>
          <p:cNvSpPr/>
          <p:nvPr/>
        </p:nvSpPr>
        <p:spPr>
          <a:xfrm>
            <a:off x="3292475" y="2606675"/>
            <a:ext cx="44450" cy="547688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Text 41">
            <a:extLst>
              <a:ext uri="{FF2B5EF4-FFF2-40B4-BE49-F238E27FC236}">
                <a16:creationId xmlns:a16="http://schemas.microsoft.com/office/drawing/2014/main" id="{E21A592D-630F-0DFD-CE1B-4B355F88E024}"/>
              </a:ext>
            </a:extLst>
          </p:cNvPr>
          <p:cNvSpPr/>
          <p:nvPr/>
        </p:nvSpPr>
        <p:spPr>
          <a:xfrm>
            <a:off x="3402013" y="2643188"/>
            <a:ext cx="2578100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  <a:ea typeface="Calibri"/>
              </a:rPr>
              <a:t>LangGraph Demo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Text 42">
            <a:extLst>
              <a:ext uri="{FF2B5EF4-FFF2-40B4-BE49-F238E27FC236}">
                <a16:creationId xmlns:a16="http://schemas.microsoft.com/office/drawing/2014/main" id="{3AC3AABF-9E0F-8A37-3288-5E66C7743E6B}"/>
              </a:ext>
            </a:extLst>
          </p:cNvPr>
          <p:cNvSpPr/>
          <p:nvPr/>
        </p:nvSpPr>
        <p:spPr>
          <a:xfrm>
            <a:off x="3402013" y="2879725"/>
            <a:ext cx="2578100" cy="2016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spc="-1">
                <a:solidFill>
                  <a:srgbClr val="1E3A8A"/>
                </a:solidFill>
                <a:latin typeface="Calibri"/>
                <a:ea typeface="Calibri"/>
              </a:rPr>
              <a:t>Hands-on walkthrough</a:t>
            </a:r>
            <a:endParaRPr lang="en-US" sz="9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Shape 43">
            <a:extLst>
              <a:ext uri="{FF2B5EF4-FFF2-40B4-BE49-F238E27FC236}">
                <a16:creationId xmlns:a16="http://schemas.microsoft.com/office/drawing/2014/main" id="{86EA0649-82AB-60CE-3E3A-17CB4D41F340}"/>
              </a:ext>
            </a:extLst>
          </p:cNvPr>
          <p:cNvSpPr/>
          <p:nvPr/>
        </p:nvSpPr>
        <p:spPr>
          <a:xfrm>
            <a:off x="3292475" y="3200400"/>
            <a:ext cx="2743200" cy="549275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Shape 44">
            <a:extLst>
              <a:ext uri="{FF2B5EF4-FFF2-40B4-BE49-F238E27FC236}">
                <a16:creationId xmlns:a16="http://schemas.microsoft.com/office/drawing/2014/main" id="{066799DD-71A4-6D9B-C17B-C171FDAA5E6D}"/>
              </a:ext>
            </a:extLst>
          </p:cNvPr>
          <p:cNvSpPr/>
          <p:nvPr/>
        </p:nvSpPr>
        <p:spPr>
          <a:xfrm>
            <a:off x="3292475" y="3200400"/>
            <a:ext cx="44450" cy="549275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Text 45">
            <a:extLst>
              <a:ext uri="{FF2B5EF4-FFF2-40B4-BE49-F238E27FC236}">
                <a16:creationId xmlns:a16="http://schemas.microsoft.com/office/drawing/2014/main" id="{97A6B035-165B-2904-AA01-E5471DF99414}"/>
              </a:ext>
            </a:extLst>
          </p:cNvPr>
          <p:cNvSpPr/>
          <p:nvPr/>
        </p:nvSpPr>
        <p:spPr>
          <a:xfrm>
            <a:off x="3402013" y="3236913"/>
            <a:ext cx="257810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  <a:ea typeface="Calibri"/>
              </a:rPr>
              <a:t>AutoGen Intro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Text 46">
            <a:extLst>
              <a:ext uri="{FF2B5EF4-FFF2-40B4-BE49-F238E27FC236}">
                <a16:creationId xmlns:a16="http://schemas.microsoft.com/office/drawing/2014/main" id="{540E7996-500E-01E6-A7FB-1B5AA9467D30}"/>
              </a:ext>
            </a:extLst>
          </p:cNvPr>
          <p:cNvSpPr/>
          <p:nvPr/>
        </p:nvSpPr>
        <p:spPr>
          <a:xfrm>
            <a:off x="3402013" y="3475038"/>
            <a:ext cx="2578100" cy="2016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spc="-1">
                <a:solidFill>
                  <a:srgbClr val="1E3A8A"/>
                </a:solidFill>
                <a:latin typeface="Calibri"/>
                <a:ea typeface="Calibri"/>
              </a:rPr>
              <a:t>Conversational multi-agent</a:t>
            </a:r>
            <a:endParaRPr lang="en-US" sz="9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Shape 47">
            <a:extLst>
              <a:ext uri="{FF2B5EF4-FFF2-40B4-BE49-F238E27FC236}">
                <a16:creationId xmlns:a16="http://schemas.microsoft.com/office/drawing/2014/main" id="{BF34293A-5B6E-C6EF-045E-557FE24484A2}"/>
              </a:ext>
            </a:extLst>
          </p:cNvPr>
          <p:cNvSpPr/>
          <p:nvPr/>
        </p:nvSpPr>
        <p:spPr>
          <a:xfrm>
            <a:off x="3292475" y="3794125"/>
            <a:ext cx="2743200" cy="549275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Shape 48">
            <a:extLst>
              <a:ext uri="{FF2B5EF4-FFF2-40B4-BE49-F238E27FC236}">
                <a16:creationId xmlns:a16="http://schemas.microsoft.com/office/drawing/2014/main" id="{ECDFE99C-8951-40F1-1EE8-890C24200496}"/>
              </a:ext>
            </a:extLst>
          </p:cNvPr>
          <p:cNvSpPr/>
          <p:nvPr/>
        </p:nvSpPr>
        <p:spPr>
          <a:xfrm>
            <a:off x="3292475" y="3794125"/>
            <a:ext cx="44450" cy="549275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Text 49">
            <a:extLst>
              <a:ext uri="{FF2B5EF4-FFF2-40B4-BE49-F238E27FC236}">
                <a16:creationId xmlns:a16="http://schemas.microsoft.com/office/drawing/2014/main" id="{64274F78-EE0E-3686-1434-5A4A7609D396}"/>
              </a:ext>
            </a:extLst>
          </p:cNvPr>
          <p:cNvSpPr/>
          <p:nvPr/>
        </p:nvSpPr>
        <p:spPr>
          <a:xfrm>
            <a:off x="3402013" y="3830638"/>
            <a:ext cx="257810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  <a:ea typeface="Calibri"/>
              </a:rPr>
              <a:t>AutoGen Architecture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Text 50">
            <a:extLst>
              <a:ext uri="{FF2B5EF4-FFF2-40B4-BE49-F238E27FC236}">
                <a16:creationId xmlns:a16="http://schemas.microsoft.com/office/drawing/2014/main" id="{556B0205-0775-CCF4-6D16-1D13B288F3AF}"/>
              </a:ext>
            </a:extLst>
          </p:cNvPr>
          <p:cNvSpPr/>
          <p:nvPr/>
        </p:nvSpPr>
        <p:spPr>
          <a:xfrm>
            <a:off x="3402013" y="4068763"/>
            <a:ext cx="2578100" cy="2016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spc="-1">
                <a:solidFill>
                  <a:srgbClr val="1E3A8A"/>
                </a:solidFill>
                <a:latin typeface="Calibri"/>
                <a:ea typeface="Calibri"/>
              </a:rPr>
              <a:t>Agents, Proxy, GroupChat</a:t>
            </a:r>
            <a:endParaRPr lang="en-US" sz="9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Shape 51">
            <a:extLst>
              <a:ext uri="{FF2B5EF4-FFF2-40B4-BE49-F238E27FC236}">
                <a16:creationId xmlns:a16="http://schemas.microsoft.com/office/drawing/2014/main" id="{16FE3BB6-6FDE-3EAB-D092-A1FDB2A732A0}"/>
              </a:ext>
            </a:extLst>
          </p:cNvPr>
          <p:cNvSpPr/>
          <p:nvPr/>
        </p:nvSpPr>
        <p:spPr>
          <a:xfrm>
            <a:off x="3292475" y="4389438"/>
            <a:ext cx="2743200" cy="547687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Shape 52">
            <a:extLst>
              <a:ext uri="{FF2B5EF4-FFF2-40B4-BE49-F238E27FC236}">
                <a16:creationId xmlns:a16="http://schemas.microsoft.com/office/drawing/2014/main" id="{66B3BFD8-81AB-1279-BC06-4C836944313E}"/>
              </a:ext>
            </a:extLst>
          </p:cNvPr>
          <p:cNvSpPr/>
          <p:nvPr/>
        </p:nvSpPr>
        <p:spPr>
          <a:xfrm>
            <a:off x="3292475" y="4389438"/>
            <a:ext cx="44450" cy="54768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Text 53">
            <a:extLst>
              <a:ext uri="{FF2B5EF4-FFF2-40B4-BE49-F238E27FC236}">
                <a16:creationId xmlns:a16="http://schemas.microsoft.com/office/drawing/2014/main" id="{DE1F0136-E9BA-7FA7-80FF-0F637EF2E817}"/>
              </a:ext>
            </a:extLst>
          </p:cNvPr>
          <p:cNvSpPr/>
          <p:nvPr/>
        </p:nvSpPr>
        <p:spPr>
          <a:xfrm>
            <a:off x="3402013" y="4425950"/>
            <a:ext cx="257810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  <a:ea typeface="Calibri"/>
              </a:rPr>
              <a:t>AutoGen Patterns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Text 54">
            <a:extLst>
              <a:ext uri="{FF2B5EF4-FFF2-40B4-BE49-F238E27FC236}">
                <a16:creationId xmlns:a16="http://schemas.microsoft.com/office/drawing/2014/main" id="{D26A32C2-CE40-9808-348F-1F30DF36EDB0}"/>
              </a:ext>
            </a:extLst>
          </p:cNvPr>
          <p:cNvSpPr/>
          <p:nvPr/>
        </p:nvSpPr>
        <p:spPr>
          <a:xfrm>
            <a:off x="3402013" y="4664075"/>
            <a:ext cx="257810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spc="-1">
                <a:solidFill>
                  <a:srgbClr val="1E3A8A"/>
                </a:solidFill>
                <a:latin typeface="Calibri"/>
                <a:ea typeface="Calibri"/>
              </a:rPr>
              <a:t>Roles, rounds, termination</a:t>
            </a:r>
            <a:endParaRPr lang="en-US" sz="9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Shape 55">
            <a:extLst>
              <a:ext uri="{FF2B5EF4-FFF2-40B4-BE49-F238E27FC236}">
                <a16:creationId xmlns:a16="http://schemas.microsoft.com/office/drawing/2014/main" id="{75FC002A-7561-1D34-1BB2-AD4CF5B11D7D}"/>
              </a:ext>
            </a:extLst>
          </p:cNvPr>
          <p:cNvSpPr/>
          <p:nvPr/>
        </p:nvSpPr>
        <p:spPr>
          <a:xfrm>
            <a:off x="6218238" y="1050925"/>
            <a:ext cx="2743200" cy="293688"/>
          </a:xfrm>
          <a:prstGeom prst="rect">
            <a:avLst/>
          </a:prstGeom>
          <a:solidFill>
            <a:srgbClr val="DBEAFE"/>
          </a:solidFill>
          <a:ln w="12600">
            <a:solidFill>
              <a:schemeClr val="accent2">
                <a:lumMod val="75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Text 56">
            <a:extLst>
              <a:ext uri="{FF2B5EF4-FFF2-40B4-BE49-F238E27FC236}">
                <a16:creationId xmlns:a16="http://schemas.microsoft.com/office/drawing/2014/main" id="{BA627ACE-EBF1-42E0-3419-1844BEF76AC0}"/>
              </a:ext>
            </a:extLst>
          </p:cNvPr>
          <p:cNvSpPr/>
          <p:nvPr/>
        </p:nvSpPr>
        <p:spPr>
          <a:xfrm>
            <a:off x="6218238" y="1050925"/>
            <a:ext cx="2743200" cy="293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1E3A8A"/>
                </a:solidFill>
                <a:latin typeface="Calibri"/>
              </a:rPr>
              <a:t>Section 4–5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Shape 57">
            <a:extLst>
              <a:ext uri="{FF2B5EF4-FFF2-40B4-BE49-F238E27FC236}">
                <a16:creationId xmlns:a16="http://schemas.microsoft.com/office/drawing/2014/main" id="{1ABDD353-40B9-C5A1-BCD8-8BFCE2A2EB00}"/>
              </a:ext>
            </a:extLst>
          </p:cNvPr>
          <p:cNvSpPr/>
          <p:nvPr/>
        </p:nvSpPr>
        <p:spPr>
          <a:xfrm>
            <a:off x="6218238" y="1417638"/>
            <a:ext cx="2743200" cy="547687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Shape 58">
            <a:extLst>
              <a:ext uri="{FF2B5EF4-FFF2-40B4-BE49-F238E27FC236}">
                <a16:creationId xmlns:a16="http://schemas.microsoft.com/office/drawing/2014/main" id="{DFDF61F1-61B6-22DB-FBAA-2A3486861655}"/>
              </a:ext>
            </a:extLst>
          </p:cNvPr>
          <p:cNvSpPr/>
          <p:nvPr/>
        </p:nvSpPr>
        <p:spPr>
          <a:xfrm>
            <a:off x="6218238" y="1417638"/>
            <a:ext cx="46037" cy="54768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Text 59">
            <a:extLst>
              <a:ext uri="{FF2B5EF4-FFF2-40B4-BE49-F238E27FC236}">
                <a16:creationId xmlns:a16="http://schemas.microsoft.com/office/drawing/2014/main" id="{43F79398-D08E-EEC8-C413-901EF608A65F}"/>
              </a:ext>
            </a:extLst>
          </p:cNvPr>
          <p:cNvSpPr/>
          <p:nvPr/>
        </p:nvSpPr>
        <p:spPr>
          <a:xfrm>
            <a:off x="6327775" y="1454150"/>
            <a:ext cx="257810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  <a:ea typeface="Calibri"/>
              </a:rPr>
              <a:t>AutoGen Use Case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Text 60">
            <a:extLst>
              <a:ext uri="{FF2B5EF4-FFF2-40B4-BE49-F238E27FC236}">
                <a16:creationId xmlns:a16="http://schemas.microsoft.com/office/drawing/2014/main" id="{87BEF1C3-C7FC-939E-BDF5-6B6CD503C7BF}"/>
              </a:ext>
            </a:extLst>
          </p:cNvPr>
          <p:cNvSpPr/>
          <p:nvPr/>
        </p:nvSpPr>
        <p:spPr>
          <a:xfrm>
            <a:off x="6327775" y="1692275"/>
            <a:ext cx="257810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spc="-1" dirty="0">
                <a:solidFill>
                  <a:srgbClr val="1E3A8A"/>
                </a:solidFill>
                <a:latin typeface="Calibri"/>
                <a:ea typeface="Calibri"/>
              </a:rPr>
              <a:t>AI research team walkthrough</a:t>
            </a:r>
            <a:endParaRPr lang="en-US" sz="95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Shape 61">
            <a:extLst>
              <a:ext uri="{FF2B5EF4-FFF2-40B4-BE49-F238E27FC236}">
                <a16:creationId xmlns:a16="http://schemas.microsoft.com/office/drawing/2014/main" id="{F69A48A9-3E46-19E1-3B50-06C02B7338B1}"/>
              </a:ext>
            </a:extLst>
          </p:cNvPr>
          <p:cNvSpPr/>
          <p:nvPr/>
        </p:nvSpPr>
        <p:spPr>
          <a:xfrm>
            <a:off x="6218238" y="2011363"/>
            <a:ext cx="2743200" cy="549275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Shape 62">
            <a:extLst>
              <a:ext uri="{FF2B5EF4-FFF2-40B4-BE49-F238E27FC236}">
                <a16:creationId xmlns:a16="http://schemas.microsoft.com/office/drawing/2014/main" id="{BE17FEB1-2B12-1C55-0796-F3832A6F4FF6}"/>
              </a:ext>
            </a:extLst>
          </p:cNvPr>
          <p:cNvSpPr/>
          <p:nvPr/>
        </p:nvSpPr>
        <p:spPr>
          <a:xfrm>
            <a:off x="6218238" y="2011363"/>
            <a:ext cx="46037" cy="549275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Text 63">
            <a:extLst>
              <a:ext uri="{FF2B5EF4-FFF2-40B4-BE49-F238E27FC236}">
                <a16:creationId xmlns:a16="http://schemas.microsoft.com/office/drawing/2014/main" id="{223BAAA2-20BB-316C-B753-70E59D5030D2}"/>
              </a:ext>
            </a:extLst>
          </p:cNvPr>
          <p:cNvSpPr/>
          <p:nvPr/>
        </p:nvSpPr>
        <p:spPr>
          <a:xfrm>
            <a:off x="6327775" y="2047875"/>
            <a:ext cx="257810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  <a:ea typeface="Calibri"/>
              </a:rPr>
              <a:t>AutoGen Code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Text 64">
            <a:extLst>
              <a:ext uri="{FF2B5EF4-FFF2-40B4-BE49-F238E27FC236}">
                <a16:creationId xmlns:a16="http://schemas.microsoft.com/office/drawing/2014/main" id="{46067E6B-A1F1-056C-F86A-2A60D7B8E794}"/>
              </a:ext>
            </a:extLst>
          </p:cNvPr>
          <p:cNvSpPr/>
          <p:nvPr/>
        </p:nvSpPr>
        <p:spPr>
          <a:xfrm>
            <a:off x="6327775" y="2286000"/>
            <a:ext cx="2578100" cy="2016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spc="-1">
                <a:solidFill>
                  <a:srgbClr val="1E3A8A"/>
                </a:solidFill>
                <a:latin typeface="Calibri"/>
                <a:ea typeface="Calibri"/>
              </a:rPr>
              <a:t>Set up GroupChat in minutes</a:t>
            </a:r>
            <a:endParaRPr lang="en-US" sz="9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Shape 65">
            <a:extLst>
              <a:ext uri="{FF2B5EF4-FFF2-40B4-BE49-F238E27FC236}">
                <a16:creationId xmlns:a16="http://schemas.microsoft.com/office/drawing/2014/main" id="{E943A2E9-1B02-9576-028B-854647454F6C}"/>
              </a:ext>
            </a:extLst>
          </p:cNvPr>
          <p:cNvSpPr/>
          <p:nvPr/>
        </p:nvSpPr>
        <p:spPr>
          <a:xfrm>
            <a:off x="6218238" y="2606675"/>
            <a:ext cx="2743200" cy="547688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Shape 66">
            <a:extLst>
              <a:ext uri="{FF2B5EF4-FFF2-40B4-BE49-F238E27FC236}">
                <a16:creationId xmlns:a16="http://schemas.microsoft.com/office/drawing/2014/main" id="{C3727B04-21D7-2D5F-1180-650FB30F7767}"/>
              </a:ext>
            </a:extLst>
          </p:cNvPr>
          <p:cNvSpPr/>
          <p:nvPr/>
        </p:nvSpPr>
        <p:spPr>
          <a:xfrm>
            <a:off x="6218238" y="2606675"/>
            <a:ext cx="46037" cy="547688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Text 67">
            <a:extLst>
              <a:ext uri="{FF2B5EF4-FFF2-40B4-BE49-F238E27FC236}">
                <a16:creationId xmlns:a16="http://schemas.microsoft.com/office/drawing/2014/main" id="{3B449B62-C57F-7DE6-9B3C-F89FF5711BBE}"/>
              </a:ext>
            </a:extLst>
          </p:cNvPr>
          <p:cNvSpPr/>
          <p:nvPr/>
        </p:nvSpPr>
        <p:spPr>
          <a:xfrm>
            <a:off x="6327775" y="2643188"/>
            <a:ext cx="2578100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  <a:ea typeface="Calibri"/>
              </a:rPr>
              <a:t>AutoGen Demo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Text 68">
            <a:extLst>
              <a:ext uri="{FF2B5EF4-FFF2-40B4-BE49-F238E27FC236}">
                <a16:creationId xmlns:a16="http://schemas.microsoft.com/office/drawing/2014/main" id="{5AB970F3-AA7A-802E-1EE9-369A80FFE67D}"/>
              </a:ext>
            </a:extLst>
          </p:cNvPr>
          <p:cNvSpPr/>
          <p:nvPr/>
        </p:nvSpPr>
        <p:spPr>
          <a:xfrm>
            <a:off x="6327775" y="2879725"/>
            <a:ext cx="2578100" cy="2016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spc="-1">
                <a:solidFill>
                  <a:srgbClr val="1E3A8A"/>
                </a:solidFill>
                <a:latin typeface="Calibri"/>
                <a:ea typeface="Calibri"/>
              </a:rPr>
              <a:t>Hands-on walkthrough</a:t>
            </a:r>
            <a:endParaRPr lang="en-US" sz="9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Shape 69">
            <a:extLst>
              <a:ext uri="{FF2B5EF4-FFF2-40B4-BE49-F238E27FC236}">
                <a16:creationId xmlns:a16="http://schemas.microsoft.com/office/drawing/2014/main" id="{C0E829EC-3E86-DE53-9790-FE9995D26504}"/>
              </a:ext>
            </a:extLst>
          </p:cNvPr>
          <p:cNvSpPr/>
          <p:nvPr/>
        </p:nvSpPr>
        <p:spPr>
          <a:xfrm>
            <a:off x="6218238" y="3200400"/>
            <a:ext cx="2743200" cy="549275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Shape 70">
            <a:extLst>
              <a:ext uri="{FF2B5EF4-FFF2-40B4-BE49-F238E27FC236}">
                <a16:creationId xmlns:a16="http://schemas.microsoft.com/office/drawing/2014/main" id="{0DB1DED4-3AC8-E1CA-7CFA-20D0896BCBE0}"/>
              </a:ext>
            </a:extLst>
          </p:cNvPr>
          <p:cNvSpPr/>
          <p:nvPr/>
        </p:nvSpPr>
        <p:spPr>
          <a:xfrm>
            <a:off x="6218238" y="3200400"/>
            <a:ext cx="46037" cy="549275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Text 71">
            <a:extLst>
              <a:ext uri="{FF2B5EF4-FFF2-40B4-BE49-F238E27FC236}">
                <a16:creationId xmlns:a16="http://schemas.microsoft.com/office/drawing/2014/main" id="{F02D65A4-A2B7-3351-FDFF-38FBE3EA124C}"/>
              </a:ext>
            </a:extLst>
          </p:cNvPr>
          <p:cNvSpPr/>
          <p:nvPr/>
        </p:nvSpPr>
        <p:spPr>
          <a:xfrm>
            <a:off x="6327775" y="3236913"/>
            <a:ext cx="257810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  <a:ea typeface="Calibri"/>
              </a:rPr>
              <a:t>LangGraph vs AutoGen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Text 72">
            <a:extLst>
              <a:ext uri="{FF2B5EF4-FFF2-40B4-BE49-F238E27FC236}">
                <a16:creationId xmlns:a16="http://schemas.microsoft.com/office/drawing/2014/main" id="{2C9747F1-9806-20C0-5394-9E4D42BE4BAC}"/>
              </a:ext>
            </a:extLst>
          </p:cNvPr>
          <p:cNvSpPr/>
          <p:nvPr/>
        </p:nvSpPr>
        <p:spPr>
          <a:xfrm>
            <a:off x="6327775" y="3475038"/>
            <a:ext cx="2578100" cy="2016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spc="-1">
                <a:solidFill>
                  <a:srgbClr val="1E3A8A"/>
                </a:solidFill>
                <a:latin typeface="Calibri"/>
                <a:ea typeface="Calibri"/>
              </a:rPr>
              <a:t>Comparison &amp; decision guide</a:t>
            </a:r>
            <a:endParaRPr lang="en-US" sz="9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Shape 77">
            <a:extLst>
              <a:ext uri="{FF2B5EF4-FFF2-40B4-BE49-F238E27FC236}">
                <a16:creationId xmlns:a16="http://schemas.microsoft.com/office/drawing/2014/main" id="{74D020D0-6F3B-B5AA-F558-06E7A31BE38E}"/>
              </a:ext>
            </a:extLst>
          </p:cNvPr>
          <p:cNvSpPr/>
          <p:nvPr/>
        </p:nvSpPr>
        <p:spPr>
          <a:xfrm>
            <a:off x="6218238" y="3794125"/>
            <a:ext cx="2743200" cy="547688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Shape 78">
            <a:extLst>
              <a:ext uri="{FF2B5EF4-FFF2-40B4-BE49-F238E27FC236}">
                <a16:creationId xmlns:a16="http://schemas.microsoft.com/office/drawing/2014/main" id="{BC5DF055-3D36-F9F9-DEA6-D9607ACDAA39}"/>
              </a:ext>
            </a:extLst>
          </p:cNvPr>
          <p:cNvSpPr/>
          <p:nvPr/>
        </p:nvSpPr>
        <p:spPr>
          <a:xfrm>
            <a:off x="6218238" y="3794125"/>
            <a:ext cx="46037" cy="547688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Text 79">
            <a:extLst>
              <a:ext uri="{FF2B5EF4-FFF2-40B4-BE49-F238E27FC236}">
                <a16:creationId xmlns:a16="http://schemas.microsoft.com/office/drawing/2014/main" id="{FB4749FB-354C-021C-C3FD-81EA2FE99F78}"/>
              </a:ext>
            </a:extLst>
          </p:cNvPr>
          <p:cNvSpPr/>
          <p:nvPr/>
        </p:nvSpPr>
        <p:spPr>
          <a:xfrm>
            <a:off x="6327775" y="3830638"/>
            <a:ext cx="257810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  <a:ea typeface="Calibri"/>
              </a:rPr>
              <a:t>Summary &amp; Takeaways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Text 80">
            <a:extLst>
              <a:ext uri="{FF2B5EF4-FFF2-40B4-BE49-F238E27FC236}">
                <a16:creationId xmlns:a16="http://schemas.microsoft.com/office/drawing/2014/main" id="{4CE9518F-426A-F776-A8B4-720B28B91CDC}"/>
              </a:ext>
            </a:extLst>
          </p:cNvPr>
          <p:cNvSpPr/>
          <p:nvPr/>
        </p:nvSpPr>
        <p:spPr>
          <a:xfrm>
            <a:off x="6327775" y="4068763"/>
            <a:ext cx="2578100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spc="-1">
                <a:solidFill>
                  <a:srgbClr val="1E3A8A"/>
                </a:solidFill>
                <a:latin typeface="Calibri"/>
                <a:ea typeface="Calibri"/>
              </a:rPr>
              <a:t>Key learnings + next session</a:t>
            </a:r>
            <a:endParaRPr lang="en-US" sz="950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175" name="Picture 1">
            <a:extLst>
              <a:ext uri="{FF2B5EF4-FFF2-40B4-BE49-F238E27FC236}">
                <a16:creationId xmlns:a16="http://schemas.microsoft.com/office/drawing/2014/main" id="{F57D9B41-10E3-5CE1-C774-5F2134548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7638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>
            <a:extLst>
              <a:ext uri="{FF2B5EF4-FFF2-40B4-BE49-F238E27FC236}">
                <a16:creationId xmlns:a16="http://schemas.microsoft.com/office/drawing/2014/main" id="{BBD1FCAE-8D5B-F514-7551-728F195874D0}"/>
              </a:ext>
            </a:extLst>
          </p:cNvPr>
          <p:cNvSpPr/>
          <p:nvPr/>
        </p:nvSpPr>
        <p:spPr>
          <a:xfrm>
            <a:off x="0" y="0"/>
            <a:ext cx="9144000" cy="55563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640" rIns="90000" bIns="86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Text 1">
            <a:extLst>
              <a:ext uri="{FF2B5EF4-FFF2-40B4-BE49-F238E27FC236}">
                <a16:creationId xmlns:a16="http://schemas.microsoft.com/office/drawing/2014/main" id="{CED33D9D-9D5C-E64C-6480-7F09E9628E3A}"/>
              </a:ext>
            </a:extLst>
          </p:cNvPr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>
                <a:solidFill>
                  <a:srgbClr val="0EA5E9"/>
                </a:solidFill>
                <a:latin typeface="Calibri"/>
                <a:ea typeface="Calibri"/>
              </a:rPr>
              <a:t>SECTION RECAP</a:t>
            </a:r>
            <a:endParaRPr lang="en-US" sz="14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Text 2">
            <a:extLst>
              <a:ext uri="{FF2B5EF4-FFF2-40B4-BE49-F238E27FC236}">
                <a16:creationId xmlns:a16="http://schemas.microsoft.com/office/drawing/2014/main" id="{6867F1BB-B097-F167-4533-8DC32254CFCF}"/>
              </a:ext>
            </a:extLst>
          </p:cNvPr>
          <p:cNvSpPr/>
          <p:nvPr/>
        </p:nvSpPr>
        <p:spPr>
          <a:xfrm>
            <a:off x="457200" y="1920875"/>
            <a:ext cx="8229600" cy="822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600" b="1" spc="-1">
                <a:solidFill>
                  <a:srgbClr val="1E3A8A"/>
                </a:solidFill>
                <a:latin typeface="Calibri"/>
                <a:ea typeface="Calibri"/>
              </a:rPr>
              <a:t>Session 2 Quick Recap</a:t>
            </a:r>
            <a:endParaRPr lang="en-US" sz="36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Text 3">
            <a:extLst>
              <a:ext uri="{FF2B5EF4-FFF2-40B4-BE49-F238E27FC236}">
                <a16:creationId xmlns:a16="http://schemas.microsoft.com/office/drawing/2014/main" id="{92D3CC2D-EBC6-F718-8877-E3CB5EB06C99}"/>
              </a:ext>
            </a:extLst>
          </p:cNvPr>
          <p:cNvSpPr/>
          <p:nvPr/>
        </p:nvSpPr>
        <p:spPr>
          <a:xfrm>
            <a:off x="457200" y="2835275"/>
            <a:ext cx="8229600" cy="365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i="1" spc="-1" dirty="0" err="1">
                <a:solidFill>
                  <a:srgbClr val="0C4A6E"/>
                </a:solidFill>
                <a:latin typeface="Calibri"/>
                <a:ea typeface="Calibri"/>
              </a:rPr>
              <a:t>LangChain</a:t>
            </a:r>
            <a:r>
              <a:rPr lang="en-US" sz="1600" i="1" spc="-1" dirty="0">
                <a:solidFill>
                  <a:srgbClr val="0C4A6E"/>
                </a:solidFill>
                <a:latin typeface="Calibri"/>
                <a:ea typeface="Calibri"/>
              </a:rPr>
              <a:t> + RAG + MCP</a:t>
            </a:r>
            <a:endParaRPr lang="en-US" sz="160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150" name="Picture 1">
            <a:extLst>
              <a:ext uri="{FF2B5EF4-FFF2-40B4-BE49-F238E27FC236}">
                <a16:creationId xmlns:a16="http://schemas.microsoft.com/office/drawing/2014/main" id="{B182CDF5-9355-83BC-E78D-36390371E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93675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>
            <a:extLst>
              <a:ext uri="{FF2B5EF4-FFF2-40B4-BE49-F238E27FC236}">
                <a16:creationId xmlns:a16="http://schemas.microsoft.com/office/drawing/2014/main" id="{C94D6078-8748-2F7C-CDB5-7CA18B756749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Text 1">
            <a:extLst>
              <a:ext uri="{FF2B5EF4-FFF2-40B4-BE49-F238E27FC236}">
                <a16:creationId xmlns:a16="http://schemas.microsoft.com/office/drawing/2014/main" id="{76810BE7-F522-B7B9-4FFA-C4391ED78F59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>
                <a:solidFill>
                  <a:srgbClr val="1E3A8A"/>
                </a:solidFill>
                <a:latin typeface="Calibri"/>
              </a:rPr>
              <a:t>RECAP</a:t>
            </a:r>
            <a:endParaRPr lang="en-US" sz="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Text 2">
            <a:extLst>
              <a:ext uri="{FF2B5EF4-FFF2-40B4-BE49-F238E27FC236}">
                <a16:creationId xmlns:a16="http://schemas.microsoft.com/office/drawing/2014/main" id="{AD5D01C3-64BD-E3F5-3582-6568EE71CFEA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400" b="1" spc="-1" dirty="0">
                <a:solidFill>
                  <a:srgbClr val="1E3A8A"/>
                </a:solidFill>
                <a:latin typeface="Calibri"/>
                <a:ea typeface="Calibri"/>
              </a:rPr>
              <a:t>What We Learnt in Session 2</a:t>
            </a:r>
            <a:endParaRPr lang="en-US" sz="24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Text 3">
            <a:extLst>
              <a:ext uri="{FF2B5EF4-FFF2-40B4-BE49-F238E27FC236}">
                <a16:creationId xmlns:a16="http://schemas.microsoft.com/office/drawing/2014/main" id="{2D22099B-2161-1F6C-3A67-72BD2244EE9B}"/>
              </a:ext>
            </a:extLst>
          </p:cNvPr>
          <p:cNvSpPr/>
          <p:nvPr/>
        </p:nvSpPr>
        <p:spPr>
          <a:xfrm>
            <a:off x="457200" y="1006475"/>
            <a:ext cx="8229600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spc="-1" dirty="0">
                <a:solidFill>
                  <a:srgbClr val="1E3A8A"/>
                </a:solidFill>
                <a:latin typeface="Calibri"/>
                <a:ea typeface="Calibri"/>
              </a:rPr>
              <a:t>Three pillars that give agents knowledge, tools, and external connectivity:</a:t>
            </a:r>
            <a:endParaRPr lang="en-US" sz="13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Shape 4">
            <a:extLst>
              <a:ext uri="{FF2B5EF4-FFF2-40B4-BE49-F238E27FC236}">
                <a16:creationId xmlns:a16="http://schemas.microsoft.com/office/drawing/2014/main" id="{31CC8FF5-4203-8AD1-9C22-E422CD48C8F4}"/>
              </a:ext>
            </a:extLst>
          </p:cNvPr>
          <p:cNvSpPr/>
          <p:nvPr/>
        </p:nvSpPr>
        <p:spPr>
          <a:xfrm>
            <a:off x="457200" y="1371600"/>
            <a:ext cx="2651125" cy="3292475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38183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Shape 5">
            <a:extLst>
              <a:ext uri="{FF2B5EF4-FFF2-40B4-BE49-F238E27FC236}">
                <a16:creationId xmlns:a16="http://schemas.microsoft.com/office/drawing/2014/main" id="{29865EAD-EECB-42E6-3007-CD7FBABA4F2F}"/>
              </a:ext>
            </a:extLst>
          </p:cNvPr>
          <p:cNvSpPr/>
          <p:nvPr/>
        </p:nvSpPr>
        <p:spPr>
          <a:xfrm>
            <a:off x="457200" y="1371600"/>
            <a:ext cx="2651125" cy="549275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Text 6">
            <a:extLst>
              <a:ext uri="{FF2B5EF4-FFF2-40B4-BE49-F238E27FC236}">
                <a16:creationId xmlns:a16="http://schemas.microsoft.com/office/drawing/2014/main" id="{91124BE7-A482-272D-259F-07BF81919E32}"/>
              </a:ext>
            </a:extLst>
          </p:cNvPr>
          <p:cNvSpPr/>
          <p:nvPr/>
        </p:nvSpPr>
        <p:spPr>
          <a:xfrm>
            <a:off x="457200" y="1371600"/>
            <a:ext cx="2651125" cy="5492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000" b="1" spc="-1" dirty="0" err="1">
                <a:solidFill>
                  <a:schemeClr val="bg1"/>
                </a:solidFill>
                <a:latin typeface="Calibri"/>
              </a:rPr>
              <a:t>LangChain</a:t>
            </a:r>
            <a:endParaRPr lang="en-US" sz="20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04" name="Text 7">
            <a:extLst>
              <a:ext uri="{FF2B5EF4-FFF2-40B4-BE49-F238E27FC236}">
                <a16:creationId xmlns:a16="http://schemas.microsoft.com/office/drawing/2014/main" id="{E5B59A0D-3947-F283-41BA-A61895A1164B}"/>
              </a:ext>
            </a:extLst>
          </p:cNvPr>
          <p:cNvSpPr/>
          <p:nvPr/>
        </p:nvSpPr>
        <p:spPr>
          <a:xfrm>
            <a:off x="593725" y="2011363"/>
            <a:ext cx="2378075" cy="3206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1E3A8A"/>
                </a:solidFill>
                <a:latin typeface="Calibri"/>
                <a:ea typeface="Calibri"/>
              </a:rPr>
              <a:t>Orchestration Layer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Text 8">
            <a:extLst>
              <a:ext uri="{FF2B5EF4-FFF2-40B4-BE49-F238E27FC236}">
                <a16:creationId xmlns:a16="http://schemas.microsoft.com/office/drawing/2014/main" id="{753C848D-81BE-DE98-D33B-1C72907EFCD2}"/>
              </a:ext>
            </a:extLst>
          </p:cNvPr>
          <p:cNvSpPr/>
          <p:nvPr/>
        </p:nvSpPr>
        <p:spPr>
          <a:xfrm>
            <a:off x="593725" y="2378075"/>
            <a:ext cx="2378075" cy="21018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 dirty="0">
                <a:solidFill>
                  <a:srgbClr val="1E3A8A"/>
                </a:solidFill>
                <a:latin typeface="Calibri"/>
                <a:ea typeface="Calibri"/>
              </a:rPr>
              <a:t>Chains, prompts, tools, memory, agents. </a:t>
            </a:r>
            <a:r>
              <a:rPr lang="en-US" sz="1200" spc="-1" dirty="0" err="1">
                <a:solidFill>
                  <a:srgbClr val="1E3A8A"/>
                </a:solidFill>
                <a:latin typeface="Calibri"/>
                <a:ea typeface="Calibri"/>
              </a:rPr>
              <a:t>RetrievalQA</a:t>
            </a:r>
            <a:r>
              <a:rPr lang="en-US" sz="1200" spc="-1" dirty="0">
                <a:solidFill>
                  <a:srgbClr val="1E3A8A"/>
                </a:solidFill>
                <a:latin typeface="Calibri"/>
                <a:ea typeface="Calibri"/>
              </a:rPr>
              <a:t> pipeline, LCEL expression language, 200+ integrations.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Shape 9">
            <a:extLst>
              <a:ext uri="{FF2B5EF4-FFF2-40B4-BE49-F238E27FC236}">
                <a16:creationId xmlns:a16="http://schemas.microsoft.com/office/drawing/2014/main" id="{9637C228-5245-7B75-7155-ED101ECC4182}"/>
              </a:ext>
            </a:extLst>
          </p:cNvPr>
          <p:cNvSpPr/>
          <p:nvPr/>
        </p:nvSpPr>
        <p:spPr>
          <a:xfrm>
            <a:off x="3292475" y="1371600"/>
            <a:ext cx="2651125" cy="3292475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38183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Text 11">
            <a:extLst>
              <a:ext uri="{FF2B5EF4-FFF2-40B4-BE49-F238E27FC236}">
                <a16:creationId xmlns:a16="http://schemas.microsoft.com/office/drawing/2014/main" id="{C785C84A-22D8-ADA8-B9F2-405BF7B97508}"/>
              </a:ext>
            </a:extLst>
          </p:cNvPr>
          <p:cNvSpPr/>
          <p:nvPr/>
        </p:nvSpPr>
        <p:spPr>
          <a:xfrm>
            <a:off x="3292475" y="1371600"/>
            <a:ext cx="2651125" cy="54927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000" b="1" spc="-1" dirty="0">
                <a:solidFill>
                  <a:schemeClr val="bg1"/>
                </a:solidFill>
                <a:latin typeface="Calibri"/>
              </a:rPr>
              <a:t>RAG</a:t>
            </a:r>
            <a:endParaRPr lang="en-US" sz="20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09" name="Text 12">
            <a:extLst>
              <a:ext uri="{FF2B5EF4-FFF2-40B4-BE49-F238E27FC236}">
                <a16:creationId xmlns:a16="http://schemas.microsoft.com/office/drawing/2014/main" id="{F5CBF4FF-E283-E3BA-2217-231DFC3FCF31}"/>
              </a:ext>
            </a:extLst>
          </p:cNvPr>
          <p:cNvSpPr/>
          <p:nvPr/>
        </p:nvSpPr>
        <p:spPr>
          <a:xfrm>
            <a:off x="3429000" y="2011363"/>
            <a:ext cx="2378075" cy="3206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1E3A8A"/>
                </a:solidFill>
                <a:latin typeface="Calibri"/>
                <a:ea typeface="Calibri"/>
              </a:rPr>
              <a:t>Retrieval-Augmented Generation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Text 13">
            <a:extLst>
              <a:ext uri="{FF2B5EF4-FFF2-40B4-BE49-F238E27FC236}">
                <a16:creationId xmlns:a16="http://schemas.microsoft.com/office/drawing/2014/main" id="{AD447B51-A0BF-7DBA-79FB-163B17E0E31C}"/>
              </a:ext>
            </a:extLst>
          </p:cNvPr>
          <p:cNvSpPr/>
          <p:nvPr/>
        </p:nvSpPr>
        <p:spPr>
          <a:xfrm>
            <a:off x="3429000" y="2378075"/>
            <a:ext cx="2378075" cy="21018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9pPr>
          </a:lstStyle>
          <a:p>
            <a:pPr algn="just" eaLnBrk="1" hangingPunct="1">
              <a:defRPr/>
            </a:pPr>
            <a:r>
              <a:rPr lang="en-US" altLang="en-US" sz="1200" dirty="0">
                <a:solidFill>
                  <a:srgbClr val="1E3A8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Embeddings → vector DB → similarity search → grounded answers. Agents answer using YOUR data, not just training.</a:t>
            </a:r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1" name="Shape 14">
            <a:extLst>
              <a:ext uri="{FF2B5EF4-FFF2-40B4-BE49-F238E27FC236}">
                <a16:creationId xmlns:a16="http://schemas.microsoft.com/office/drawing/2014/main" id="{B52A57E6-4BED-0D6D-A76D-C689200CC18B}"/>
              </a:ext>
            </a:extLst>
          </p:cNvPr>
          <p:cNvSpPr/>
          <p:nvPr/>
        </p:nvSpPr>
        <p:spPr>
          <a:xfrm>
            <a:off x="6126163" y="1371600"/>
            <a:ext cx="2652712" cy="3292475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38183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Shape 15">
            <a:extLst>
              <a:ext uri="{FF2B5EF4-FFF2-40B4-BE49-F238E27FC236}">
                <a16:creationId xmlns:a16="http://schemas.microsoft.com/office/drawing/2014/main" id="{D9C96F8B-0749-2C24-B507-920D8D87D9EB}"/>
              </a:ext>
            </a:extLst>
          </p:cNvPr>
          <p:cNvSpPr/>
          <p:nvPr/>
        </p:nvSpPr>
        <p:spPr>
          <a:xfrm>
            <a:off x="6126163" y="1371600"/>
            <a:ext cx="2652712" cy="549275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Text 16">
            <a:extLst>
              <a:ext uri="{FF2B5EF4-FFF2-40B4-BE49-F238E27FC236}">
                <a16:creationId xmlns:a16="http://schemas.microsoft.com/office/drawing/2014/main" id="{8CE8ABA2-AA9C-2BC6-7393-15D922E70AB1}"/>
              </a:ext>
            </a:extLst>
          </p:cNvPr>
          <p:cNvSpPr/>
          <p:nvPr/>
        </p:nvSpPr>
        <p:spPr>
          <a:xfrm>
            <a:off x="6126163" y="1371600"/>
            <a:ext cx="2652712" cy="5492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000" b="1" spc="-1" dirty="0">
                <a:solidFill>
                  <a:schemeClr val="bg1"/>
                </a:solidFill>
                <a:latin typeface="Calibri"/>
              </a:rPr>
              <a:t>MCP</a:t>
            </a:r>
            <a:endParaRPr lang="en-US" sz="20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14" name="Text 17">
            <a:extLst>
              <a:ext uri="{FF2B5EF4-FFF2-40B4-BE49-F238E27FC236}">
                <a16:creationId xmlns:a16="http://schemas.microsoft.com/office/drawing/2014/main" id="{68587C1D-EF8A-0890-4817-B1837A9431F2}"/>
              </a:ext>
            </a:extLst>
          </p:cNvPr>
          <p:cNvSpPr/>
          <p:nvPr/>
        </p:nvSpPr>
        <p:spPr>
          <a:xfrm>
            <a:off x="6264275" y="2011363"/>
            <a:ext cx="2376488" cy="3206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1E3A8A"/>
                </a:solidFill>
                <a:latin typeface="Calibri"/>
                <a:ea typeface="Calibri"/>
              </a:rPr>
              <a:t>Model Context Protocol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Text 18">
            <a:extLst>
              <a:ext uri="{FF2B5EF4-FFF2-40B4-BE49-F238E27FC236}">
                <a16:creationId xmlns:a16="http://schemas.microsoft.com/office/drawing/2014/main" id="{9A3EDD07-5B09-D7BC-7408-855D046862E6}"/>
              </a:ext>
            </a:extLst>
          </p:cNvPr>
          <p:cNvSpPr/>
          <p:nvPr/>
        </p:nvSpPr>
        <p:spPr>
          <a:xfrm>
            <a:off x="6264275" y="2378075"/>
            <a:ext cx="2376488" cy="21018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 dirty="0">
                <a:solidFill>
                  <a:srgbClr val="1E3A8A"/>
                </a:solidFill>
                <a:latin typeface="Calibri"/>
                <a:ea typeface="Calibri"/>
              </a:rPr>
              <a:t>Standardized tool discovery. One interface for every external service. No more bespoke adapters for each API.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Text 19">
            <a:extLst>
              <a:ext uri="{FF2B5EF4-FFF2-40B4-BE49-F238E27FC236}">
                <a16:creationId xmlns:a16="http://schemas.microsoft.com/office/drawing/2014/main" id="{303C912F-2708-4748-6DD4-C4C9FF7F1CE4}"/>
              </a:ext>
            </a:extLst>
          </p:cNvPr>
          <p:cNvSpPr/>
          <p:nvPr/>
        </p:nvSpPr>
        <p:spPr>
          <a:xfrm>
            <a:off x="3063875" y="2651125"/>
            <a:ext cx="365125" cy="3667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200" spc="-1">
                <a:solidFill>
                  <a:srgbClr val="0EA5E9"/>
                </a:solidFill>
                <a:latin typeface="Calibri"/>
              </a:rPr>
              <a:t>→</a:t>
            </a:r>
            <a:endParaRPr lang="en-US" sz="2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Text 20">
            <a:extLst>
              <a:ext uri="{FF2B5EF4-FFF2-40B4-BE49-F238E27FC236}">
                <a16:creationId xmlns:a16="http://schemas.microsoft.com/office/drawing/2014/main" id="{56B34D5C-7AB0-DFB8-1651-37BCE9024FAD}"/>
              </a:ext>
            </a:extLst>
          </p:cNvPr>
          <p:cNvSpPr/>
          <p:nvPr/>
        </p:nvSpPr>
        <p:spPr>
          <a:xfrm>
            <a:off x="5897563" y="2651125"/>
            <a:ext cx="366712" cy="3667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200" spc="-1">
                <a:solidFill>
                  <a:srgbClr val="0EA5E9"/>
                </a:solidFill>
                <a:latin typeface="Calibri"/>
              </a:rPr>
              <a:t>→</a:t>
            </a:r>
            <a:endParaRPr lang="en-US" sz="2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Shape 21">
            <a:extLst>
              <a:ext uri="{FF2B5EF4-FFF2-40B4-BE49-F238E27FC236}">
                <a16:creationId xmlns:a16="http://schemas.microsoft.com/office/drawing/2014/main" id="{2E1D75A8-200A-FE88-8C96-56741342BB1C}"/>
              </a:ext>
            </a:extLst>
          </p:cNvPr>
          <p:cNvSpPr/>
          <p:nvPr/>
        </p:nvSpPr>
        <p:spPr>
          <a:xfrm>
            <a:off x="457200" y="4754563"/>
            <a:ext cx="8229600" cy="201612"/>
          </a:xfrm>
          <a:prstGeom prst="rect">
            <a:avLst/>
          </a:prstGeom>
          <a:solidFill>
            <a:srgbClr val="F0F9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Text 22">
            <a:extLst>
              <a:ext uri="{FF2B5EF4-FFF2-40B4-BE49-F238E27FC236}">
                <a16:creationId xmlns:a16="http://schemas.microsoft.com/office/drawing/2014/main" id="{ECC72628-A6C5-2A81-11B2-A3E25074377D}"/>
              </a:ext>
            </a:extLst>
          </p:cNvPr>
          <p:cNvSpPr/>
          <p:nvPr/>
        </p:nvSpPr>
        <p:spPr>
          <a:xfrm>
            <a:off x="457200" y="4754563"/>
            <a:ext cx="8229600" cy="2016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b="1" spc="-1">
                <a:solidFill>
                  <a:srgbClr val="60A5FA"/>
                </a:solidFill>
                <a:latin typeface="Calibri"/>
              </a:rPr>
              <a:t>Today: Coordinate multiple agents using LangGraph (graph-based) and AutoGen (conversational)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216" name="Picture 1">
            <a:extLst>
              <a:ext uri="{FF2B5EF4-FFF2-40B4-BE49-F238E27FC236}">
                <a16:creationId xmlns:a16="http://schemas.microsoft.com/office/drawing/2014/main" id="{BFAA4956-3536-33A1-FA8E-53E07C351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7638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 animBg="1"/>
      <p:bldP spid="103" grpId="0"/>
      <p:bldP spid="104" grpId="0"/>
      <p:bldP spid="105" grpId="0"/>
      <p:bldP spid="106" grpId="0" animBg="1"/>
      <p:bldP spid="108" grpId="0" animBg="1"/>
      <p:bldP spid="109" grpId="0"/>
      <p:bldP spid="110" grpId="0"/>
      <p:bldP spid="111" grpId="0" animBg="1"/>
      <p:bldP spid="112" grpId="0" animBg="1"/>
      <p:bldP spid="114" grpId="0"/>
      <p:bldP spid="115" grpId="0"/>
      <p:bldP spid="116" grpId="0"/>
      <p:bldP spid="1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>
            <a:extLst>
              <a:ext uri="{FF2B5EF4-FFF2-40B4-BE49-F238E27FC236}">
                <a16:creationId xmlns:a16="http://schemas.microsoft.com/office/drawing/2014/main" id="{6564084D-6C66-D58E-0C57-6758AEFDCFB9}"/>
              </a:ext>
            </a:extLst>
          </p:cNvPr>
          <p:cNvSpPr/>
          <p:nvPr/>
        </p:nvSpPr>
        <p:spPr>
          <a:xfrm>
            <a:off x="0" y="0"/>
            <a:ext cx="9144000" cy="55563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640" rIns="90000" bIns="86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Text 1">
            <a:extLst>
              <a:ext uri="{FF2B5EF4-FFF2-40B4-BE49-F238E27FC236}">
                <a16:creationId xmlns:a16="http://schemas.microsoft.com/office/drawing/2014/main" id="{1A31B2B1-9951-127C-290E-4125C97AD806}"/>
              </a:ext>
            </a:extLst>
          </p:cNvPr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>
                <a:solidFill>
                  <a:srgbClr val="0EA5E9"/>
                </a:solidFill>
                <a:latin typeface="Calibri"/>
              </a:rPr>
              <a:t>SECTION 1</a:t>
            </a:r>
            <a:endParaRPr lang="en-US" sz="14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Text 2">
            <a:extLst>
              <a:ext uri="{FF2B5EF4-FFF2-40B4-BE49-F238E27FC236}">
                <a16:creationId xmlns:a16="http://schemas.microsoft.com/office/drawing/2014/main" id="{52671730-2D5C-2345-B9EA-AAF30696E1F9}"/>
              </a:ext>
            </a:extLst>
          </p:cNvPr>
          <p:cNvSpPr/>
          <p:nvPr/>
        </p:nvSpPr>
        <p:spPr>
          <a:xfrm>
            <a:off x="457200" y="1920875"/>
            <a:ext cx="8229600" cy="822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600" b="1" spc="-1">
                <a:solidFill>
                  <a:srgbClr val="1E3A8A"/>
                </a:solidFill>
                <a:latin typeface="Calibri"/>
                <a:ea typeface="Calibri"/>
              </a:rPr>
              <a:t>Why Multi-Agent Systems?</a:t>
            </a:r>
            <a:endParaRPr lang="en-US" sz="36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Text 3">
            <a:extLst>
              <a:ext uri="{FF2B5EF4-FFF2-40B4-BE49-F238E27FC236}">
                <a16:creationId xmlns:a16="http://schemas.microsoft.com/office/drawing/2014/main" id="{F4C656AC-C83D-543E-8B6C-A12ECFB11057}"/>
              </a:ext>
            </a:extLst>
          </p:cNvPr>
          <p:cNvSpPr/>
          <p:nvPr/>
        </p:nvSpPr>
        <p:spPr>
          <a:xfrm>
            <a:off x="457200" y="2835275"/>
            <a:ext cx="8229600" cy="365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i="1" spc="-1">
                <a:solidFill>
                  <a:srgbClr val="0C4A6E"/>
                </a:solidFill>
                <a:latin typeface="Calibri"/>
              </a:rPr>
              <a:t>Beyond the limits of a single agent</a:t>
            </a:r>
            <a:endParaRPr lang="en-US" sz="1600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246" name="Picture 1">
            <a:extLst>
              <a:ext uri="{FF2B5EF4-FFF2-40B4-BE49-F238E27FC236}">
                <a16:creationId xmlns:a16="http://schemas.microsoft.com/office/drawing/2014/main" id="{0FFD20E8-5C4D-0D8F-B5E9-88BA94F27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93675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0">
            <a:extLst>
              <a:ext uri="{FF2B5EF4-FFF2-40B4-BE49-F238E27FC236}">
                <a16:creationId xmlns:a16="http://schemas.microsoft.com/office/drawing/2014/main" id="{241DC177-4E9D-5F68-36F1-9ABE7D0FDA4E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Text 1">
            <a:extLst>
              <a:ext uri="{FF2B5EF4-FFF2-40B4-BE49-F238E27FC236}">
                <a16:creationId xmlns:a16="http://schemas.microsoft.com/office/drawing/2014/main" id="{86C47665-C3CE-56A6-9BA8-D82054E03EFD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>
                <a:solidFill>
                  <a:srgbClr val="1E3A8A"/>
                </a:solidFill>
                <a:latin typeface="Calibri"/>
              </a:rPr>
              <a:t>SECTION 1</a:t>
            </a:r>
            <a:endParaRPr lang="en-US" sz="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Text 2">
            <a:extLst>
              <a:ext uri="{FF2B5EF4-FFF2-40B4-BE49-F238E27FC236}">
                <a16:creationId xmlns:a16="http://schemas.microsoft.com/office/drawing/2014/main" id="{BA7CCE01-EFC7-8D54-B1E7-1EB12DBDCA41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400" b="1" spc="-1">
                <a:solidFill>
                  <a:srgbClr val="1E3A8A"/>
                </a:solidFill>
                <a:latin typeface="Calibri"/>
                <a:ea typeface="Calibri"/>
              </a:rPr>
              <a:t>Why Multi-Agent Systems?</a:t>
            </a:r>
            <a:endParaRPr lang="en-US" sz="24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Text 3">
            <a:extLst>
              <a:ext uri="{FF2B5EF4-FFF2-40B4-BE49-F238E27FC236}">
                <a16:creationId xmlns:a16="http://schemas.microsoft.com/office/drawing/2014/main" id="{F28C1FD9-053D-C3BC-A59A-31FC14231911}"/>
              </a:ext>
            </a:extLst>
          </p:cNvPr>
          <p:cNvSpPr/>
          <p:nvPr/>
        </p:nvSpPr>
        <p:spPr>
          <a:xfrm>
            <a:off x="457200" y="1006475"/>
            <a:ext cx="8229600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i="1" spc="-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"Complex tasks are too large, too </a:t>
            </a:r>
            <a:r>
              <a:rPr lang="en-US" sz="1300" i="1" spc="-1" dirty="0" err="1">
                <a:solidFill>
                  <a:schemeClr val="accent2">
                    <a:lumMod val="75000"/>
                  </a:schemeClr>
                </a:solidFill>
                <a:latin typeface="Calibri"/>
              </a:rPr>
              <a:t>specialised</a:t>
            </a:r>
            <a:r>
              <a:rPr lang="en-US" sz="1300" i="1" spc="-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, and too dynamic for any single agent."</a:t>
            </a:r>
            <a:endParaRPr lang="en-US" sz="1300" spc="-1" dirty="0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130" name="Shape 4">
            <a:extLst>
              <a:ext uri="{FF2B5EF4-FFF2-40B4-BE49-F238E27FC236}">
                <a16:creationId xmlns:a16="http://schemas.microsoft.com/office/drawing/2014/main" id="{46F51A0A-691A-CF51-13E2-7D1650C7C34C}"/>
              </a:ext>
            </a:extLst>
          </p:cNvPr>
          <p:cNvSpPr/>
          <p:nvPr/>
        </p:nvSpPr>
        <p:spPr>
          <a:xfrm>
            <a:off x="411163" y="1417638"/>
            <a:ext cx="4024312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Shape 5">
            <a:extLst>
              <a:ext uri="{FF2B5EF4-FFF2-40B4-BE49-F238E27FC236}">
                <a16:creationId xmlns:a16="http://schemas.microsoft.com/office/drawing/2014/main" id="{F39F9F97-D968-95D3-2A1C-1A80FE5F19B7}"/>
              </a:ext>
            </a:extLst>
          </p:cNvPr>
          <p:cNvSpPr/>
          <p:nvPr/>
        </p:nvSpPr>
        <p:spPr>
          <a:xfrm>
            <a:off x="411163" y="1417638"/>
            <a:ext cx="4024312" cy="53975"/>
          </a:xfrm>
          <a:prstGeom prst="rect">
            <a:avLst/>
          </a:prstGeom>
          <a:solidFill>
            <a:srgbClr val="E65100"/>
          </a:solidFill>
          <a:ln w="12600">
            <a:solidFill>
              <a:srgbClr val="E651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Text 6">
            <a:extLst>
              <a:ext uri="{FF2B5EF4-FFF2-40B4-BE49-F238E27FC236}">
                <a16:creationId xmlns:a16="http://schemas.microsoft.com/office/drawing/2014/main" id="{FF3B6848-EBE4-C944-E44C-95B8F7658E0B}"/>
              </a:ext>
            </a:extLst>
          </p:cNvPr>
          <p:cNvSpPr/>
          <p:nvPr/>
        </p:nvSpPr>
        <p:spPr>
          <a:xfrm>
            <a:off x="576263" y="1527175"/>
            <a:ext cx="3748087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1E3A8A"/>
                </a:solidFill>
                <a:latin typeface="Calibri"/>
                <a:ea typeface="Calibri"/>
              </a:rPr>
              <a:t>Single Agent Limits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Text 7">
            <a:extLst>
              <a:ext uri="{FF2B5EF4-FFF2-40B4-BE49-F238E27FC236}">
                <a16:creationId xmlns:a16="http://schemas.microsoft.com/office/drawing/2014/main" id="{DEBFA8DD-15BD-A29D-3117-B84671E825F4}"/>
              </a:ext>
            </a:extLst>
          </p:cNvPr>
          <p:cNvSpPr/>
          <p:nvPr/>
        </p:nvSpPr>
        <p:spPr>
          <a:xfrm>
            <a:off x="576263" y="1828800"/>
            <a:ext cx="3748087" cy="1096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9pPr>
          </a:lstStyle>
          <a:p>
            <a:pPr algn="just" eaLnBrk="1" hangingPunct="1">
              <a:defRPr/>
            </a:pPr>
            <a:r>
              <a:rPr lang="en-US" altLang="en-US" sz="1200" dirty="0">
                <a:solidFill>
                  <a:srgbClr val="1E3A8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 agent handles everything → context overflow, no </a:t>
            </a:r>
            <a:r>
              <a:rPr lang="en-US" altLang="en-US" sz="1200" dirty="0" err="1">
                <a:solidFill>
                  <a:srgbClr val="1E3A8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specialisation</a:t>
            </a:r>
            <a:r>
              <a:rPr lang="en-US" altLang="en-US" sz="1200" dirty="0">
                <a:solidFill>
                  <a:srgbClr val="1E3A8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quality bottleneck</a:t>
            </a:r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4" name="Shape 8">
            <a:extLst>
              <a:ext uri="{FF2B5EF4-FFF2-40B4-BE49-F238E27FC236}">
                <a16:creationId xmlns:a16="http://schemas.microsoft.com/office/drawing/2014/main" id="{91D7ABB5-0EBA-463A-6133-1A748DD0ECA9}"/>
              </a:ext>
            </a:extLst>
          </p:cNvPr>
          <p:cNvSpPr/>
          <p:nvPr/>
        </p:nvSpPr>
        <p:spPr>
          <a:xfrm>
            <a:off x="4618038" y="1417638"/>
            <a:ext cx="4022725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Shape 9">
            <a:extLst>
              <a:ext uri="{FF2B5EF4-FFF2-40B4-BE49-F238E27FC236}">
                <a16:creationId xmlns:a16="http://schemas.microsoft.com/office/drawing/2014/main" id="{3215F2E8-2595-F333-80CB-924ED81201DF}"/>
              </a:ext>
            </a:extLst>
          </p:cNvPr>
          <p:cNvSpPr/>
          <p:nvPr/>
        </p:nvSpPr>
        <p:spPr>
          <a:xfrm>
            <a:off x="4618038" y="1417638"/>
            <a:ext cx="4022725" cy="53975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Text 10">
            <a:extLst>
              <a:ext uri="{FF2B5EF4-FFF2-40B4-BE49-F238E27FC236}">
                <a16:creationId xmlns:a16="http://schemas.microsoft.com/office/drawing/2014/main" id="{8425F272-FAD8-3A13-439B-66C6C64E4851}"/>
              </a:ext>
            </a:extLst>
          </p:cNvPr>
          <p:cNvSpPr/>
          <p:nvPr/>
        </p:nvSpPr>
        <p:spPr>
          <a:xfrm>
            <a:off x="4781550" y="1527175"/>
            <a:ext cx="3749675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  <a:ea typeface="Calibri"/>
              </a:rPr>
              <a:t>Parallel Execution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Text 11">
            <a:extLst>
              <a:ext uri="{FF2B5EF4-FFF2-40B4-BE49-F238E27FC236}">
                <a16:creationId xmlns:a16="http://schemas.microsoft.com/office/drawing/2014/main" id="{57AB41B0-EC9E-9A09-19EE-AB75BDC92312}"/>
              </a:ext>
            </a:extLst>
          </p:cNvPr>
          <p:cNvSpPr/>
          <p:nvPr/>
        </p:nvSpPr>
        <p:spPr>
          <a:xfrm>
            <a:off x="4781550" y="1828800"/>
            <a:ext cx="3749675" cy="1096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9pPr>
          </a:lstStyle>
          <a:p>
            <a:pPr algn="just" eaLnBrk="1" hangingPunct="1">
              <a:defRPr/>
            </a:pPr>
            <a:r>
              <a:rPr lang="en-US" altLang="en-US" sz="1200" dirty="0">
                <a:solidFill>
                  <a:srgbClr val="1E3A8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Multiple agents work simultaneously on different sub-tasks → dramatically faster completion</a:t>
            </a:r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8" name="Shape 12">
            <a:extLst>
              <a:ext uri="{FF2B5EF4-FFF2-40B4-BE49-F238E27FC236}">
                <a16:creationId xmlns:a16="http://schemas.microsoft.com/office/drawing/2014/main" id="{8712EEF1-3E17-5281-80C5-61AC505C3968}"/>
              </a:ext>
            </a:extLst>
          </p:cNvPr>
          <p:cNvSpPr/>
          <p:nvPr/>
        </p:nvSpPr>
        <p:spPr>
          <a:xfrm>
            <a:off x="411163" y="3246438"/>
            <a:ext cx="4024312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Shape 13">
            <a:extLst>
              <a:ext uri="{FF2B5EF4-FFF2-40B4-BE49-F238E27FC236}">
                <a16:creationId xmlns:a16="http://schemas.microsoft.com/office/drawing/2014/main" id="{672C71CB-B850-F17E-495A-828EA81E44F8}"/>
              </a:ext>
            </a:extLst>
          </p:cNvPr>
          <p:cNvSpPr/>
          <p:nvPr/>
        </p:nvSpPr>
        <p:spPr>
          <a:xfrm>
            <a:off x="411163" y="3246438"/>
            <a:ext cx="4024312" cy="53975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Text 14">
            <a:extLst>
              <a:ext uri="{FF2B5EF4-FFF2-40B4-BE49-F238E27FC236}">
                <a16:creationId xmlns:a16="http://schemas.microsoft.com/office/drawing/2014/main" id="{EBEC1C4B-79AC-7727-2601-2B43FE040A7E}"/>
              </a:ext>
            </a:extLst>
          </p:cNvPr>
          <p:cNvSpPr/>
          <p:nvPr/>
        </p:nvSpPr>
        <p:spPr>
          <a:xfrm>
            <a:off x="576263" y="3355975"/>
            <a:ext cx="3748087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  <a:ea typeface="Calibri"/>
              </a:rPr>
              <a:t>Deep Specialisation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Text 15">
            <a:extLst>
              <a:ext uri="{FF2B5EF4-FFF2-40B4-BE49-F238E27FC236}">
                <a16:creationId xmlns:a16="http://schemas.microsoft.com/office/drawing/2014/main" id="{5F5322AA-6B04-2F1C-AB6D-9BE0FE37D366}"/>
              </a:ext>
            </a:extLst>
          </p:cNvPr>
          <p:cNvSpPr/>
          <p:nvPr/>
        </p:nvSpPr>
        <p:spPr>
          <a:xfrm>
            <a:off x="576263" y="3657600"/>
            <a:ext cx="3748087" cy="1096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9pPr>
          </a:lstStyle>
          <a:p>
            <a:pPr algn="just" eaLnBrk="1" hangingPunct="1">
              <a:defRPr/>
            </a:pPr>
            <a:r>
              <a:rPr lang="en-US" altLang="en-US" sz="1200" dirty="0">
                <a:solidFill>
                  <a:srgbClr val="1E3A8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agent masters one domain (research, code, QA, writing) → better output than a generalist</a:t>
            </a:r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2" name="Shape 16">
            <a:extLst>
              <a:ext uri="{FF2B5EF4-FFF2-40B4-BE49-F238E27FC236}">
                <a16:creationId xmlns:a16="http://schemas.microsoft.com/office/drawing/2014/main" id="{D395FA63-6798-89A7-A0E5-EBF77F686D8C}"/>
              </a:ext>
            </a:extLst>
          </p:cNvPr>
          <p:cNvSpPr/>
          <p:nvPr/>
        </p:nvSpPr>
        <p:spPr>
          <a:xfrm>
            <a:off x="4618038" y="3246438"/>
            <a:ext cx="4022725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Shape 17">
            <a:extLst>
              <a:ext uri="{FF2B5EF4-FFF2-40B4-BE49-F238E27FC236}">
                <a16:creationId xmlns:a16="http://schemas.microsoft.com/office/drawing/2014/main" id="{8D1B9EC3-B597-D08B-D1E6-91FFED760E13}"/>
              </a:ext>
            </a:extLst>
          </p:cNvPr>
          <p:cNvSpPr/>
          <p:nvPr/>
        </p:nvSpPr>
        <p:spPr>
          <a:xfrm>
            <a:off x="4618038" y="3246438"/>
            <a:ext cx="4022725" cy="53975"/>
          </a:xfrm>
          <a:prstGeom prst="rect">
            <a:avLst/>
          </a:prstGeom>
          <a:solidFill>
            <a:srgbClr val="2E7D32"/>
          </a:solidFill>
          <a:ln w="12600">
            <a:solidFill>
              <a:srgbClr val="2E7D3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Text 18">
            <a:extLst>
              <a:ext uri="{FF2B5EF4-FFF2-40B4-BE49-F238E27FC236}">
                <a16:creationId xmlns:a16="http://schemas.microsoft.com/office/drawing/2014/main" id="{4767F7C1-A226-8512-0FE1-A7D1B0712966}"/>
              </a:ext>
            </a:extLst>
          </p:cNvPr>
          <p:cNvSpPr/>
          <p:nvPr/>
        </p:nvSpPr>
        <p:spPr>
          <a:xfrm>
            <a:off x="4781550" y="3355975"/>
            <a:ext cx="3749675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  <a:ea typeface="Calibri"/>
              </a:rPr>
              <a:t>Fault Tolerance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Text 19">
            <a:extLst>
              <a:ext uri="{FF2B5EF4-FFF2-40B4-BE49-F238E27FC236}">
                <a16:creationId xmlns:a16="http://schemas.microsoft.com/office/drawing/2014/main" id="{B35F6DF6-6AC1-EFEA-6258-025B74B4E1DC}"/>
              </a:ext>
            </a:extLst>
          </p:cNvPr>
          <p:cNvSpPr/>
          <p:nvPr/>
        </p:nvSpPr>
        <p:spPr>
          <a:xfrm>
            <a:off x="4781550" y="3657600"/>
            <a:ext cx="3749675" cy="1096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 dirty="0">
                <a:solidFill>
                  <a:srgbClr val="1E3A8A"/>
                </a:solidFill>
                <a:latin typeface="Calibri"/>
                <a:ea typeface="Calibri"/>
              </a:rPr>
              <a:t>If one agent fails, others continue. No single point of failure in the pipeline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310" name="Picture 1">
            <a:extLst>
              <a:ext uri="{FF2B5EF4-FFF2-40B4-BE49-F238E27FC236}">
                <a16:creationId xmlns:a16="http://schemas.microsoft.com/office/drawing/2014/main" id="{B55C2905-D21F-AD39-5622-614FDCBB7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1288"/>
            <a:ext cx="2117725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/>
      <p:bldP spid="131" grpId="0" animBg="1"/>
      <p:bldP spid="132" grpId="0"/>
      <p:bldP spid="133" grpId="0"/>
      <p:bldP spid="134" grpId="0" animBg="1"/>
      <p:bldP spid="135" grpId="0" animBg="1"/>
      <p:bldP spid="136" grpId="0"/>
      <p:bldP spid="137" grpId="0"/>
      <p:bldP spid="138" grpId="0" animBg="1"/>
      <p:bldP spid="139" grpId="0" animBg="1"/>
      <p:bldP spid="140" grpId="0"/>
      <p:bldP spid="141" grpId="0"/>
      <p:bldP spid="142" grpId="0" animBg="1"/>
      <p:bldP spid="143" grpId="0" animBg="1"/>
      <p:bldP spid="144" grpId="0"/>
      <p:bldP spid="1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>
            <a:extLst>
              <a:ext uri="{FF2B5EF4-FFF2-40B4-BE49-F238E27FC236}">
                <a16:creationId xmlns:a16="http://schemas.microsoft.com/office/drawing/2014/main" id="{9397A9D3-1CC7-D859-6B00-823FDC63F4B7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Text 1">
            <a:extLst>
              <a:ext uri="{FF2B5EF4-FFF2-40B4-BE49-F238E27FC236}">
                <a16:creationId xmlns:a16="http://schemas.microsoft.com/office/drawing/2014/main" id="{0D5399A1-7CC8-9F22-4AAE-1880FC77009D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>
                <a:solidFill>
                  <a:srgbClr val="1E3A8A"/>
                </a:solidFill>
                <a:latin typeface="Calibri"/>
              </a:rPr>
              <a:t>SECTION 1</a:t>
            </a:r>
            <a:endParaRPr lang="en-US" sz="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Text 2">
            <a:extLst>
              <a:ext uri="{FF2B5EF4-FFF2-40B4-BE49-F238E27FC236}">
                <a16:creationId xmlns:a16="http://schemas.microsoft.com/office/drawing/2014/main" id="{847BEF91-9399-CCBE-A478-63DBCE237514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400" b="1" spc="-1">
                <a:solidFill>
                  <a:srgbClr val="1E3A8A"/>
                </a:solidFill>
                <a:latin typeface="Calibri"/>
              </a:rPr>
              <a:t>Introducing LangGraph &amp; AutoGen</a:t>
            </a:r>
            <a:endParaRPr lang="en-US" sz="24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Text 3">
            <a:extLst>
              <a:ext uri="{FF2B5EF4-FFF2-40B4-BE49-F238E27FC236}">
                <a16:creationId xmlns:a16="http://schemas.microsoft.com/office/drawing/2014/main" id="{00FA5A04-368C-B219-6221-33EB7AC641D3}"/>
              </a:ext>
            </a:extLst>
          </p:cNvPr>
          <p:cNvSpPr/>
          <p:nvPr/>
        </p:nvSpPr>
        <p:spPr>
          <a:xfrm>
            <a:off x="457200" y="987425"/>
            <a:ext cx="8229600" cy="255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spc="-1" dirty="0">
                <a:solidFill>
                  <a:srgbClr val="1E3A8A"/>
                </a:solidFill>
                <a:latin typeface="Calibri"/>
              </a:rPr>
              <a:t>Two frameworks - different paradigms - both purpose-built for multi-agent coordination:</a:t>
            </a:r>
            <a:endParaRPr lang="en-US" sz="13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Shape 4">
            <a:extLst>
              <a:ext uri="{FF2B5EF4-FFF2-40B4-BE49-F238E27FC236}">
                <a16:creationId xmlns:a16="http://schemas.microsoft.com/office/drawing/2014/main" id="{6FE3A38E-D646-639E-E171-755971E6C184}"/>
              </a:ext>
            </a:extLst>
          </p:cNvPr>
          <p:cNvSpPr/>
          <p:nvPr/>
        </p:nvSpPr>
        <p:spPr>
          <a:xfrm>
            <a:off x="365125" y="1325563"/>
            <a:ext cx="4024313" cy="3567112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38183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" name="Shape 5">
            <a:extLst>
              <a:ext uri="{FF2B5EF4-FFF2-40B4-BE49-F238E27FC236}">
                <a16:creationId xmlns:a16="http://schemas.microsoft.com/office/drawing/2014/main" id="{BE6A38F3-F2A6-F418-EC72-D7BB66883CAF}"/>
              </a:ext>
            </a:extLst>
          </p:cNvPr>
          <p:cNvSpPr/>
          <p:nvPr/>
        </p:nvSpPr>
        <p:spPr>
          <a:xfrm>
            <a:off x="365125" y="1325563"/>
            <a:ext cx="4024313" cy="503237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Text 6">
            <a:extLst>
              <a:ext uri="{FF2B5EF4-FFF2-40B4-BE49-F238E27FC236}">
                <a16:creationId xmlns:a16="http://schemas.microsoft.com/office/drawing/2014/main" id="{C325FE2E-3838-8BE6-5A60-AB214F9FE2EA}"/>
              </a:ext>
            </a:extLst>
          </p:cNvPr>
          <p:cNvSpPr/>
          <p:nvPr/>
        </p:nvSpPr>
        <p:spPr>
          <a:xfrm>
            <a:off x="365125" y="1325563"/>
            <a:ext cx="4024313" cy="5032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b="1" spc="-1" dirty="0" err="1">
                <a:solidFill>
                  <a:schemeClr val="bg1"/>
                </a:solidFill>
                <a:latin typeface="Calibri"/>
              </a:rPr>
              <a:t>LangGraph</a:t>
            </a:r>
            <a:endParaRPr lang="en-US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54" name="Text 7">
            <a:extLst>
              <a:ext uri="{FF2B5EF4-FFF2-40B4-BE49-F238E27FC236}">
                <a16:creationId xmlns:a16="http://schemas.microsoft.com/office/drawing/2014/main" id="{1EA6D2E0-4BF5-DEF4-17C1-B856BEF59E0A}"/>
              </a:ext>
            </a:extLst>
          </p:cNvPr>
          <p:cNvSpPr/>
          <p:nvPr/>
        </p:nvSpPr>
        <p:spPr>
          <a:xfrm>
            <a:off x="503238" y="1920875"/>
            <a:ext cx="3748087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60A5FA"/>
                </a:solidFill>
                <a:latin typeface="Calibri"/>
              </a:rPr>
              <a:t>Graph-Based Orchestration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Text 8">
            <a:extLst>
              <a:ext uri="{FF2B5EF4-FFF2-40B4-BE49-F238E27FC236}">
                <a16:creationId xmlns:a16="http://schemas.microsoft.com/office/drawing/2014/main" id="{7E4B7695-FE7E-04B8-D776-7BC7373C67E5}"/>
              </a:ext>
            </a:extLst>
          </p:cNvPr>
          <p:cNvSpPr/>
          <p:nvPr/>
        </p:nvSpPr>
        <p:spPr>
          <a:xfrm>
            <a:off x="503238" y="2266950"/>
            <a:ext cx="3748087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 dirty="0">
                <a:solidFill>
                  <a:srgbClr val="38BDF8"/>
                </a:solidFill>
                <a:latin typeface="Calibri"/>
              </a:rPr>
              <a:t>✓  </a:t>
            </a:r>
            <a:r>
              <a:rPr lang="en-US" sz="1150" spc="-1" dirty="0">
                <a:solidFill>
                  <a:srgbClr val="1E3A8A"/>
                </a:solidFill>
                <a:latin typeface="Calibri"/>
              </a:rPr>
              <a:t>Agents as nodes in a directed graph</a:t>
            </a:r>
            <a:endParaRPr lang="en-US" sz="115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Text 9">
            <a:extLst>
              <a:ext uri="{FF2B5EF4-FFF2-40B4-BE49-F238E27FC236}">
                <a16:creationId xmlns:a16="http://schemas.microsoft.com/office/drawing/2014/main" id="{92C46D29-6526-BA60-4560-8C3C617980DE}"/>
              </a:ext>
            </a:extLst>
          </p:cNvPr>
          <p:cNvSpPr/>
          <p:nvPr/>
        </p:nvSpPr>
        <p:spPr>
          <a:xfrm>
            <a:off x="503238" y="2587625"/>
            <a:ext cx="3748087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>
                <a:solidFill>
                  <a:srgbClr val="38BDF8"/>
                </a:solidFill>
                <a:latin typeface="Calibri"/>
              </a:rPr>
              <a:t>✓  </a:t>
            </a:r>
            <a:r>
              <a:rPr lang="en-US" sz="1150" spc="-1">
                <a:solidFill>
                  <a:srgbClr val="1E3A8A"/>
                </a:solidFill>
                <a:latin typeface="Calibri"/>
              </a:rPr>
              <a:t>Explicit state shared across all nodes</a:t>
            </a:r>
            <a:endParaRPr lang="en-US" sz="11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251D7DC1-0506-724A-28F2-1661DD9DF91B}"/>
              </a:ext>
            </a:extLst>
          </p:cNvPr>
          <p:cNvSpPr/>
          <p:nvPr/>
        </p:nvSpPr>
        <p:spPr>
          <a:xfrm>
            <a:off x="503238" y="2908300"/>
            <a:ext cx="3748087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>
                <a:solidFill>
                  <a:srgbClr val="38BDF8"/>
                </a:solidFill>
                <a:latin typeface="Calibri"/>
              </a:rPr>
              <a:t>✓  </a:t>
            </a:r>
            <a:r>
              <a:rPr lang="en-US" sz="1150" spc="-1">
                <a:solidFill>
                  <a:srgbClr val="1E3A8A"/>
                </a:solidFill>
                <a:latin typeface="Calibri"/>
              </a:rPr>
              <a:t>Conditional edges for dynamic routing</a:t>
            </a:r>
            <a:endParaRPr lang="en-US" sz="11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413C7B8B-88FE-81E5-99A5-75486297A1F4}"/>
              </a:ext>
            </a:extLst>
          </p:cNvPr>
          <p:cNvSpPr/>
          <p:nvPr/>
        </p:nvSpPr>
        <p:spPr>
          <a:xfrm>
            <a:off x="503238" y="3227388"/>
            <a:ext cx="3748087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>
                <a:solidFill>
                  <a:srgbClr val="38BDF8"/>
                </a:solidFill>
                <a:latin typeface="Calibri"/>
              </a:rPr>
              <a:t>✓  </a:t>
            </a:r>
            <a:r>
              <a:rPr lang="en-US" sz="1150" spc="-1">
                <a:solidFill>
                  <a:srgbClr val="1E3A8A"/>
                </a:solidFill>
                <a:latin typeface="Calibri"/>
              </a:rPr>
              <a:t>Built-in cycles, retries, reflection loops</a:t>
            </a:r>
            <a:endParaRPr lang="en-US" sz="11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1A1A160B-9BE7-5B2E-42DD-B2255A145A9D}"/>
              </a:ext>
            </a:extLst>
          </p:cNvPr>
          <p:cNvSpPr/>
          <p:nvPr/>
        </p:nvSpPr>
        <p:spPr>
          <a:xfrm>
            <a:off x="503238" y="3548063"/>
            <a:ext cx="3748087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>
                <a:solidFill>
                  <a:srgbClr val="38BDF8"/>
                </a:solidFill>
                <a:latin typeface="Calibri"/>
              </a:rPr>
              <a:t>✓  </a:t>
            </a:r>
            <a:r>
              <a:rPr lang="en-US" sz="1150" spc="-1">
                <a:solidFill>
                  <a:srgbClr val="1E3A8A"/>
                </a:solidFill>
                <a:latin typeface="Calibri"/>
              </a:rPr>
              <a:t>Native human-in-the-loop support</a:t>
            </a:r>
            <a:endParaRPr lang="en-US" sz="11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Text 13">
            <a:extLst>
              <a:ext uri="{FF2B5EF4-FFF2-40B4-BE49-F238E27FC236}">
                <a16:creationId xmlns:a16="http://schemas.microsoft.com/office/drawing/2014/main" id="{F0565567-1BA9-275E-4C04-315CCAB95D5D}"/>
              </a:ext>
            </a:extLst>
          </p:cNvPr>
          <p:cNvSpPr/>
          <p:nvPr/>
        </p:nvSpPr>
        <p:spPr>
          <a:xfrm>
            <a:off x="503238" y="3867150"/>
            <a:ext cx="3748087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>
                <a:solidFill>
                  <a:srgbClr val="38BDF8"/>
                </a:solidFill>
                <a:latin typeface="Calibri"/>
              </a:rPr>
              <a:t>✓  </a:t>
            </a:r>
            <a:r>
              <a:rPr lang="en-US" sz="1150" spc="-1">
                <a:solidFill>
                  <a:srgbClr val="1E3A8A"/>
                </a:solidFill>
                <a:latin typeface="Calibri"/>
              </a:rPr>
              <a:t>Part of the LangChain ecosystem</a:t>
            </a:r>
            <a:endParaRPr lang="en-US" sz="11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Shape 14">
            <a:extLst>
              <a:ext uri="{FF2B5EF4-FFF2-40B4-BE49-F238E27FC236}">
                <a16:creationId xmlns:a16="http://schemas.microsoft.com/office/drawing/2014/main" id="{DBEC930A-B8B7-3B9F-52C3-3A5E02CB0AEA}"/>
              </a:ext>
            </a:extLst>
          </p:cNvPr>
          <p:cNvSpPr/>
          <p:nvPr/>
        </p:nvSpPr>
        <p:spPr>
          <a:xfrm>
            <a:off x="503238" y="4572000"/>
            <a:ext cx="3748087" cy="201613"/>
          </a:xfrm>
          <a:prstGeom prst="rect">
            <a:avLst/>
          </a:prstGeom>
          <a:solidFill>
            <a:srgbClr val="F0F9FF"/>
          </a:solidFill>
          <a:ln w="12600">
            <a:solidFill>
              <a:srgbClr val="BAE6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Text 15">
            <a:extLst>
              <a:ext uri="{FF2B5EF4-FFF2-40B4-BE49-F238E27FC236}">
                <a16:creationId xmlns:a16="http://schemas.microsoft.com/office/drawing/2014/main" id="{9E4EE9AC-7ED2-DAF3-2915-746382E8D123}"/>
              </a:ext>
            </a:extLst>
          </p:cNvPr>
          <p:cNvSpPr/>
          <p:nvPr/>
        </p:nvSpPr>
        <p:spPr>
          <a:xfrm>
            <a:off x="503238" y="4572000"/>
            <a:ext cx="3748087" cy="2016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b="1" spc="-1" dirty="0">
                <a:solidFill>
                  <a:srgbClr val="38BDF8"/>
                </a:solidFill>
                <a:latin typeface="Calibri"/>
              </a:rPr>
              <a:t>Best for: structured, auditable, deterministic pipelines</a:t>
            </a:r>
            <a:endParaRPr lang="en-US" sz="105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Shape 16">
            <a:extLst>
              <a:ext uri="{FF2B5EF4-FFF2-40B4-BE49-F238E27FC236}">
                <a16:creationId xmlns:a16="http://schemas.microsoft.com/office/drawing/2014/main" id="{147040F5-5827-E265-0931-8B86150EF685}"/>
              </a:ext>
            </a:extLst>
          </p:cNvPr>
          <p:cNvSpPr/>
          <p:nvPr/>
        </p:nvSpPr>
        <p:spPr>
          <a:xfrm>
            <a:off x="4754563" y="1325563"/>
            <a:ext cx="4024312" cy="3567112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38183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Shape 17">
            <a:extLst>
              <a:ext uri="{FF2B5EF4-FFF2-40B4-BE49-F238E27FC236}">
                <a16:creationId xmlns:a16="http://schemas.microsoft.com/office/drawing/2014/main" id="{C31C0CA9-AAF9-3A35-5E05-6E40413E78D8}"/>
              </a:ext>
            </a:extLst>
          </p:cNvPr>
          <p:cNvSpPr/>
          <p:nvPr/>
        </p:nvSpPr>
        <p:spPr>
          <a:xfrm>
            <a:off x="4754563" y="1325563"/>
            <a:ext cx="4024312" cy="503237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Text 18">
            <a:extLst>
              <a:ext uri="{FF2B5EF4-FFF2-40B4-BE49-F238E27FC236}">
                <a16:creationId xmlns:a16="http://schemas.microsoft.com/office/drawing/2014/main" id="{DD3E80DF-F811-FB14-0838-0FA3E35A5855}"/>
              </a:ext>
            </a:extLst>
          </p:cNvPr>
          <p:cNvSpPr/>
          <p:nvPr/>
        </p:nvSpPr>
        <p:spPr>
          <a:xfrm>
            <a:off x="4754563" y="1325563"/>
            <a:ext cx="4024312" cy="5032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b="1" spc="-1" dirty="0" err="1">
                <a:solidFill>
                  <a:schemeClr val="bg1"/>
                </a:solidFill>
                <a:latin typeface="Calibri"/>
              </a:rPr>
              <a:t>AutoGen</a:t>
            </a:r>
            <a:endParaRPr lang="en-US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66" name="Text 19">
            <a:extLst>
              <a:ext uri="{FF2B5EF4-FFF2-40B4-BE49-F238E27FC236}">
                <a16:creationId xmlns:a16="http://schemas.microsoft.com/office/drawing/2014/main" id="{AECD2BA1-DB9C-28FC-0E79-A934532A391F}"/>
              </a:ext>
            </a:extLst>
          </p:cNvPr>
          <p:cNvSpPr/>
          <p:nvPr/>
        </p:nvSpPr>
        <p:spPr>
          <a:xfrm>
            <a:off x="4892675" y="1920875"/>
            <a:ext cx="3748088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0E7490"/>
                </a:solidFill>
                <a:latin typeface="Calibri"/>
              </a:rPr>
              <a:t>Conversational Multi-Agent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Text 20">
            <a:extLst>
              <a:ext uri="{FF2B5EF4-FFF2-40B4-BE49-F238E27FC236}">
                <a16:creationId xmlns:a16="http://schemas.microsoft.com/office/drawing/2014/main" id="{EF6777AA-E06D-FFBB-E87C-ECE23626DA97}"/>
              </a:ext>
            </a:extLst>
          </p:cNvPr>
          <p:cNvSpPr/>
          <p:nvPr/>
        </p:nvSpPr>
        <p:spPr>
          <a:xfrm>
            <a:off x="4892675" y="2266950"/>
            <a:ext cx="3748088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>
                <a:solidFill>
                  <a:srgbClr val="0E7490"/>
                </a:solidFill>
                <a:latin typeface="Calibri"/>
              </a:rPr>
              <a:t>✓  </a:t>
            </a:r>
            <a:r>
              <a:rPr lang="en-US" sz="1150" spc="-1">
                <a:solidFill>
                  <a:srgbClr val="1E3A8A"/>
                </a:solidFill>
                <a:latin typeface="Calibri"/>
              </a:rPr>
              <a:t>Agents interact through natural language</a:t>
            </a:r>
            <a:endParaRPr lang="en-US" sz="11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8" name="Text 21">
            <a:extLst>
              <a:ext uri="{FF2B5EF4-FFF2-40B4-BE49-F238E27FC236}">
                <a16:creationId xmlns:a16="http://schemas.microsoft.com/office/drawing/2014/main" id="{6DB30F44-B1A1-9958-82FE-323732793449}"/>
              </a:ext>
            </a:extLst>
          </p:cNvPr>
          <p:cNvSpPr/>
          <p:nvPr/>
        </p:nvSpPr>
        <p:spPr>
          <a:xfrm>
            <a:off x="4892675" y="2587625"/>
            <a:ext cx="3748088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>
                <a:solidFill>
                  <a:srgbClr val="0E7490"/>
                </a:solidFill>
                <a:latin typeface="Calibri"/>
              </a:rPr>
              <a:t>✓  </a:t>
            </a:r>
            <a:r>
              <a:rPr lang="en-US" sz="1150" spc="-1">
                <a:solidFill>
                  <a:srgbClr val="1E3A8A"/>
                </a:solidFill>
                <a:latin typeface="Calibri"/>
              </a:rPr>
              <a:t>AssistantAgent + UserProxyAgent roles</a:t>
            </a:r>
            <a:endParaRPr lang="en-US" sz="11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" name="Text 22">
            <a:extLst>
              <a:ext uri="{FF2B5EF4-FFF2-40B4-BE49-F238E27FC236}">
                <a16:creationId xmlns:a16="http://schemas.microsoft.com/office/drawing/2014/main" id="{56886A99-D329-617A-99F4-51C50FBAB662}"/>
              </a:ext>
            </a:extLst>
          </p:cNvPr>
          <p:cNvSpPr/>
          <p:nvPr/>
        </p:nvSpPr>
        <p:spPr>
          <a:xfrm>
            <a:off x="4892675" y="2908300"/>
            <a:ext cx="3748088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>
                <a:solidFill>
                  <a:srgbClr val="0E7490"/>
                </a:solidFill>
                <a:latin typeface="Calibri"/>
              </a:rPr>
              <a:t>✓  </a:t>
            </a:r>
            <a:r>
              <a:rPr lang="en-US" sz="1150" spc="-1">
                <a:solidFill>
                  <a:srgbClr val="1E3A8A"/>
                </a:solidFill>
                <a:latin typeface="Calibri"/>
              </a:rPr>
              <a:t>GroupChat for orchestrating multiple agents</a:t>
            </a:r>
            <a:endParaRPr lang="en-US" sz="11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Text 23">
            <a:extLst>
              <a:ext uri="{FF2B5EF4-FFF2-40B4-BE49-F238E27FC236}">
                <a16:creationId xmlns:a16="http://schemas.microsoft.com/office/drawing/2014/main" id="{4C64F305-322A-B4E7-1966-A85D45592238}"/>
              </a:ext>
            </a:extLst>
          </p:cNvPr>
          <p:cNvSpPr/>
          <p:nvPr/>
        </p:nvSpPr>
        <p:spPr>
          <a:xfrm>
            <a:off x="4892675" y="3227388"/>
            <a:ext cx="3748088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>
                <a:solidFill>
                  <a:srgbClr val="0E7490"/>
                </a:solidFill>
                <a:latin typeface="Calibri"/>
              </a:rPr>
              <a:t>✓  </a:t>
            </a:r>
            <a:r>
              <a:rPr lang="en-US" sz="1150" spc="-1">
                <a:solidFill>
                  <a:srgbClr val="1E3A8A"/>
                </a:solidFill>
                <a:latin typeface="Calibri"/>
              </a:rPr>
              <a:t>Built-in code execution sandbox</a:t>
            </a:r>
            <a:endParaRPr lang="en-US" sz="11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" name="Text 24">
            <a:extLst>
              <a:ext uri="{FF2B5EF4-FFF2-40B4-BE49-F238E27FC236}">
                <a16:creationId xmlns:a16="http://schemas.microsoft.com/office/drawing/2014/main" id="{0B32415C-8370-F8E8-80F0-EDDBB0036226}"/>
              </a:ext>
            </a:extLst>
          </p:cNvPr>
          <p:cNvSpPr/>
          <p:nvPr/>
        </p:nvSpPr>
        <p:spPr>
          <a:xfrm>
            <a:off x="4892675" y="3548063"/>
            <a:ext cx="3748088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>
                <a:solidFill>
                  <a:srgbClr val="0E7490"/>
                </a:solidFill>
                <a:latin typeface="Calibri"/>
              </a:rPr>
              <a:t>✓  </a:t>
            </a:r>
            <a:r>
              <a:rPr lang="en-US" sz="1150" spc="-1">
                <a:solidFill>
                  <a:srgbClr val="1E3A8A"/>
                </a:solidFill>
                <a:latin typeface="Calibri"/>
              </a:rPr>
              <a:t>Dynamic, flexible agent conversations</a:t>
            </a:r>
            <a:endParaRPr lang="en-US" sz="11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" name="Text 25">
            <a:extLst>
              <a:ext uri="{FF2B5EF4-FFF2-40B4-BE49-F238E27FC236}">
                <a16:creationId xmlns:a16="http://schemas.microsoft.com/office/drawing/2014/main" id="{131A34C7-233C-85B9-C232-A9CF54EA990E}"/>
              </a:ext>
            </a:extLst>
          </p:cNvPr>
          <p:cNvSpPr/>
          <p:nvPr/>
        </p:nvSpPr>
        <p:spPr>
          <a:xfrm>
            <a:off x="4892675" y="3867150"/>
            <a:ext cx="3748088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>
                <a:solidFill>
                  <a:srgbClr val="0E7490"/>
                </a:solidFill>
                <a:latin typeface="Calibri"/>
              </a:rPr>
              <a:t>✓  </a:t>
            </a:r>
            <a:r>
              <a:rPr lang="en-US" sz="1150" spc="-1">
                <a:solidFill>
                  <a:srgbClr val="1E3A8A"/>
                </a:solidFill>
                <a:latin typeface="Calibri"/>
              </a:rPr>
              <a:t>Microsoft Research open-source project</a:t>
            </a:r>
            <a:endParaRPr lang="en-US" sz="11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" name="Shape 26">
            <a:extLst>
              <a:ext uri="{FF2B5EF4-FFF2-40B4-BE49-F238E27FC236}">
                <a16:creationId xmlns:a16="http://schemas.microsoft.com/office/drawing/2014/main" id="{50115E98-887F-F859-B231-707AC1251FE3}"/>
              </a:ext>
            </a:extLst>
          </p:cNvPr>
          <p:cNvSpPr/>
          <p:nvPr/>
        </p:nvSpPr>
        <p:spPr>
          <a:xfrm>
            <a:off x="4892675" y="4572000"/>
            <a:ext cx="3748088" cy="201613"/>
          </a:xfrm>
          <a:prstGeom prst="rect">
            <a:avLst/>
          </a:prstGeom>
          <a:solidFill>
            <a:srgbClr val="F3E5F5"/>
          </a:solidFill>
          <a:ln w="12600">
            <a:solidFill>
              <a:srgbClr val="CE93D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" name="Text 27">
            <a:extLst>
              <a:ext uri="{FF2B5EF4-FFF2-40B4-BE49-F238E27FC236}">
                <a16:creationId xmlns:a16="http://schemas.microsoft.com/office/drawing/2014/main" id="{DE16113C-A451-0F47-3B2D-176A60870FDB}"/>
              </a:ext>
            </a:extLst>
          </p:cNvPr>
          <p:cNvSpPr/>
          <p:nvPr/>
        </p:nvSpPr>
        <p:spPr>
          <a:xfrm>
            <a:off x="4892675" y="4572000"/>
            <a:ext cx="3748088" cy="2016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b="1" spc="-1" dirty="0">
                <a:solidFill>
                  <a:srgbClr val="0E7490"/>
                </a:solidFill>
                <a:latin typeface="Calibri"/>
              </a:rPr>
              <a:t>Best for: open-ended, collaborative, exploratory tasks</a:t>
            </a:r>
            <a:endParaRPr lang="en-US" sz="105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366" name="Picture 1">
            <a:extLst>
              <a:ext uri="{FF2B5EF4-FFF2-40B4-BE49-F238E27FC236}">
                <a16:creationId xmlns:a16="http://schemas.microsoft.com/office/drawing/2014/main" id="{294BF4EE-3BBD-6710-9039-841763380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7638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animBg="1"/>
      <p:bldP spid="152" grpId="0" animBg="1"/>
      <p:bldP spid="153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 animBg="1"/>
      <p:bldP spid="162" grpId="0"/>
      <p:bldP spid="163" grpId="0" animBg="1"/>
      <p:bldP spid="164" grpId="0" animBg="1"/>
      <p:bldP spid="165" grpId="0"/>
      <p:bldP spid="166" grpId="0"/>
      <p:bldP spid="167" grpId="0"/>
      <p:bldP spid="168" grpId="0"/>
      <p:bldP spid="169" grpId="0"/>
      <p:bldP spid="170" grpId="0"/>
      <p:bldP spid="171" grpId="0"/>
      <p:bldP spid="172" grpId="0"/>
      <p:bldP spid="173" grpId="0" animBg="1"/>
      <p:bldP spid="17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>
            <a:extLst>
              <a:ext uri="{FF2B5EF4-FFF2-40B4-BE49-F238E27FC236}">
                <a16:creationId xmlns:a16="http://schemas.microsoft.com/office/drawing/2014/main" id="{6B678111-2BCC-3A6C-FD40-6931E0498382}"/>
              </a:ext>
            </a:extLst>
          </p:cNvPr>
          <p:cNvSpPr/>
          <p:nvPr/>
        </p:nvSpPr>
        <p:spPr>
          <a:xfrm>
            <a:off x="0" y="0"/>
            <a:ext cx="9144000" cy="55563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640" rIns="90000" bIns="86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" name="Text 1">
            <a:extLst>
              <a:ext uri="{FF2B5EF4-FFF2-40B4-BE49-F238E27FC236}">
                <a16:creationId xmlns:a16="http://schemas.microsoft.com/office/drawing/2014/main" id="{B621FB2B-E6C9-BE70-B107-D8B567EBAE71}"/>
              </a:ext>
            </a:extLst>
          </p:cNvPr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>
                <a:solidFill>
                  <a:srgbClr val="0EA5E9"/>
                </a:solidFill>
                <a:latin typeface="Calibri"/>
              </a:rPr>
              <a:t>SECTION 2</a:t>
            </a:r>
            <a:endParaRPr lang="en-US" sz="14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Text 2">
            <a:extLst>
              <a:ext uri="{FF2B5EF4-FFF2-40B4-BE49-F238E27FC236}">
                <a16:creationId xmlns:a16="http://schemas.microsoft.com/office/drawing/2014/main" id="{CCEDF2BA-F267-0A4B-EFD3-221D204CAC5C}"/>
              </a:ext>
            </a:extLst>
          </p:cNvPr>
          <p:cNvSpPr/>
          <p:nvPr/>
        </p:nvSpPr>
        <p:spPr>
          <a:xfrm>
            <a:off x="457200" y="1874838"/>
            <a:ext cx="8229600" cy="822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4400" b="1" spc="-1">
                <a:solidFill>
                  <a:srgbClr val="1E3A8A"/>
                </a:solidFill>
                <a:latin typeface="Calibri"/>
              </a:rPr>
              <a:t>LangGraph</a:t>
            </a:r>
            <a:endParaRPr lang="en-US" sz="44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" name="Text 3">
            <a:extLst>
              <a:ext uri="{FF2B5EF4-FFF2-40B4-BE49-F238E27FC236}">
                <a16:creationId xmlns:a16="http://schemas.microsoft.com/office/drawing/2014/main" id="{75F79CD3-1A9A-296B-4BE7-1118B76CBAD3}"/>
              </a:ext>
            </a:extLst>
          </p:cNvPr>
          <p:cNvSpPr/>
          <p:nvPr/>
        </p:nvSpPr>
        <p:spPr>
          <a:xfrm>
            <a:off x="457200" y="2789238"/>
            <a:ext cx="8229600" cy="365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i="1" spc="-1">
                <a:solidFill>
                  <a:srgbClr val="0C4A6E"/>
                </a:solidFill>
                <a:latin typeface="Calibri"/>
              </a:rPr>
              <a:t>Graph-Based Agent Orchestration</a:t>
            </a:r>
            <a:endParaRPr lang="en-US" sz="1600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6390" name="Picture 1">
            <a:extLst>
              <a:ext uri="{FF2B5EF4-FFF2-40B4-BE49-F238E27FC236}">
                <a16:creationId xmlns:a16="http://schemas.microsoft.com/office/drawing/2014/main" id="{6439ABC6-CEC5-E7D2-6F28-D6044F802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93675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>
            <a:extLst>
              <a:ext uri="{FF2B5EF4-FFF2-40B4-BE49-F238E27FC236}">
                <a16:creationId xmlns:a16="http://schemas.microsoft.com/office/drawing/2014/main" id="{49BF1446-A156-AED0-76A9-C2BBFCF9A5F4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" name="Text 1">
            <a:extLst>
              <a:ext uri="{FF2B5EF4-FFF2-40B4-BE49-F238E27FC236}">
                <a16:creationId xmlns:a16="http://schemas.microsoft.com/office/drawing/2014/main" id="{2A024139-59F2-C238-8841-AF077F1B047E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>
                <a:solidFill>
                  <a:srgbClr val="1E3A8A"/>
                </a:solidFill>
                <a:latin typeface="Calibri"/>
              </a:rPr>
              <a:t>LANGGRAPH</a:t>
            </a:r>
            <a:endParaRPr lang="en-US" sz="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" name="Text 2">
            <a:extLst>
              <a:ext uri="{FF2B5EF4-FFF2-40B4-BE49-F238E27FC236}">
                <a16:creationId xmlns:a16="http://schemas.microsoft.com/office/drawing/2014/main" id="{F310CEDC-6722-4BD3-F6E1-18853DCA06CF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400" b="1" spc="-1">
                <a:solidFill>
                  <a:srgbClr val="1E3A8A"/>
                </a:solidFill>
                <a:latin typeface="Calibri"/>
              </a:rPr>
              <a:t>Why LangGraph?</a:t>
            </a:r>
            <a:endParaRPr lang="en-US" sz="24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Text 3">
            <a:extLst>
              <a:ext uri="{FF2B5EF4-FFF2-40B4-BE49-F238E27FC236}">
                <a16:creationId xmlns:a16="http://schemas.microsoft.com/office/drawing/2014/main" id="{6F64680D-2635-341D-6B3C-55A12FE00868}"/>
              </a:ext>
            </a:extLst>
          </p:cNvPr>
          <p:cNvSpPr/>
          <p:nvPr/>
        </p:nvSpPr>
        <p:spPr>
          <a:xfrm>
            <a:off x="457200" y="987425"/>
            <a:ext cx="8229600" cy="255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spc="-1" dirty="0" err="1">
                <a:solidFill>
                  <a:srgbClr val="1E3A8A"/>
                </a:solidFill>
                <a:latin typeface="Calibri"/>
              </a:rPr>
              <a:t>LangChain</a:t>
            </a:r>
            <a:r>
              <a:rPr lang="en-US" sz="1300" spc="-1" dirty="0">
                <a:solidFill>
                  <a:srgbClr val="1E3A8A"/>
                </a:solidFill>
                <a:latin typeface="Calibri"/>
              </a:rPr>
              <a:t> gives you linear chains. </a:t>
            </a:r>
            <a:r>
              <a:rPr lang="en-US" sz="1300" spc="-1" dirty="0" err="1">
                <a:solidFill>
                  <a:srgbClr val="1E3A8A"/>
                </a:solidFill>
                <a:latin typeface="Calibri"/>
              </a:rPr>
              <a:t>LangGraph</a:t>
            </a:r>
            <a:r>
              <a:rPr lang="en-US" sz="1300" spc="-1" dirty="0">
                <a:solidFill>
                  <a:srgbClr val="1E3A8A"/>
                </a:solidFill>
                <a:latin typeface="Calibri"/>
              </a:rPr>
              <a:t> gives you GRAPHS - with cycles, branches, and state.</a:t>
            </a:r>
            <a:endParaRPr lang="en-US" sz="13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" name="Shape 4">
            <a:extLst>
              <a:ext uri="{FF2B5EF4-FFF2-40B4-BE49-F238E27FC236}">
                <a16:creationId xmlns:a16="http://schemas.microsoft.com/office/drawing/2014/main" id="{2BE84D0D-160D-37D9-3453-A5F42BBCA64B}"/>
              </a:ext>
            </a:extLst>
          </p:cNvPr>
          <p:cNvSpPr/>
          <p:nvPr/>
        </p:nvSpPr>
        <p:spPr>
          <a:xfrm>
            <a:off x="411163" y="1371600"/>
            <a:ext cx="411480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" name="Shape 5">
            <a:extLst>
              <a:ext uri="{FF2B5EF4-FFF2-40B4-BE49-F238E27FC236}">
                <a16:creationId xmlns:a16="http://schemas.microsoft.com/office/drawing/2014/main" id="{E7D019E5-3EA4-157A-3263-83CE146DD53A}"/>
              </a:ext>
            </a:extLst>
          </p:cNvPr>
          <p:cNvSpPr/>
          <p:nvPr/>
        </p:nvSpPr>
        <p:spPr>
          <a:xfrm>
            <a:off x="411163" y="1371600"/>
            <a:ext cx="55562" cy="1600200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" name="Text 6">
            <a:extLst>
              <a:ext uri="{FF2B5EF4-FFF2-40B4-BE49-F238E27FC236}">
                <a16:creationId xmlns:a16="http://schemas.microsoft.com/office/drawing/2014/main" id="{8FB51668-7E30-2623-4400-56904884B833}"/>
              </a:ext>
            </a:extLst>
          </p:cNvPr>
          <p:cNvSpPr/>
          <p:nvPr/>
        </p:nvSpPr>
        <p:spPr>
          <a:xfrm>
            <a:off x="576263" y="1463675"/>
            <a:ext cx="3859212" cy="255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1E3A8A"/>
                </a:solidFill>
                <a:latin typeface="Calibri"/>
                <a:ea typeface="Calibri"/>
              </a:rPr>
              <a:t>Graph Control Flow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Text 7">
            <a:extLst>
              <a:ext uri="{FF2B5EF4-FFF2-40B4-BE49-F238E27FC236}">
                <a16:creationId xmlns:a16="http://schemas.microsoft.com/office/drawing/2014/main" id="{BAF517F7-5DA9-D8BA-896E-20A7C54223F7}"/>
              </a:ext>
            </a:extLst>
          </p:cNvPr>
          <p:cNvSpPr/>
          <p:nvPr/>
        </p:nvSpPr>
        <p:spPr>
          <a:xfrm>
            <a:off x="576263" y="1719263"/>
            <a:ext cx="3859212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 dirty="0">
                <a:solidFill>
                  <a:srgbClr val="1E3A8A"/>
                </a:solidFill>
                <a:latin typeface="Calibri"/>
                <a:ea typeface="Calibri"/>
              </a:rPr>
              <a:t>Define agents as nodes, transitions as edges. Supports loops, branches, and conditionals far beyond what a linear chain can do.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Shape 8">
            <a:extLst>
              <a:ext uri="{FF2B5EF4-FFF2-40B4-BE49-F238E27FC236}">
                <a16:creationId xmlns:a16="http://schemas.microsoft.com/office/drawing/2014/main" id="{74CCBB9B-D13F-CB7E-FC3B-95A4206FFC38}"/>
              </a:ext>
            </a:extLst>
          </p:cNvPr>
          <p:cNvSpPr/>
          <p:nvPr/>
        </p:nvSpPr>
        <p:spPr>
          <a:xfrm>
            <a:off x="4708525" y="1371600"/>
            <a:ext cx="411480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" name="Shape 9">
            <a:extLst>
              <a:ext uri="{FF2B5EF4-FFF2-40B4-BE49-F238E27FC236}">
                <a16:creationId xmlns:a16="http://schemas.microsoft.com/office/drawing/2014/main" id="{83BEB34B-ED32-424D-555E-7269D50E43A5}"/>
              </a:ext>
            </a:extLst>
          </p:cNvPr>
          <p:cNvSpPr/>
          <p:nvPr/>
        </p:nvSpPr>
        <p:spPr>
          <a:xfrm>
            <a:off x="4708525" y="1371600"/>
            <a:ext cx="55563" cy="1600200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" name="Text 10">
            <a:extLst>
              <a:ext uri="{FF2B5EF4-FFF2-40B4-BE49-F238E27FC236}">
                <a16:creationId xmlns:a16="http://schemas.microsoft.com/office/drawing/2014/main" id="{1CE38E27-FFC5-5DB5-5D62-A167E7488BB0}"/>
              </a:ext>
            </a:extLst>
          </p:cNvPr>
          <p:cNvSpPr/>
          <p:nvPr/>
        </p:nvSpPr>
        <p:spPr>
          <a:xfrm>
            <a:off x="4873625" y="1463675"/>
            <a:ext cx="3859213" cy="255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1E3A8A"/>
                </a:solidFill>
                <a:latin typeface="Calibri"/>
                <a:ea typeface="Calibri"/>
              </a:rPr>
              <a:t>Persistent State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" name="Text 11">
            <a:extLst>
              <a:ext uri="{FF2B5EF4-FFF2-40B4-BE49-F238E27FC236}">
                <a16:creationId xmlns:a16="http://schemas.microsoft.com/office/drawing/2014/main" id="{0CB64948-2889-9BB7-502E-27519009B4DB}"/>
              </a:ext>
            </a:extLst>
          </p:cNvPr>
          <p:cNvSpPr/>
          <p:nvPr/>
        </p:nvSpPr>
        <p:spPr>
          <a:xfrm>
            <a:off x="4873625" y="1719263"/>
            <a:ext cx="3859213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 dirty="0" err="1">
                <a:solidFill>
                  <a:srgbClr val="1E3A8A"/>
                </a:solidFill>
                <a:latin typeface="Calibri"/>
                <a:ea typeface="Calibri"/>
              </a:rPr>
              <a:t>TypedDict</a:t>
            </a:r>
            <a:r>
              <a:rPr lang="en-US" sz="1200" spc="-1" dirty="0">
                <a:solidFill>
                  <a:srgbClr val="1E3A8A"/>
                </a:solidFill>
                <a:latin typeface="Calibri"/>
                <a:ea typeface="Calibri"/>
              </a:rPr>
              <a:t> state flows through every node automatically. No manual passing of results state is first-class and always available.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3" name="Shape 12">
            <a:extLst>
              <a:ext uri="{FF2B5EF4-FFF2-40B4-BE49-F238E27FC236}">
                <a16:creationId xmlns:a16="http://schemas.microsoft.com/office/drawing/2014/main" id="{41B7012C-F598-8C59-A7BE-0EEB6C5CDC81}"/>
              </a:ext>
            </a:extLst>
          </p:cNvPr>
          <p:cNvSpPr/>
          <p:nvPr/>
        </p:nvSpPr>
        <p:spPr>
          <a:xfrm>
            <a:off x="411163" y="3200400"/>
            <a:ext cx="411480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" name="Shape 13">
            <a:extLst>
              <a:ext uri="{FF2B5EF4-FFF2-40B4-BE49-F238E27FC236}">
                <a16:creationId xmlns:a16="http://schemas.microsoft.com/office/drawing/2014/main" id="{A6F04579-ACB9-83C2-F41E-4DE05C99D57E}"/>
              </a:ext>
            </a:extLst>
          </p:cNvPr>
          <p:cNvSpPr/>
          <p:nvPr/>
        </p:nvSpPr>
        <p:spPr>
          <a:xfrm>
            <a:off x="411163" y="3200400"/>
            <a:ext cx="55562" cy="1600200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" name="Text 14">
            <a:extLst>
              <a:ext uri="{FF2B5EF4-FFF2-40B4-BE49-F238E27FC236}">
                <a16:creationId xmlns:a16="http://schemas.microsoft.com/office/drawing/2014/main" id="{AE244805-384B-0AAD-0C65-69886A120AC8}"/>
              </a:ext>
            </a:extLst>
          </p:cNvPr>
          <p:cNvSpPr/>
          <p:nvPr/>
        </p:nvSpPr>
        <p:spPr>
          <a:xfrm>
            <a:off x="576263" y="3292475"/>
            <a:ext cx="3859212" cy="255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  <a:ea typeface="Calibri"/>
              </a:rPr>
              <a:t>Human-in-the-Loop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Text 15">
            <a:extLst>
              <a:ext uri="{FF2B5EF4-FFF2-40B4-BE49-F238E27FC236}">
                <a16:creationId xmlns:a16="http://schemas.microsoft.com/office/drawing/2014/main" id="{184B796C-592F-BCEF-34B7-D4A751F4C454}"/>
              </a:ext>
            </a:extLst>
          </p:cNvPr>
          <p:cNvSpPr/>
          <p:nvPr/>
        </p:nvSpPr>
        <p:spPr>
          <a:xfrm>
            <a:off x="576263" y="3548063"/>
            <a:ext cx="3859212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 dirty="0">
                <a:solidFill>
                  <a:srgbClr val="1E3A8A"/>
                </a:solidFill>
                <a:latin typeface="Calibri"/>
                <a:ea typeface="Calibri"/>
              </a:rPr>
              <a:t>Pause execution at any node, collect human input or approval, then resume the graph exactly where it stopped.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Shape 16">
            <a:extLst>
              <a:ext uri="{FF2B5EF4-FFF2-40B4-BE49-F238E27FC236}">
                <a16:creationId xmlns:a16="http://schemas.microsoft.com/office/drawing/2014/main" id="{68613285-FCC1-A58A-3CEB-5C9627513732}"/>
              </a:ext>
            </a:extLst>
          </p:cNvPr>
          <p:cNvSpPr/>
          <p:nvPr/>
        </p:nvSpPr>
        <p:spPr>
          <a:xfrm>
            <a:off x="4708525" y="3200400"/>
            <a:ext cx="411480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" name="Shape 17">
            <a:extLst>
              <a:ext uri="{FF2B5EF4-FFF2-40B4-BE49-F238E27FC236}">
                <a16:creationId xmlns:a16="http://schemas.microsoft.com/office/drawing/2014/main" id="{773B2BBF-1EEB-BB55-3180-088CCFC9F324}"/>
              </a:ext>
            </a:extLst>
          </p:cNvPr>
          <p:cNvSpPr/>
          <p:nvPr/>
        </p:nvSpPr>
        <p:spPr>
          <a:xfrm>
            <a:off x="4708525" y="3200400"/>
            <a:ext cx="55563" cy="1600200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" name="Text 18">
            <a:extLst>
              <a:ext uri="{FF2B5EF4-FFF2-40B4-BE49-F238E27FC236}">
                <a16:creationId xmlns:a16="http://schemas.microsoft.com/office/drawing/2014/main" id="{C3917619-CE84-38EF-503A-6890A38BE92B}"/>
              </a:ext>
            </a:extLst>
          </p:cNvPr>
          <p:cNvSpPr/>
          <p:nvPr/>
        </p:nvSpPr>
        <p:spPr>
          <a:xfrm>
            <a:off x="4873625" y="3292475"/>
            <a:ext cx="3859213" cy="255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  <a:ea typeface="Calibri"/>
              </a:rPr>
              <a:t>Observability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" name="Text 19">
            <a:extLst>
              <a:ext uri="{FF2B5EF4-FFF2-40B4-BE49-F238E27FC236}">
                <a16:creationId xmlns:a16="http://schemas.microsoft.com/office/drawing/2014/main" id="{25A94608-B0E7-BB59-A213-43AAB2B260F5}"/>
              </a:ext>
            </a:extLst>
          </p:cNvPr>
          <p:cNvSpPr/>
          <p:nvPr/>
        </p:nvSpPr>
        <p:spPr>
          <a:xfrm>
            <a:off x="4873625" y="3548063"/>
            <a:ext cx="3859213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 dirty="0">
                <a:solidFill>
                  <a:srgbClr val="1E3A8A"/>
                </a:solidFill>
                <a:latin typeface="Calibri"/>
                <a:ea typeface="Calibri"/>
              </a:rPr>
              <a:t>Full </a:t>
            </a:r>
            <a:r>
              <a:rPr lang="en-US" sz="1200" spc="-1" dirty="0" err="1">
                <a:solidFill>
                  <a:srgbClr val="1E3A8A"/>
                </a:solidFill>
                <a:latin typeface="Calibri"/>
                <a:ea typeface="Calibri"/>
              </a:rPr>
              <a:t>LangSmith</a:t>
            </a:r>
            <a:r>
              <a:rPr lang="en-US" sz="1200" spc="-1" dirty="0">
                <a:solidFill>
                  <a:srgbClr val="1E3A8A"/>
                </a:solidFill>
                <a:latin typeface="Calibri"/>
                <a:ea typeface="Calibri"/>
              </a:rPr>
              <a:t> integration trace every node, inspect state at each step, debug agent </a:t>
            </a:r>
            <a:r>
              <a:rPr lang="en-US" sz="1200" spc="-1" dirty="0" err="1">
                <a:solidFill>
                  <a:srgbClr val="1E3A8A"/>
                </a:solidFill>
                <a:latin typeface="Calibri"/>
                <a:ea typeface="Calibri"/>
              </a:rPr>
              <a:t>behaviour</a:t>
            </a:r>
            <a:r>
              <a:rPr lang="en-US" sz="1200" spc="-1" dirty="0">
                <a:solidFill>
                  <a:srgbClr val="1E3A8A"/>
                </a:solidFill>
                <a:latin typeface="Calibri"/>
                <a:ea typeface="Calibri"/>
              </a:rPr>
              <a:t> in production.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8454" name="Picture 1">
            <a:extLst>
              <a:ext uri="{FF2B5EF4-FFF2-40B4-BE49-F238E27FC236}">
                <a16:creationId xmlns:a16="http://schemas.microsoft.com/office/drawing/2014/main" id="{72AD4C76-E489-E596-80FB-D0979CE7D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20650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animBg="1"/>
      <p:bldP spid="186" grpId="0" animBg="1"/>
      <p:bldP spid="187" grpId="0"/>
      <p:bldP spid="188" grpId="0"/>
      <p:bldP spid="189" grpId="0" animBg="1"/>
      <p:bldP spid="190" grpId="0" animBg="1"/>
      <p:bldP spid="191" grpId="0"/>
      <p:bldP spid="192" grpId="0"/>
      <p:bldP spid="193" grpId="0" animBg="1"/>
      <p:bldP spid="194" grpId="0" animBg="1"/>
      <p:bldP spid="195" grpId="0"/>
      <p:bldP spid="196" grpId="0"/>
      <p:bldP spid="197" grpId="0" animBg="1"/>
      <p:bldP spid="198" grpId="0" animBg="1"/>
      <p:bldP spid="199" grpId="0"/>
      <p:bldP spid="20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0">
            <a:extLst>
              <a:ext uri="{FF2B5EF4-FFF2-40B4-BE49-F238E27FC236}">
                <a16:creationId xmlns:a16="http://schemas.microsoft.com/office/drawing/2014/main" id="{3F560BE1-B32C-2F8B-AC76-7432FD1CBDAD}"/>
              </a:ext>
            </a:extLst>
          </p:cNvPr>
          <p:cNvSpPr/>
          <p:nvPr/>
        </p:nvSpPr>
        <p:spPr>
          <a:xfrm>
            <a:off x="412750" y="3246438"/>
            <a:ext cx="2697163" cy="1554162"/>
          </a:xfrm>
          <a:prstGeom prst="rect">
            <a:avLst/>
          </a:prstGeom>
          <a:solidFill>
            <a:srgbClr val="DBEAFE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" name="Shape 0">
            <a:extLst>
              <a:ext uri="{FF2B5EF4-FFF2-40B4-BE49-F238E27FC236}">
                <a16:creationId xmlns:a16="http://schemas.microsoft.com/office/drawing/2014/main" id="{9C151547-E971-2C5F-EE7B-9BA2E2886B10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" name="Text 1">
            <a:extLst>
              <a:ext uri="{FF2B5EF4-FFF2-40B4-BE49-F238E27FC236}">
                <a16:creationId xmlns:a16="http://schemas.microsoft.com/office/drawing/2014/main" id="{7B349431-B454-517F-6F37-E5618222C4BC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>
                <a:solidFill>
                  <a:srgbClr val="1E3A8A"/>
                </a:solidFill>
                <a:latin typeface="Calibri"/>
              </a:rPr>
              <a:t>LANGGRAPH</a:t>
            </a:r>
            <a:endParaRPr lang="en-US" sz="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" name="Text 2">
            <a:extLst>
              <a:ext uri="{FF2B5EF4-FFF2-40B4-BE49-F238E27FC236}">
                <a16:creationId xmlns:a16="http://schemas.microsoft.com/office/drawing/2014/main" id="{16511341-A225-E7EC-30D5-8A6768EC2F4C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200" b="1" spc="-1" dirty="0" err="1">
                <a:solidFill>
                  <a:srgbClr val="1E3A8A"/>
                </a:solidFill>
                <a:latin typeface="Calibri"/>
              </a:rPr>
              <a:t>LangGraph</a:t>
            </a:r>
            <a:r>
              <a:rPr lang="en-US" sz="2200" b="1" spc="-1" dirty="0">
                <a:solidFill>
                  <a:srgbClr val="1E3A8A"/>
                </a:solidFill>
                <a:latin typeface="Calibri"/>
              </a:rPr>
              <a:t> Architecture - Core Concepts</a:t>
            </a:r>
            <a:endParaRPr lang="en-US" sz="2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" name="Text 3">
            <a:extLst>
              <a:ext uri="{FF2B5EF4-FFF2-40B4-BE49-F238E27FC236}">
                <a16:creationId xmlns:a16="http://schemas.microsoft.com/office/drawing/2014/main" id="{26C62341-59E1-A0AD-D496-068267F2E389}"/>
              </a:ext>
            </a:extLst>
          </p:cNvPr>
          <p:cNvSpPr/>
          <p:nvPr/>
        </p:nvSpPr>
        <p:spPr>
          <a:xfrm>
            <a:off x="457200" y="960438"/>
            <a:ext cx="8229600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spc="-1" dirty="0">
                <a:solidFill>
                  <a:srgbClr val="1E3A8A"/>
                </a:solidFill>
                <a:latin typeface="Calibri"/>
              </a:rPr>
              <a:t>Every </a:t>
            </a:r>
            <a:r>
              <a:rPr lang="en-US" sz="1300" spc="-1" dirty="0" err="1">
                <a:solidFill>
                  <a:srgbClr val="1E3A8A"/>
                </a:solidFill>
                <a:latin typeface="Calibri"/>
              </a:rPr>
              <a:t>LangGraph</a:t>
            </a:r>
            <a:r>
              <a:rPr lang="en-US" sz="1300" spc="-1" dirty="0">
                <a:solidFill>
                  <a:srgbClr val="1E3A8A"/>
                </a:solidFill>
                <a:latin typeface="Calibri"/>
              </a:rPr>
              <a:t> application is built from three primitives: State · Nodes · Edges</a:t>
            </a:r>
            <a:endParaRPr lang="en-US" sz="13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" name="Shape 4">
            <a:extLst>
              <a:ext uri="{FF2B5EF4-FFF2-40B4-BE49-F238E27FC236}">
                <a16:creationId xmlns:a16="http://schemas.microsoft.com/office/drawing/2014/main" id="{966A1C0C-DFB0-2EE8-8224-F930C8111E1A}"/>
              </a:ext>
            </a:extLst>
          </p:cNvPr>
          <p:cNvSpPr/>
          <p:nvPr/>
        </p:nvSpPr>
        <p:spPr>
          <a:xfrm>
            <a:off x="1096963" y="1371600"/>
            <a:ext cx="1828800" cy="1646238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  <a:effectLst>
            <a:outerShdw dist="38183" rotWithShape="0">
              <a:srgbClr val="000000">
                <a:alpha val="1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" name="Text 5">
            <a:extLst>
              <a:ext uri="{FF2B5EF4-FFF2-40B4-BE49-F238E27FC236}">
                <a16:creationId xmlns:a16="http://schemas.microsoft.com/office/drawing/2014/main" id="{925BFE96-6A51-F4EF-8CDE-DCC1AD54658C}"/>
              </a:ext>
            </a:extLst>
          </p:cNvPr>
          <p:cNvSpPr/>
          <p:nvPr/>
        </p:nvSpPr>
        <p:spPr>
          <a:xfrm>
            <a:off x="1096963" y="1554163"/>
            <a:ext cx="1828800" cy="3667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 dirty="0">
                <a:solidFill>
                  <a:schemeClr val="bg1"/>
                </a:solidFill>
                <a:latin typeface="Calibri"/>
              </a:rPr>
              <a:t>STATE</a:t>
            </a:r>
            <a:endParaRPr lang="en-US" sz="16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08" name="Text 6">
            <a:extLst>
              <a:ext uri="{FF2B5EF4-FFF2-40B4-BE49-F238E27FC236}">
                <a16:creationId xmlns:a16="http://schemas.microsoft.com/office/drawing/2014/main" id="{C842CC36-BD8F-588A-984A-538A759002C5}"/>
              </a:ext>
            </a:extLst>
          </p:cNvPr>
          <p:cNvSpPr/>
          <p:nvPr/>
        </p:nvSpPr>
        <p:spPr>
          <a:xfrm>
            <a:off x="1096963" y="2011363"/>
            <a:ext cx="1828800" cy="823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 dirty="0">
                <a:solidFill>
                  <a:schemeClr val="bg1"/>
                </a:solidFill>
                <a:latin typeface="Calibri"/>
              </a:rPr>
              <a:t>Typed </a:t>
            </a:r>
            <a:r>
              <a:rPr lang="en-US" sz="1200" spc="-1" dirty="0" err="1">
                <a:solidFill>
                  <a:schemeClr val="bg1"/>
                </a:solidFill>
                <a:latin typeface="Calibri"/>
              </a:rPr>
              <a:t>Dict</a:t>
            </a:r>
            <a:endParaRPr lang="en-US" sz="1200" spc="-1" dirty="0">
              <a:solidFill>
                <a:schemeClr val="bg1"/>
              </a:solidFill>
              <a:latin typeface="Calibri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 dirty="0">
                <a:solidFill>
                  <a:schemeClr val="bg1"/>
                </a:solidFill>
                <a:latin typeface="Calibri"/>
              </a:rPr>
              <a:t>Shared Memory</a:t>
            </a:r>
          </a:p>
        </p:txBody>
      </p:sp>
      <p:sp>
        <p:nvSpPr>
          <p:cNvPr id="209" name="Shape 7">
            <a:extLst>
              <a:ext uri="{FF2B5EF4-FFF2-40B4-BE49-F238E27FC236}">
                <a16:creationId xmlns:a16="http://schemas.microsoft.com/office/drawing/2014/main" id="{57BABAB9-9814-11E8-FD1C-A0E7347A3D23}"/>
              </a:ext>
            </a:extLst>
          </p:cNvPr>
          <p:cNvSpPr/>
          <p:nvPr/>
        </p:nvSpPr>
        <p:spPr>
          <a:xfrm>
            <a:off x="3932238" y="1371600"/>
            <a:ext cx="1828800" cy="1646238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miter/>
          </a:ln>
          <a:effectLst>
            <a:outerShdw dist="38183" rotWithShape="0">
              <a:srgbClr val="000000">
                <a:alpha val="1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" name="Text 8">
            <a:extLst>
              <a:ext uri="{FF2B5EF4-FFF2-40B4-BE49-F238E27FC236}">
                <a16:creationId xmlns:a16="http://schemas.microsoft.com/office/drawing/2014/main" id="{8B508C24-C0BE-0A12-B971-95869C77943F}"/>
              </a:ext>
            </a:extLst>
          </p:cNvPr>
          <p:cNvSpPr/>
          <p:nvPr/>
        </p:nvSpPr>
        <p:spPr>
          <a:xfrm>
            <a:off x="3932238" y="1554163"/>
            <a:ext cx="1828800" cy="3667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 dirty="0">
                <a:solidFill>
                  <a:schemeClr val="bg1"/>
                </a:solidFill>
                <a:latin typeface="Calibri"/>
              </a:rPr>
              <a:t>NODE</a:t>
            </a:r>
            <a:endParaRPr lang="en-US" sz="16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11" name="Text 9">
            <a:extLst>
              <a:ext uri="{FF2B5EF4-FFF2-40B4-BE49-F238E27FC236}">
                <a16:creationId xmlns:a16="http://schemas.microsoft.com/office/drawing/2014/main" id="{CDF6245F-F6A3-A1B9-F6D0-16FBD841F721}"/>
              </a:ext>
            </a:extLst>
          </p:cNvPr>
          <p:cNvSpPr/>
          <p:nvPr/>
        </p:nvSpPr>
        <p:spPr>
          <a:xfrm>
            <a:off x="3932238" y="2011363"/>
            <a:ext cx="1828800" cy="823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 dirty="0">
                <a:solidFill>
                  <a:schemeClr val="bg1"/>
                </a:solidFill>
                <a:latin typeface="Calibri"/>
              </a:rPr>
              <a:t>Python Function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 dirty="0">
                <a:solidFill>
                  <a:schemeClr val="bg1"/>
                </a:solidFill>
                <a:latin typeface="Calibri"/>
              </a:rPr>
              <a:t>or LLM Call</a:t>
            </a:r>
          </a:p>
        </p:txBody>
      </p:sp>
      <p:sp>
        <p:nvSpPr>
          <p:cNvPr id="212" name="Shape 10">
            <a:extLst>
              <a:ext uri="{FF2B5EF4-FFF2-40B4-BE49-F238E27FC236}">
                <a16:creationId xmlns:a16="http://schemas.microsoft.com/office/drawing/2014/main" id="{06B06D93-198C-E962-FE5E-65B0B19DD3D7}"/>
              </a:ext>
            </a:extLst>
          </p:cNvPr>
          <p:cNvSpPr/>
          <p:nvPr/>
        </p:nvSpPr>
        <p:spPr>
          <a:xfrm>
            <a:off x="6583363" y="1371600"/>
            <a:ext cx="1828800" cy="1646238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  <a:effectLst>
            <a:outerShdw dist="38183" rotWithShape="0">
              <a:srgbClr val="000000">
                <a:alpha val="1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3" name="Text 11">
            <a:extLst>
              <a:ext uri="{FF2B5EF4-FFF2-40B4-BE49-F238E27FC236}">
                <a16:creationId xmlns:a16="http://schemas.microsoft.com/office/drawing/2014/main" id="{DA195608-8EFB-5123-B19B-A9799DFA2049}"/>
              </a:ext>
            </a:extLst>
          </p:cNvPr>
          <p:cNvSpPr/>
          <p:nvPr/>
        </p:nvSpPr>
        <p:spPr>
          <a:xfrm>
            <a:off x="6583363" y="1554163"/>
            <a:ext cx="1828800" cy="3667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>
                <a:solidFill>
                  <a:schemeClr val="bg1"/>
                </a:solidFill>
                <a:latin typeface="Calibri"/>
              </a:rPr>
              <a:t>EDGE</a:t>
            </a:r>
            <a:endParaRPr lang="en-US" sz="16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14" name="Text 12">
            <a:extLst>
              <a:ext uri="{FF2B5EF4-FFF2-40B4-BE49-F238E27FC236}">
                <a16:creationId xmlns:a16="http://schemas.microsoft.com/office/drawing/2014/main" id="{C5227DD3-121E-E48E-E802-47D368364993}"/>
              </a:ext>
            </a:extLst>
          </p:cNvPr>
          <p:cNvSpPr/>
          <p:nvPr/>
        </p:nvSpPr>
        <p:spPr>
          <a:xfrm>
            <a:off x="6583363" y="2011363"/>
            <a:ext cx="1828800" cy="823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 dirty="0">
                <a:solidFill>
                  <a:schemeClr val="bg1"/>
                </a:solidFill>
                <a:latin typeface="Calibri"/>
              </a:rPr>
              <a:t>Transitions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 dirty="0">
                <a:solidFill>
                  <a:schemeClr val="bg1"/>
                </a:solidFill>
                <a:latin typeface="Calibri"/>
              </a:rPr>
              <a:t>(Normal/Conditional)</a:t>
            </a:r>
          </a:p>
        </p:txBody>
      </p:sp>
      <p:sp>
        <p:nvSpPr>
          <p:cNvPr id="215" name="Shape 13">
            <a:extLst>
              <a:ext uri="{FF2B5EF4-FFF2-40B4-BE49-F238E27FC236}">
                <a16:creationId xmlns:a16="http://schemas.microsoft.com/office/drawing/2014/main" id="{7312BEC8-9794-7E13-67F7-09B4E2AD065C}"/>
              </a:ext>
            </a:extLst>
          </p:cNvPr>
          <p:cNvSpPr/>
          <p:nvPr/>
        </p:nvSpPr>
        <p:spPr>
          <a:xfrm>
            <a:off x="2925763" y="2084388"/>
            <a:ext cx="1006475" cy="55562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640" rIns="90000" bIns="86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" name="Shape 14">
            <a:extLst>
              <a:ext uri="{FF2B5EF4-FFF2-40B4-BE49-F238E27FC236}">
                <a16:creationId xmlns:a16="http://schemas.microsoft.com/office/drawing/2014/main" id="{480F1DA2-CC98-276C-7AE9-1793977A67AA}"/>
              </a:ext>
            </a:extLst>
          </p:cNvPr>
          <p:cNvSpPr/>
          <p:nvPr/>
        </p:nvSpPr>
        <p:spPr>
          <a:xfrm>
            <a:off x="5668963" y="2084388"/>
            <a:ext cx="914400" cy="55562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640" rIns="90000" bIns="86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7" name="Text 15">
            <a:extLst>
              <a:ext uri="{FF2B5EF4-FFF2-40B4-BE49-F238E27FC236}">
                <a16:creationId xmlns:a16="http://schemas.microsoft.com/office/drawing/2014/main" id="{F01EDF69-0D49-4428-C838-E502ECCC9B36}"/>
              </a:ext>
            </a:extLst>
          </p:cNvPr>
          <p:cNvSpPr/>
          <p:nvPr/>
        </p:nvSpPr>
        <p:spPr>
          <a:xfrm>
            <a:off x="2879725" y="1874838"/>
            <a:ext cx="109855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spc="-1">
                <a:solidFill>
                  <a:srgbClr val="0EA5E9"/>
                </a:solidFill>
                <a:latin typeface="Calibri"/>
              </a:rPr>
              <a:t>→</a:t>
            </a:r>
            <a:endParaRPr lang="en-US" sz="2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8" name="Text 16">
            <a:extLst>
              <a:ext uri="{FF2B5EF4-FFF2-40B4-BE49-F238E27FC236}">
                <a16:creationId xmlns:a16="http://schemas.microsoft.com/office/drawing/2014/main" id="{E003F4B0-D5E5-5813-A789-09E77EC44A27}"/>
              </a:ext>
            </a:extLst>
          </p:cNvPr>
          <p:cNvSpPr/>
          <p:nvPr/>
        </p:nvSpPr>
        <p:spPr>
          <a:xfrm>
            <a:off x="5622925" y="1874838"/>
            <a:ext cx="1006475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spc="-1">
                <a:solidFill>
                  <a:srgbClr val="0EA5E9"/>
                </a:solidFill>
                <a:latin typeface="Calibri"/>
              </a:rPr>
              <a:t>→</a:t>
            </a:r>
            <a:endParaRPr lang="en-US" sz="2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0" name="Text 18">
            <a:extLst>
              <a:ext uri="{FF2B5EF4-FFF2-40B4-BE49-F238E27FC236}">
                <a16:creationId xmlns:a16="http://schemas.microsoft.com/office/drawing/2014/main" id="{B1356FEE-728F-F838-5CE9-9E104716BACA}"/>
              </a:ext>
            </a:extLst>
          </p:cNvPr>
          <p:cNvSpPr/>
          <p:nvPr/>
        </p:nvSpPr>
        <p:spPr>
          <a:xfrm>
            <a:off x="503238" y="3309938"/>
            <a:ext cx="25146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0EA5E9"/>
                </a:solidFill>
                <a:latin typeface="Calibri"/>
              </a:rPr>
              <a:t>State Definition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2" name="Shape 20">
            <a:extLst>
              <a:ext uri="{FF2B5EF4-FFF2-40B4-BE49-F238E27FC236}">
                <a16:creationId xmlns:a16="http://schemas.microsoft.com/office/drawing/2014/main" id="{282DA0BA-27D5-1B70-4DAE-B8EC5A8E7B77}"/>
              </a:ext>
            </a:extLst>
          </p:cNvPr>
          <p:cNvSpPr/>
          <p:nvPr/>
        </p:nvSpPr>
        <p:spPr>
          <a:xfrm>
            <a:off x="3292475" y="3246438"/>
            <a:ext cx="2697163" cy="1554162"/>
          </a:xfrm>
          <a:prstGeom prst="rect">
            <a:avLst/>
          </a:prstGeom>
          <a:solidFill>
            <a:srgbClr val="DBEAFE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3" name="Text 21">
            <a:extLst>
              <a:ext uri="{FF2B5EF4-FFF2-40B4-BE49-F238E27FC236}">
                <a16:creationId xmlns:a16="http://schemas.microsoft.com/office/drawing/2014/main" id="{15857491-1495-19FF-9384-E87C789AA8BA}"/>
              </a:ext>
            </a:extLst>
          </p:cNvPr>
          <p:cNvSpPr/>
          <p:nvPr/>
        </p:nvSpPr>
        <p:spPr>
          <a:xfrm>
            <a:off x="3382963" y="3309938"/>
            <a:ext cx="25146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0EA5E9"/>
                </a:solidFill>
                <a:latin typeface="Calibri"/>
              </a:rPr>
              <a:t>Node Function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Shape 23">
            <a:extLst>
              <a:ext uri="{FF2B5EF4-FFF2-40B4-BE49-F238E27FC236}">
                <a16:creationId xmlns:a16="http://schemas.microsoft.com/office/drawing/2014/main" id="{FBA91D36-F34D-C557-C8A0-86318D15F056}"/>
              </a:ext>
            </a:extLst>
          </p:cNvPr>
          <p:cNvSpPr/>
          <p:nvPr/>
        </p:nvSpPr>
        <p:spPr>
          <a:xfrm>
            <a:off x="6172200" y="3246438"/>
            <a:ext cx="2697163" cy="1554162"/>
          </a:xfrm>
          <a:prstGeom prst="rect">
            <a:avLst/>
          </a:prstGeom>
          <a:solidFill>
            <a:srgbClr val="DBEAFE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" name="Text 24">
            <a:extLst>
              <a:ext uri="{FF2B5EF4-FFF2-40B4-BE49-F238E27FC236}">
                <a16:creationId xmlns:a16="http://schemas.microsoft.com/office/drawing/2014/main" id="{A1BCDC84-75E7-B07D-9CB3-9439B3E88408}"/>
              </a:ext>
            </a:extLst>
          </p:cNvPr>
          <p:cNvSpPr/>
          <p:nvPr/>
        </p:nvSpPr>
        <p:spPr>
          <a:xfrm>
            <a:off x="6264275" y="3309938"/>
            <a:ext cx="25146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0EA5E9"/>
                </a:solidFill>
                <a:latin typeface="Calibri"/>
              </a:rPr>
              <a:t>Edge Definition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0505" name="Picture 1">
            <a:extLst>
              <a:ext uri="{FF2B5EF4-FFF2-40B4-BE49-F238E27FC236}">
                <a16:creationId xmlns:a16="http://schemas.microsoft.com/office/drawing/2014/main" id="{F42AFD5A-A77B-BC50-7E40-5096730A9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7638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19">
            <a:extLst>
              <a:ext uri="{FF2B5EF4-FFF2-40B4-BE49-F238E27FC236}">
                <a16:creationId xmlns:a16="http://schemas.microsoft.com/office/drawing/2014/main" id="{4B7E91C0-3B9E-02B7-D4AF-407A6B896A8D}"/>
              </a:ext>
            </a:extLst>
          </p:cNvPr>
          <p:cNvSpPr/>
          <p:nvPr/>
        </p:nvSpPr>
        <p:spPr>
          <a:xfrm>
            <a:off x="503238" y="3565525"/>
            <a:ext cx="2514600" cy="1143000"/>
          </a:xfrm>
          <a:prstGeom prst="rect">
            <a:avLst/>
          </a:prstGeom>
          <a:noFill/>
          <a:ln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AgentState(TypedDict):</a:t>
            </a:r>
            <a:endParaRPr lang="en-US" sz="10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messages: list[str]</a:t>
            </a:r>
            <a:endParaRPr lang="en-US" sz="10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intent: str</a:t>
            </a:r>
            <a:endParaRPr lang="en-US" sz="10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confidence: float</a:t>
            </a:r>
            <a:endParaRPr lang="en-US" sz="1000" dirty="0">
              <a:latin typeface="+mn-lt"/>
            </a:endParaRPr>
          </a:p>
        </p:txBody>
      </p:sp>
      <p:sp>
        <p:nvSpPr>
          <p:cNvPr id="4" name="Text 22">
            <a:extLst>
              <a:ext uri="{FF2B5EF4-FFF2-40B4-BE49-F238E27FC236}">
                <a16:creationId xmlns:a16="http://schemas.microsoft.com/office/drawing/2014/main" id="{DEBF554B-3309-8176-A52A-871F5CEA5FB0}"/>
              </a:ext>
            </a:extLst>
          </p:cNvPr>
          <p:cNvSpPr/>
          <p:nvPr/>
        </p:nvSpPr>
        <p:spPr>
          <a:xfrm>
            <a:off x="3382963" y="3565525"/>
            <a:ext cx="2514600" cy="1143000"/>
          </a:xfrm>
          <a:prstGeom prst="rect">
            <a:avLst/>
          </a:prstGeom>
          <a:noFill/>
          <a:ln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classify(state):</a:t>
            </a:r>
            <a:endParaRPr lang="en-US" sz="10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intent = llm.invoke(...)</a:t>
            </a:r>
            <a:endParaRPr lang="en-US" sz="10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{'intent': intent}</a:t>
            </a:r>
            <a:endParaRPr lang="en-US" sz="1000" dirty="0">
              <a:latin typeface="+mn-lt"/>
            </a:endParaRPr>
          </a:p>
        </p:txBody>
      </p:sp>
      <p:sp>
        <p:nvSpPr>
          <p:cNvPr id="5" name="Text 25">
            <a:extLst>
              <a:ext uri="{FF2B5EF4-FFF2-40B4-BE49-F238E27FC236}">
                <a16:creationId xmlns:a16="http://schemas.microsoft.com/office/drawing/2014/main" id="{78FCEF93-D0AD-07D2-9C56-A02A17F7387C}"/>
              </a:ext>
            </a:extLst>
          </p:cNvPr>
          <p:cNvSpPr/>
          <p:nvPr/>
        </p:nvSpPr>
        <p:spPr>
          <a:xfrm>
            <a:off x="6264275" y="3565525"/>
            <a:ext cx="2514600" cy="1143000"/>
          </a:xfrm>
          <a:prstGeom prst="rect">
            <a:avLst/>
          </a:prstGeom>
          <a:noFill/>
          <a:ln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graph.add_edge('classify','retrieve')</a:t>
            </a:r>
            <a:endParaRPr lang="en-US" sz="10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graph.add_conditional_edges(</a:t>
            </a:r>
            <a:endParaRPr lang="en-US" sz="1000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'respond', route_fn)</a:t>
            </a:r>
            <a:endParaRPr lang="en-US" sz="1000" dirty="0">
              <a:latin typeface="+mn-lt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06" grpId="0" animBg="1"/>
      <p:bldP spid="207" grpId="0"/>
      <p:bldP spid="208" grpId="0"/>
      <p:bldP spid="209" grpId="0" animBg="1"/>
      <p:bldP spid="210" grpId="0"/>
      <p:bldP spid="211" grpId="0"/>
      <p:bldP spid="212" grpId="0" animBg="1"/>
      <p:bldP spid="213" grpId="0"/>
      <p:bldP spid="214" grpId="0"/>
      <p:bldP spid="215" grpId="0" animBg="1"/>
      <p:bldP spid="216" grpId="0" animBg="1"/>
      <p:bldP spid="217" grpId="0"/>
      <p:bldP spid="218" grpId="0"/>
      <p:bldP spid="220" grpId="0"/>
      <p:bldP spid="222" grpId="0" animBg="1"/>
      <p:bldP spid="223" grpId="0"/>
      <p:bldP spid="225" grpId="0" animBg="1"/>
      <p:bldP spid="226" grpId="0"/>
      <p:bldP spid="3" grpId="0" animBg="1"/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>
            <a:extLst>
              <a:ext uri="{FF2B5EF4-FFF2-40B4-BE49-F238E27FC236}">
                <a16:creationId xmlns:a16="http://schemas.microsoft.com/office/drawing/2014/main" id="{243DCB74-41CE-92A7-4037-A25E2B8DD8F5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0" name="Text 1">
            <a:extLst>
              <a:ext uri="{FF2B5EF4-FFF2-40B4-BE49-F238E27FC236}">
                <a16:creationId xmlns:a16="http://schemas.microsoft.com/office/drawing/2014/main" id="{95BD2897-DF0E-B168-372D-F53B3BE1FAD4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>
                <a:solidFill>
                  <a:srgbClr val="1E3A8A"/>
                </a:solidFill>
                <a:latin typeface="Calibri"/>
              </a:rPr>
              <a:t>LANGGRAPH</a:t>
            </a:r>
            <a:endParaRPr lang="en-US" sz="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1" name="Text 2">
            <a:extLst>
              <a:ext uri="{FF2B5EF4-FFF2-40B4-BE49-F238E27FC236}">
                <a16:creationId xmlns:a16="http://schemas.microsoft.com/office/drawing/2014/main" id="{C9E441C3-DC36-355C-9B6B-D615665199E0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200" b="1" spc="-1" dirty="0" err="1">
                <a:solidFill>
                  <a:srgbClr val="1E3A8A"/>
                </a:solidFill>
                <a:latin typeface="Calibri"/>
              </a:rPr>
              <a:t>LangGraph</a:t>
            </a:r>
            <a:r>
              <a:rPr lang="en-US" sz="2200" b="1" spc="-1" dirty="0">
                <a:solidFill>
                  <a:srgbClr val="1E3A8A"/>
                </a:solidFill>
                <a:latin typeface="Calibri"/>
              </a:rPr>
              <a:t> Patterns - How Graphs Flow</a:t>
            </a:r>
            <a:endParaRPr lang="en-US" sz="2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2" name="Text 3">
            <a:extLst>
              <a:ext uri="{FF2B5EF4-FFF2-40B4-BE49-F238E27FC236}">
                <a16:creationId xmlns:a16="http://schemas.microsoft.com/office/drawing/2014/main" id="{64851B95-7242-5317-A352-842F3D2EED9B}"/>
              </a:ext>
            </a:extLst>
          </p:cNvPr>
          <p:cNvSpPr/>
          <p:nvPr/>
        </p:nvSpPr>
        <p:spPr>
          <a:xfrm>
            <a:off x="457200" y="960438"/>
            <a:ext cx="8229600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spc="-1" dirty="0">
                <a:solidFill>
                  <a:srgbClr val="1E3A8A"/>
                </a:solidFill>
                <a:latin typeface="Calibri"/>
              </a:rPr>
              <a:t>Understanding conditional edges and cycles is the key to building powerful </a:t>
            </a:r>
            <a:r>
              <a:rPr lang="en-US" sz="1300" spc="-1" dirty="0" err="1">
                <a:solidFill>
                  <a:srgbClr val="1E3A8A"/>
                </a:solidFill>
                <a:latin typeface="Calibri"/>
              </a:rPr>
              <a:t>LangGraph</a:t>
            </a:r>
            <a:r>
              <a:rPr lang="en-US" sz="1300" spc="-1" dirty="0">
                <a:solidFill>
                  <a:srgbClr val="1E3A8A"/>
                </a:solidFill>
                <a:latin typeface="Calibri"/>
              </a:rPr>
              <a:t> agents.</a:t>
            </a:r>
            <a:endParaRPr lang="en-US" sz="13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3" name="Shape 4">
            <a:extLst>
              <a:ext uri="{FF2B5EF4-FFF2-40B4-BE49-F238E27FC236}">
                <a16:creationId xmlns:a16="http://schemas.microsoft.com/office/drawing/2014/main" id="{C832BB76-D4FC-6FED-22EC-A90257A27352}"/>
              </a:ext>
            </a:extLst>
          </p:cNvPr>
          <p:cNvSpPr/>
          <p:nvPr/>
        </p:nvSpPr>
        <p:spPr>
          <a:xfrm>
            <a:off x="457200" y="2011363"/>
            <a:ext cx="914400" cy="384175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4" name="Text 5">
            <a:extLst>
              <a:ext uri="{FF2B5EF4-FFF2-40B4-BE49-F238E27FC236}">
                <a16:creationId xmlns:a16="http://schemas.microsoft.com/office/drawing/2014/main" id="{7386DB84-1D3D-3009-3B2D-3AB0D73FA5FA}"/>
              </a:ext>
            </a:extLst>
          </p:cNvPr>
          <p:cNvSpPr/>
          <p:nvPr/>
        </p:nvSpPr>
        <p:spPr>
          <a:xfrm>
            <a:off x="457200" y="2011363"/>
            <a:ext cx="914400" cy="3841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 dirty="0">
                <a:solidFill>
                  <a:schemeClr val="bg1"/>
                </a:solidFill>
                <a:latin typeface="Calibri"/>
              </a:rPr>
              <a:t>START</a:t>
            </a:r>
            <a:endParaRPr lang="en-US" sz="8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36" name="Text 7">
            <a:extLst>
              <a:ext uri="{FF2B5EF4-FFF2-40B4-BE49-F238E27FC236}">
                <a16:creationId xmlns:a16="http://schemas.microsoft.com/office/drawing/2014/main" id="{8C943951-9F6A-10E6-7A72-B2BE3635C594}"/>
              </a:ext>
            </a:extLst>
          </p:cNvPr>
          <p:cNvSpPr/>
          <p:nvPr/>
        </p:nvSpPr>
        <p:spPr>
          <a:xfrm>
            <a:off x="1736725" y="1828800"/>
            <a:ext cx="1098550" cy="731838"/>
          </a:xfrm>
          <a:prstGeom prst="rect">
            <a:avLst/>
          </a:prstGeom>
          <a:solidFill>
            <a:srgbClr val="00B0F0"/>
          </a:solidFill>
          <a:ln w="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 dirty="0">
                <a:solidFill>
                  <a:schemeClr val="bg1"/>
                </a:solidFill>
                <a:latin typeface="Calibri"/>
              </a:rPr>
              <a:t>LLM</a:t>
            </a:r>
            <a:endParaRPr lang="en-US" sz="1000" spc="-1" dirty="0">
              <a:solidFill>
                <a:schemeClr val="bg1"/>
              </a:solidFill>
              <a:latin typeface="Calibri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 dirty="0">
                <a:solidFill>
                  <a:schemeClr val="bg1"/>
                </a:solidFill>
                <a:latin typeface="Calibri"/>
              </a:rPr>
              <a:t>Agent</a:t>
            </a:r>
            <a:endParaRPr lang="en-US" sz="10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37" name="Shape 8">
            <a:extLst>
              <a:ext uri="{FF2B5EF4-FFF2-40B4-BE49-F238E27FC236}">
                <a16:creationId xmlns:a16="http://schemas.microsoft.com/office/drawing/2014/main" id="{4D424B3C-8C6C-93BB-3109-A7FE577BB6D3}"/>
              </a:ext>
            </a:extLst>
          </p:cNvPr>
          <p:cNvSpPr/>
          <p:nvPr/>
        </p:nvSpPr>
        <p:spPr>
          <a:xfrm>
            <a:off x="3246438" y="1828800"/>
            <a:ext cx="1096962" cy="731838"/>
          </a:xfrm>
          <a:prstGeom prst="rect">
            <a:avLst/>
          </a:prstGeom>
          <a:solidFill>
            <a:srgbClr val="E65100"/>
          </a:solidFill>
          <a:ln w="12600">
            <a:solidFill>
              <a:srgbClr val="E651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38" name="Text 9">
            <a:extLst>
              <a:ext uri="{FF2B5EF4-FFF2-40B4-BE49-F238E27FC236}">
                <a16:creationId xmlns:a16="http://schemas.microsoft.com/office/drawing/2014/main" id="{C7F85210-0133-F1EC-EEDE-9D79A121D479}"/>
              </a:ext>
            </a:extLst>
          </p:cNvPr>
          <p:cNvSpPr/>
          <p:nvPr/>
        </p:nvSpPr>
        <p:spPr>
          <a:xfrm>
            <a:off x="3246438" y="1828800"/>
            <a:ext cx="1096962" cy="7318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 dirty="0">
                <a:solidFill>
                  <a:schemeClr val="bg1"/>
                </a:solidFill>
                <a:latin typeface="Calibri"/>
              </a:rPr>
              <a:t>Need</a:t>
            </a:r>
            <a:endParaRPr lang="en-US" sz="1000" spc="-1" dirty="0">
              <a:solidFill>
                <a:schemeClr val="bg1"/>
              </a:solidFill>
              <a:latin typeface="Calibri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 dirty="0">
                <a:solidFill>
                  <a:schemeClr val="bg1"/>
                </a:solidFill>
                <a:latin typeface="Calibri"/>
              </a:rPr>
              <a:t>Tool?</a:t>
            </a:r>
            <a:endParaRPr lang="en-US" sz="10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40" name="Text 11">
            <a:extLst>
              <a:ext uri="{FF2B5EF4-FFF2-40B4-BE49-F238E27FC236}">
                <a16:creationId xmlns:a16="http://schemas.microsoft.com/office/drawing/2014/main" id="{386591E6-3AF7-AD3E-FC90-ADD99AA49D0B}"/>
              </a:ext>
            </a:extLst>
          </p:cNvPr>
          <p:cNvSpPr/>
          <p:nvPr/>
        </p:nvSpPr>
        <p:spPr>
          <a:xfrm>
            <a:off x="4754563" y="1828800"/>
            <a:ext cx="1096962" cy="731838"/>
          </a:xfrm>
          <a:prstGeom prst="rect">
            <a:avLst/>
          </a:prstGeom>
          <a:solidFill>
            <a:srgbClr val="00B0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 dirty="0">
                <a:solidFill>
                  <a:schemeClr val="bg1"/>
                </a:solidFill>
                <a:latin typeface="Calibri"/>
              </a:rPr>
              <a:t>Execute</a:t>
            </a:r>
            <a:endParaRPr lang="en-US" sz="1000" spc="-1" dirty="0">
              <a:solidFill>
                <a:schemeClr val="bg1"/>
              </a:solidFill>
              <a:latin typeface="Calibri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 dirty="0">
                <a:solidFill>
                  <a:schemeClr val="bg1"/>
                </a:solidFill>
                <a:latin typeface="Calibri"/>
              </a:rPr>
              <a:t>Tool</a:t>
            </a:r>
            <a:endParaRPr lang="en-US" sz="10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42" name="Text 13">
            <a:extLst>
              <a:ext uri="{FF2B5EF4-FFF2-40B4-BE49-F238E27FC236}">
                <a16:creationId xmlns:a16="http://schemas.microsoft.com/office/drawing/2014/main" id="{65901662-95E4-5601-0C04-394B30D597D1}"/>
              </a:ext>
            </a:extLst>
          </p:cNvPr>
          <p:cNvSpPr/>
          <p:nvPr/>
        </p:nvSpPr>
        <p:spPr>
          <a:xfrm>
            <a:off x="6264275" y="1828800"/>
            <a:ext cx="1187450" cy="73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 dirty="0">
                <a:solidFill>
                  <a:schemeClr val="bg1"/>
                </a:solidFill>
                <a:latin typeface="Calibri"/>
              </a:rPr>
              <a:t>Reflect</a:t>
            </a:r>
            <a:endParaRPr lang="en-US" sz="1000" spc="-1" dirty="0">
              <a:solidFill>
                <a:schemeClr val="bg1"/>
              </a:solidFill>
              <a:latin typeface="Calibri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 dirty="0">
                <a:solidFill>
                  <a:schemeClr val="bg1"/>
                </a:solidFill>
                <a:latin typeface="Calibri"/>
              </a:rPr>
              <a:t>&amp; Update</a:t>
            </a:r>
            <a:endParaRPr lang="en-US" sz="10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44" name="Text 15">
            <a:extLst>
              <a:ext uri="{FF2B5EF4-FFF2-40B4-BE49-F238E27FC236}">
                <a16:creationId xmlns:a16="http://schemas.microsoft.com/office/drawing/2014/main" id="{36CF42A9-838B-EEBA-A08D-2B9FAED28CB0}"/>
              </a:ext>
            </a:extLst>
          </p:cNvPr>
          <p:cNvSpPr/>
          <p:nvPr/>
        </p:nvSpPr>
        <p:spPr>
          <a:xfrm>
            <a:off x="3246438" y="2909888"/>
            <a:ext cx="1096962" cy="4572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 dirty="0">
                <a:solidFill>
                  <a:schemeClr val="bg1"/>
                </a:solidFill>
                <a:latin typeface="Calibri"/>
              </a:rPr>
              <a:t>Done?</a:t>
            </a:r>
            <a:endParaRPr lang="en-US" sz="10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45" name="Shape 16">
            <a:extLst>
              <a:ext uri="{FF2B5EF4-FFF2-40B4-BE49-F238E27FC236}">
                <a16:creationId xmlns:a16="http://schemas.microsoft.com/office/drawing/2014/main" id="{EEF0817D-B33B-BAC1-05DF-9D8B8D97D514}"/>
              </a:ext>
            </a:extLst>
          </p:cNvPr>
          <p:cNvSpPr/>
          <p:nvPr/>
        </p:nvSpPr>
        <p:spPr>
          <a:xfrm>
            <a:off x="7818438" y="1920875"/>
            <a:ext cx="914400" cy="547688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6" name="Text 17">
            <a:extLst>
              <a:ext uri="{FF2B5EF4-FFF2-40B4-BE49-F238E27FC236}">
                <a16:creationId xmlns:a16="http://schemas.microsoft.com/office/drawing/2014/main" id="{C857BF7F-EA5D-E809-F307-BBEEE9581DF9}"/>
              </a:ext>
            </a:extLst>
          </p:cNvPr>
          <p:cNvSpPr/>
          <p:nvPr/>
        </p:nvSpPr>
        <p:spPr>
          <a:xfrm>
            <a:off x="7818438" y="1920875"/>
            <a:ext cx="914400" cy="547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 dirty="0">
                <a:solidFill>
                  <a:schemeClr val="bg1"/>
                </a:solidFill>
                <a:latin typeface="Calibri"/>
              </a:rPr>
              <a:t>END</a:t>
            </a:r>
            <a:endParaRPr lang="en-US" sz="10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47" name="Text 18">
            <a:extLst>
              <a:ext uri="{FF2B5EF4-FFF2-40B4-BE49-F238E27FC236}">
                <a16:creationId xmlns:a16="http://schemas.microsoft.com/office/drawing/2014/main" id="{2101896C-D7F0-081F-42B7-BBE8C0CEF1D6}"/>
              </a:ext>
            </a:extLst>
          </p:cNvPr>
          <p:cNvSpPr/>
          <p:nvPr/>
        </p:nvSpPr>
        <p:spPr>
          <a:xfrm>
            <a:off x="1298575" y="1965325"/>
            <a:ext cx="457200" cy="3667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spc="-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→</a:t>
            </a:r>
          </a:p>
        </p:txBody>
      </p:sp>
      <p:sp>
        <p:nvSpPr>
          <p:cNvPr id="248" name="Text 19">
            <a:extLst>
              <a:ext uri="{FF2B5EF4-FFF2-40B4-BE49-F238E27FC236}">
                <a16:creationId xmlns:a16="http://schemas.microsoft.com/office/drawing/2014/main" id="{2D165A42-F2B0-2865-C88A-703779C8FD2F}"/>
              </a:ext>
            </a:extLst>
          </p:cNvPr>
          <p:cNvSpPr/>
          <p:nvPr/>
        </p:nvSpPr>
        <p:spPr>
          <a:xfrm>
            <a:off x="2825750" y="1965325"/>
            <a:ext cx="457200" cy="3667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spc="-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→</a:t>
            </a:r>
          </a:p>
        </p:txBody>
      </p:sp>
      <p:sp>
        <p:nvSpPr>
          <p:cNvPr id="249" name="Text 20">
            <a:extLst>
              <a:ext uri="{FF2B5EF4-FFF2-40B4-BE49-F238E27FC236}">
                <a16:creationId xmlns:a16="http://schemas.microsoft.com/office/drawing/2014/main" id="{94C0FA2A-CD24-0FA9-41CC-963DDBBE8C02}"/>
              </a:ext>
            </a:extLst>
          </p:cNvPr>
          <p:cNvSpPr/>
          <p:nvPr/>
        </p:nvSpPr>
        <p:spPr>
          <a:xfrm>
            <a:off x="4333875" y="1965325"/>
            <a:ext cx="457200" cy="3667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spc="-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→</a:t>
            </a:r>
          </a:p>
        </p:txBody>
      </p:sp>
      <p:sp>
        <p:nvSpPr>
          <p:cNvPr id="252" name="Shape 24">
            <a:extLst>
              <a:ext uri="{FF2B5EF4-FFF2-40B4-BE49-F238E27FC236}">
                <a16:creationId xmlns:a16="http://schemas.microsoft.com/office/drawing/2014/main" id="{252F83D8-1C90-7B78-2FDD-32423991F4C3}"/>
              </a:ext>
            </a:extLst>
          </p:cNvPr>
          <p:cNvSpPr/>
          <p:nvPr/>
        </p:nvSpPr>
        <p:spPr>
          <a:xfrm>
            <a:off x="411163" y="3657600"/>
            <a:ext cx="2697162" cy="11430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3" name="Shape 25">
            <a:extLst>
              <a:ext uri="{FF2B5EF4-FFF2-40B4-BE49-F238E27FC236}">
                <a16:creationId xmlns:a16="http://schemas.microsoft.com/office/drawing/2014/main" id="{347D07D5-943F-9E41-06BE-93237F520616}"/>
              </a:ext>
            </a:extLst>
          </p:cNvPr>
          <p:cNvSpPr/>
          <p:nvPr/>
        </p:nvSpPr>
        <p:spPr>
          <a:xfrm>
            <a:off x="411163" y="3657600"/>
            <a:ext cx="46037" cy="1143000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4" name="Text 26">
            <a:extLst>
              <a:ext uri="{FF2B5EF4-FFF2-40B4-BE49-F238E27FC236}">
                <a16:creationId xmlns:a16="http://schemas.microsoft.com/office/drawing/2014/main" id="{951DAD55-9765-D529-32A8-6D69BAE85F3F}"/>
              </a:ext>
            </a:extLst>
          </p:cNvPr>
          <p:cNvSpPr/>
          <p:nvPr/>
        </p:nvSpPr>
        <p:spPr>
          <a:xfrm>
            <a:off x="566738" y="3713163"/>
            <a:ext cx="2487612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1E3A8A"/>
                </a:solidFill>
                <a:latin typeface="Calibri"/>
              </a:rPr>
              <a:t>Cycle (</a:t>
            </a:r>
            <a:r>
              <a:rPr lang="en-US" sz="1100" b="1" spc="-1" dirty="0" err="1">
                <a:solidFill>
                  <a:srgbClr val="1E3A8A"/>
                </a:solidFill>
                <a:latin typeface="Calibri"/>
              </a:rPr>
              <a:t>ReAct</a:t>
            </a:r>
            <a:r>
              <a:rPr lang="en-US" sz="1100" b="1" spc="-1" dirty="0">
                <a:solidFill>
                  <a:srgbClr val="1E3A8A"/>
                </a:solidFill>
                <a:latin typeface="Calibri"/>
              </a:rPr>
              <a:t> Loop)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5" name="Text 27">
            <a:extLst>
              <a:ext uri="{FF2B5EF4-FFF2-40B4-BE49-F238E27FC236}">
                <a16:creationId xmlns:a16="http://schemas.microsoft.com/office/drawing/2014/main" id="{70008185-8E2D-FE66-19B7-42FA703E3C47}"/>
              </a:ext>
            </a:extLst>
          </p:cNvPr>
          <p:cNvSpPr/>
          <p:nvPr/>
        </p:nvSpPr>
        <p:spPr>
          <a:xfrm>
            <a:off x="566738" y="3978275"/>
            <a:ext cx="2487612" cy="7762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 dirty="0">
                <a:solidFill>
                  <a:srgbClr val="1E3A8A"/>
                </a:solidFill>
                <a:latin typeface="Calibri"/>
              </a:rPr>
              <a:t>Agent loops back to itself after observing tool output - keeps trying until task is complete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6" name="Shape 28">
            <a:extLst>
              <a:ext uri="{FF2B5EF4-FFF2-40B4-BE49-F238E27FC236}">
                <a16:creationId xmlns:a16="http://schemas.microsoft.com/office/drawing/2014/main" id="{5BEC4381-4138-6572-66ED-40FF3CA98456}"/>
              </a:ext>
            </a:extLst>
          </p:cNvPr>
          <p:cNvSpPr/>
          <p:nvPr/>
        </p:nvSpPr>
        <p:spPr>
          <a:xfrm>
            <a:off x="3292475" y="3657600"/>
            <a:ext cx="2697163" cy="11430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7" name="Shape 29">
            <a:extLst>
              <a:ext uri="{FF2B5EF4-FFF2-40B4-BE49-F238E27FC236}">
                <a16:creationId xmlns:a16="http://schemas.microsoft.com/office/drawing/2014/main" id="{94432911-E653-3248-FB3D-46E3376EA409}"/>
              </a:ext>
            </a:extLst>
          </p:cNvPr>
          <p:cNvSpPr/>
          <p:nvPr/>
        </p:nvSpPr>
        <p:spPr>
          <a:xfrm>
            <a:off x="3292475" y="3657600"/>
            <a:ext cx="44450" cy="1143000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8" name="Text 30">
            <a:extLst>
              <a:ext uri="{FF2B5EF4-FFF2-40B4-BE49-F238E27FC236}">
                <a16:creationId xmlns:a16="http://schemas.microsoft.com/office/drawing/2014/main" id="{1925605F-2300-EE51-D3DB-26C51B9EA090}"/>
              </a:ext>
            </a:extLst>
          </p:cNvPr>
          <p:cNvSpPr/>
          <p:nvPr/>
        </p:nvSpPr>
        <p:spPr>
          <a:xfrm>
            <a:off x="3448050" y="3713163"/>
            <a:ext cx="2486025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1E3A8A"/>
                </a:solidFill>
                <a:latin typeface="Calibri"/>
              </a:rPr>
              <a:t>Branch (Classification)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9" name="Text 31">
            <a:extLst>
              <a:ext uri="{FF2B5EF4-FFF2-40B4-BE49-F238E27FC236}">
                <a16:creationId xmlns:a16="http://schemas.microsoft.com/office/drawing/2014/main" id="{49F6F96B-6215-4DF9-121C-F2F29B326D88}"/>
              </a:ext>
            </a:extLst>
          </p:cNvPr>
          <p:cNvSpPr/>
          <p:nvPr/>
        </p:nvSpPr>
        <p:spPr>
          <a:xfrm>
            <a:off x="3448050" y="3978275"/>
            <a:ext cx="2486025" cy="7762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Conditional edge routes to different nodes based on classified intent or decision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0" name="Shape 32">
            <a:extLst>
              <a:ext uri="{FF2B5EF4-FFF2-40B4-BE49-F238E27FC236}">
                <a16:creationId xmlns:a16="http://schemas.microsoft.com/office/drawing/2014/main" id="{92130FB2-E0D7-8A37-CD07-56F1E94D3D04}"/>
              </a:ext>
            </a:extLst>
          </p:cNvPr>
          <p:cNvSpPr/>
          <p:nvPr/>
        </p:nvSpPr>
        <p:spPr>
          <a:xfrm>
            <a:off x="6172200" y="3657600"/>
            <a:ext cx="2697163" cy="11430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1" name="Shape 33">
            <a:extLst>
              <a:ext uri="{FF2B5EF4-FFF2-40B4-BE49-F238E27FC236}">
                <a16:creationId xmlns:a16="http://schemas.microsoft.com/office/drawing/2014/main" id="{02250AD6-7C02-35BC-B571-D2DB1172A25B}"/>
              </a:ext>
            </a:extLst>
          </p:cNvPr>
          <p:cNvSpPr/>
          <p:nvPr/>
        </p:nvSpPr>
        <p:spPr>
          <a:xfrm>
            <a:off x="6172200" y="3657600"/>
            <a:ext cx="46038" cy="1143000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2" name="Text 34">
            <a:extLst>
              <a:ext uri="{FF2B5EF4-FFF2-40B4-BE49-F238E27FC236}">
                <a16:creationId xmlns:a16="http://schemas.microsoft.com/office/drawing/2014/main" id="{9B7D54F9-F508-8AD2-7AB7-36A3CEBCB80E}"/>
              </a:ext>
            </a:extLst>
          </p:cNvPr>
          <p:cNvSpPr/>
          <p:nvPr/>
        </p:nvSpPr>
        <p:spPr>
          <a:xfrm>
            <a:off x="6327775" y="3713163"/>
            <a:ext cx="2487613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1E3A8A"/>
                </a:solidFill>
                <a:latin typeface="Calibri"/>
              </a:rPr>
              <a:t>Sub-graph (Hierarchy)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" name="Text 35">
            <a:extLst>
              <a:ext uri="{FF2B5EF4-FFF2-40B4-BE49-F238E27FC236}">
                <a16:creationId xmlns:a16="http://schemas.microsoft.com/office/drawing/2014/main" id="{D01AD372-7CAA-8D69-48B3-BC06A5875DCC}"/>
              </a:ext>
            </a:extLst>
          </p:cNvPr>
          <p:cNvSpPr/>
          <p:nvPr/>
        </p:nvSpPr>
        <p:spPr>
          <a:xfrm>
            <a:off x="6327775" y="3978275"/>
            <a:ext cx="2487613" cy="7762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 dirty="0">
                <a:solidFill>
                  <a:srgbClr val="1E3A8A"/>
                </a:solidFill>
                <a:latin typeface="Calibri"/>
              </a:rPr>
              <a:t>A node can be an entire sub-graph - enabling nested, hierarchical agent architectures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4" name="Text 20">
            <a:extLst>
              <a:ext uri="{FF2B5EF4-FFF2-40B4-BE49-F238E27FC236}">
                <a16:creationId xmlns:a16="http://schemas.microsoft.com/office/drawing/2014/main" id="{0754D9F8-7CD9-3763-E7F5-43E34C581A9F}"/>
              </a:ext>
            </a:extLst>
          </p:cNvPr>
          <p:cNvSpPr/>
          <p:nvPr/>
        </p:nvSpPr>
        <p:spPr>
          <a:xfrm>
            <a:off x="5842000" y="1998663"/>
            <a:ext cx="457200" cy="3667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spc="-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→</a:t>
            </a:r>
          </a:p>
        </p:txBody>
      </p:sp>
      <p:cxnSp>
        <p:nvCxnSpPr>
          <p:cNvPr id="22566" name="Connector: Elbow 20">
            <a:extLst>
              <a:ext uri="{FF2B5EF4-FFF2-40B4-BE49-F238E27FC236}">
                <a16:creationId xmlns:a16="http://schemas.microsoft.com/office/drawing/2014/main" id="{D40E5640-0936-A143-E9AA-4C49F7C6CA85}"/>
              </a:ext>
            </a:extLst>
          </p:cNvPr>
          <p:cNvCxnSpPr>
            <a:cxnSpLocks noChangeShapeType="1"/>
            <a:endCxn id="236" idx="0"/>
          </p:cNvCxnSpPr>
          <p:nvPr/>
        </p:nvCxnSpPr>
        <p:spPr bwMode="auto">
          <a:xfrm rot="10800000">
            <a:off x="2286000" y="1828800"/>
            <a:ext cx="4572000" cy="12700"/>
          </a:xfrm>
          <a:prstGeom prst="bentConnector4">
            <a:avLst>
              <a:gd name="adj1" fmla="val -74"/>
              <a:gd name="adj2" fmla="val 1900000"/>
            </a:avLst>
          </a:prstGeom>
          <a:noFill/>
          <a:ln w="12600">
            <a:solidFill>
              <a:srgbClr val="2F5597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67" name="Connector: Elbow 23">
            <a:extLst>
              <a:ext uri="{FF2B5EF4-FFF2-40B4-BE49-F238E27FC236}">
                <a16:creationId xmlns:a16="http://schemas.microsoft.com/office/drawing/2014/main" id="{09386867-848D-EB9F-740C-FEA92DDAE081}"/>
              </a:ext>
            </a:extLst>
          </p:cNvPr>
          <p:cNvCxnSpPr>
            <a:cxnSpLocks noChangeShapeType="1"/>
            <a:stCxn id="236" idx="2"/>
          </p:cNvCxnSpPr>
          <p:nvPr/>
        </p:nvCxnSpPr>
        <p:spPr bwMode="auto">
          <a:xfrm rot="16200000" flipH="1">
            <a:off x="2469356" y="2377282"/>
            <a:ext cx="593725" cy="960438"/>
          </a:xfrm>
          <a:prstGeom prst="bentConnector2">
            <a:avLst/>
          </a:prstGeom>
          <a:noFill/>
          <a:ln w="12600">
            <a:solidFill>
              <a:schemeClr val="accent2">
                <a:lumMod val="7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22568" name="Connector: Elbow 25">
            <a:extLst>
              <a:ext uri="{FF2B5EF4-FFF2-40B4-BE49-F238E27FC236}">
                <a16:creationId xmlns:a16="http://schemas.microsoft.com/office/drawing/2014/main" id="{0789A7EB-4BDA-B11E-31EF-BF360BC0C907}"/>
              </a:ext>
            </a:extLst>
          </p:cNvPr>
          <p:cNvCxnSpPr>
            <a:cxnSpLocks noChangeShapeType="1"/>
            <a:endCxn id="246" idx="2"/>
          </p:cNvCxnSpPr>
          <p:nvPr/>
        </p:nvCxnSpPr>
        <p:spPr bwMode="auto">
          <a:xfrm flipV="1">
            <a:off x="4343400" y="2468563"/>
            <a:ext cx="3932238" cy="685800"/>
          </a:xfrm>
          <a:prstGeom prst="bentConnector2">
            <a:avLst/>
          </a:prstGeom>
          <a:noFill/>
          <a:ln w="12600">
            <a:solidFill>
              <a:schemeClr val="accent2">
                <a:lumMod val="75000"/>
              </a:schemeClr>
            </a:solidFill>
            <a:miter lim="800000"/>
            <a:headEnd/>
            <a:tailEnd type="triangle" w="med" len="med"/>
          </a:ln>
        </p:spPr>
      </p:cxnSp>
      <p:sp>
        <p:nvSpPr>
          <p:cNvPr id="268" name="TextBox 27">
            <a:extLst>
              <a:ext uri="{FF2B5EF4-FFF2-40B4-BE49-F238E27FC236}">
                <a16:creationId xmlns:a16="http://schemas.microsoft.com/office/drawing/2014/main" id="{1579AAB0-E052-C4BE-5B49-027257B8368C}"/>
              </a:ext>
            </a:extLst>
          </p:cNvPr>
          <p:cNvSpPr/>
          <p:nvPr/>
        </p:nvSpPr>
        <p:spPr>
          <a:xfrm>
            <a:off x="2281238" y="1298575"/>
            <a:ext cx="762000" cy="2460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IN" sz="1000" spc="-1" dirty="0" err="1">
                <a:solidFill>
                  <a:srgbClr val="000000"/>
                </a:solidFill>
                <a:latin typeface="Calibri"/>
              </a:rPr>
              <a:t>ReAct</a:t>
            </a:r>
            <a:r>
              <a:rPr lang="en-IN" sz="1000" spc="-1" dirty="0">
                <a:solidFill>
                  <a:srgbClr val="000000"/>
                </a:solidFill>
                <a:latin typeface="Calibri"/>
              </a:rPr>
              <a:t> Loop</a:t>
            </a:r>
            <a:endParaRPr lang="en-US" sz="10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9" name="TextBox 29">
            <a:extLst>
              <a:ext uri="{FF2B5EF4-FFF2-40B4-BE49-F238E27FC236}">
                <a16:creationId xmlns:a16="http://schemas.microsoft.com/office/drawing/2014/main" id="{13C53604-548A-0309-FA9F-E59454E99B6F}"/>
              </a:ext>
            </a:extLst>
          </p:cNvPr>
          <p:cNvSpPr/>
          <p:nvPr/>
        </p:nvSpPr>
        <p:spPr>
          <a:xfrm>
            <a:off x="4464050" y="2947988"/>
            <a:ext cx="354013" cy="2460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IN" sz="1000" spc="-1" dirty="0">
                <a:solidFill>
                  <a:srgbClr val="000000"/>
                </a:solidFill>
                <a:latin typeface="Calibri"/>
              </a:rPr>
              <a:t>Yes</a:t>
            </a:r>
            <a:endParaRPr lang="en-US" sz="10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0" name="TextBox 30">
            <a:extLst>
              <a:ext uri="{FF2B5EF4-FFF2-40B4-BE49-F238E27FC236}">
                <a16:creationId xmlns:a16="http://schemas.microsoft.com/office/drawing/2014/main" id="{60BB888C-15A0-EE0B-3BBF-315173CA7604}"/>
              </a:ext>
            </a:extLst>
          </p:cNvPr>
          <p:cNvSpPr/>
          <p:nvPr/>
        </p:nvSpPr>
        <p:spPr>
          <a:xfrm>
            <a:off x="3833813" y="2663825"/>
            <a:ext cx="328612" cy="2460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IN" sz="1000" spc="-1" dirty="0">
                <a:solidFill>
                  <a:srgbClr val="000000"/>
                </a:solidFill>
                <a:latin typeface="Calibri"/>
              </a:rPr>
              <a:t>No</a:t>
            </a:r>
            <a:endParaRPr lang="en-US" sz="10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Rectangle 33">
            <a:extLst>
              <a:ext uri="{FF2B5EF4-FFF2-40B4-BE49-F238E27FC236}">
                <a16:creationId xmlns:a16="http://schemas.microsoft.com/office/drawing/2014/main" id="{016D3831-689C-2DB5-D03B-BF94E1EFD362}"/>
              </a:ext>
            </a:extLst>
          </p:cNvPr>
          <p:cNvSpPr/>
          <p:nvPr/>
        </p:nvSpPr>
        <p:spPr>
          <a:xfrm>
            <a:off x="1690688" y="1708150"/>
            <a:ext cx="2705100" cy="955675"/>
          </a:xfrm>
          <a:prstGeom prst="rect">
            <a:avLst/>
          </a:prstGeom>
          <a:noFill/>
          <a:ln w="12600">
            <a:solidFill>
              <a:srgbClr val="172C5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22573" name="Straight Arrow Connector 37">
            <a:extLst>
              <a:ext uri="{FF2B5EF4-FFF2-40B4-BE49-F238E27FC236}">
                <a16:creationId xmlns:a16="http://schemas.microsoft.com/office/drawing/2014/main" id="{37FF02B2-29E8-9C39-5680-9B34C3FC8365}"/>
              </a:ext>
            </a:extLst>
          </p:cNvPr>
          <p:cNvCxnSpPr>
            <a:cxnSpLocks noChangeShapeType="1"/>
            <a:stCxn id="237" idx="2"/>
          </p:cNvCxnSpPr>
          <p:nvPr/>
        </p:nvCxnSpPr>
        <p:spPr bwMode="auto">
          <a:xfrm>
            <a:off x="3795713" y="2560638"/>
            <a:ext cx="0" cy="365125"/>
          </a:xfrm>
          <a:prstGeom prst="straightConnector1">
            <a:avLst/>
          </a:prstGeom>
          <a:noFill/>
          <a:ln w="12600">
            <a:solidFill>
              <a:schemeClr val="accent2">
                <a:lumMod val="75000"/>
              </a:schemeClr>
            </a:solidFill>
            <a:miter lim="800000"/>
            <a:headEnd type="triangle" w="med" len="med"/>
            <a:tailEnd type="triangle" w="med" len="med"/>
          </a:ln>
        </p:spPr>
      </p:cxnSp>
      <p:sp>
        <p:nvSpPr>
          <p:cNvPr id="273" name="TextBox 38">
            <a:extLst>
              <a:ext uri="{FF2B5EF4-FFF2-40B4-BE49-F238E27FC236}">
                <a16:creationId xmlns:a16="http://schemas.microsoft.com/office/drawing/2014/main" id="{53E1C3A5-817F-51DB-6DAA-00BF69C945DC}"/>
              </a:ext>
            </a:extLst>
          </p:cNvPr>
          <p:cNvSpPr/>
          <p:nvPr/>
        </p:nvSpPr>
        <p:spPr>
          <a:xfrm>
            <a:off x="4333875" y="1884363"/>
            <a:ext cx="379413" cy="2460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IN" sz="1000" spc="-1" dirty="0">
                <a:solidFill>
                  <a:srgbClr val="000000"/>
                </a:solidFill>
                <a:latin typeface="Calibri"/>
              </a:rPr>
              <a:t>Yes</a:t>
            </a:r>
            <a:endParaRPr lang="en-US" sz="100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2569" name="Picture 39">
            <a:extLst>
              <a:ext uri="{FF2B5EF4-FFF2-40B4-BE49-F238E27FC236}">
                <a16:creationId xmlns:a16="http://schemas.microsoft.com/office/drawing/2014/main" id="{1F4D31D4-2D7C-BCFD-9CCF-4A6823E48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350" y="147638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" grpId="0" animBg="1"/>
      <p:bldP spid="236" grpId="0" animBg="1"/>
      <p:bldP spid="237" grpId="0" animBg="1"/>
      <p:bldP spid="240" grpId="0" animBg="1"/>
      <p:bldP spid="242" grpId="0" animBg="1"/>
      <p:bldP spid="244" grpId="0" animBg="1"/>
      <p:bldP spid="245" grpId="0" animBg="1"/>
      <p:bldP spid="246" grpId="0"/>
      <p:bldP spid="247" grpId="0"/>
      <p:bldP spid="248" grpId="0"/>
      <p:bldP spid="249" grpId="0"/>
      <p:bldP spid="252" grpId="0" animBg="1"/>
      <p:bldP spid="253" grpId="0" animBg="1"/>
      <p:bldP spid="254" grpId="0"/>
      <p:bldP spid="255" grpId="0"/>
      <p:bldP spid="256" grpId="0" animBg="1"/>
      <p:bldP spid="257" grpId="0" animBg="1"/>
      <p:bldP spid="258" grpId="0"/>
      <p:bldP spid="259" grpId="0"/>
      <p:bldP spid="260" grpId="0" animBg="1"/>
      <p:bldP spid="261" grpId="0" animBg="1"/>
      <p:bldP spid="262" grpId="0"/>
      <p:bldP spid="263" grpId="0"/>
      <p:bldP spid="264" grpId="0"/>
      <p:bldP spid="268" grpId="0"/>
      <p:bldP spid="269" grpId="0"/>
      <p:bldP spid="270" grpId="0"/>
      <p:bldP spid="271" grpId="0" animBg="1"/>
      <p:bldP spid="27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0">
            <a:extLst>
              <a:ext uri="{FF2B5EF4-FFF2-40B4-BE49-F238E27FC236}">
                <a16:creationId xmlns:a16="http://schemas.microsoft.com/office/drawing/2014/main" id="{47C68B3A-0EEC-BFD7-9CC8-D3BCFF4F5919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6" name="Text 1">
            <a:extLst>
              <a:ext uri="{FF2B5EF4-FFF2-40B4-BE49-F238E27FC236}">
                <a16:creationId xmlns:a16="http://schemas.microsoft.com/office/drawing/2014/main" id="{6D37AAEA-56B7-7130-9A92-6226473433F1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b="1" spc="-1" dirty="0">
                <a:solidFill>
                  <a:schemeClr val="bg1"/>
                </a:solidFill>
                <a:latin typeface="Calibri"/>
              </a:rPr>
              <a:t>LANGGRAPH</a:t>
            </a:r>
            <a:endParaRPr lang="en-US" sz="9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77" name="Text 2">
            <a:extLst>
              <a:ext uri="{FF2B5EF4-FFF2-40B4-BE49-F238E27FC236}">
                <a16:creationId xmlns:a16="http://schemas.microsoft.com/office/drawing/2014/main" id="{54A5D80D-B804-037B-8E27-F47A5E09BCE5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000" b="1" spc="-1">
                <a:solidFill>
                  <a:srgbClr val="1E3A8A"/>
                </a:solidFill>
                <a:latin typeface="Calibri"/>
              </a:rPr>
              <a:t>LangGraph Use Case — Customer Support Agent</a:t>
            </a:r>
            <a:endParaRPr lang="en-US" sz="2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8" name="Text 3">
            <a:extLst>
              <a:ext uri="{FF2B5EF4-FFF2-40B4-BE49-F238E27FC236}">
                <a16:creationId xmlns:a16="http://schemas.microsoft.com/office/drawing/2014/main" id="{DE4AE24F-1933-D352-E0CA-639F4D00D933}"/>
              </a:ext>
            </a:extLst>
          </p:cNvPr>
          <p:cNvSpPr/>
          <p:nvPr/>
        </p:nvSpPr>
        <p:spPr>
          <a:xfrm>
            <a:off x="457200" y="960438"/>
            <a:ext cx="8229600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i="1" spc="-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Scenario: "Resolve customer queries - classify intent, retrieve policy, draft response, escalate if needed"</a:t>
            </a:r>
            <a:endParaRPr lang="en-US" sz="1300" spc="-1" dirty="0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279" name="Shape 4">
            <a:extLst>
              <a:ext uri="{FF2B5EF4-FFF2-40B4-BE49-F238E27FC236}">
                <a16:creationId xmlns:a16="http://schemas.microsoft.com/office/drawing/2014/main" id="{2C3E95E8-1CB6-5825-5C03-9931FF6CFC62}"/>
              </a:ext>
            </a:extLst>
          </p:cNvPr>
          <p:cNvSpPr/>
          <p:nvPr/>
        </p:nvSpPr>
        <p:spPr>
          <a:xfrm>
            <a:off x="457200" y="1481138"/>
            <a:ext cx="330200" cy="330200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0" name="Text 5">
            <a:extLst>
              <a:ext uri="{FF2B5EF4-FFF2-40B4-BE49-F238E27FC236}">
                <a16:creationId xmlns:a16="http://schemas.microsoft.com/office/drawing/2014/main" id="{645AB04D-5810-5152-5EA1-083F6385DA1A}"/>
              </a:ext>
            </a:extLst>
          </p:cNvPr>
          <p:cNvSpPr/>
          <p:nvPr/>
        </p:nvSpPr>
        <p:spPr>
          <a:xfrm>
            <a:off x="457200" y="1481138"/>
            <a:ext cx="330200" cy="3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 dirty="0">
                <a:solidFill>
                  <a:schemeClr val="bg1"/>
                </a:solidFill>
                <a:latin typeface="Calibri"/>
              </a:rPr>
              <a:t>1</a:t>
            </a:r>
            <a:endParaRPr lang="en-US" sz="14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81" name="Text 6">
            <a:extLst>
              <a:ext uri="{FF2B5EF4-FFF2-40B4-BE49-F238E27FC236}">
                <a16:creationId xmlns:a16="http://schemas.microsoft.com/office/drawing/2014/main" id="{B8800436-1E3A-10B1-F93B-608F711A0EAF}"/>
              </a:ext>
            </a:extLst>
          </p:cNvPr>
          <p:cNvSpPr/>
          <p:nvPr/>
        </p:nvSpPr>
        <p:spPr>
          <a:xfrm>
            <a:off x="877888" y="1481138"/>
            <a:ext cx="3603625" cy="2016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1E3A8A"/>
                </a:solidFill>
                <a:latin typeface="Calibri"/>
                <a:ea typeface="Calibri"/>
              </a:rPr>
              <a:t>Classify Intent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Text 7">
            <a:extLst>
              <a:ext uri="{FF2B5EF4-FFF2-40B4-BE49-F238E27FC236}">
                <a16:creationId xmlns:a16="http://schemas.microsoft.com/office/drawing/2014/main" id="{D06F15A8-ED2A-D0D3-C2F2-7D1125BEB877}"/>
              </a:ext>
            </a:extLst>
          </p:cNvPr>
          <p:cNvSpPr/>
          <p:nvPr/>
        </p:nvSpPr>
        <p:spPr>
          <a:xfrm>
            <a:off x="877888" y="1708150"/>
            <a:ext cx="3603625" cy="293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9pPr>
          </a:lstStyle>
          <a:p>
            <a:pPr algn="just" eaLnBrk="1" hangingPunct="1">
              <a:defRPr/>
            </a:pPr>
            <a:r>
              <a:rPr lang="en-US" altLang="en-US" sz="1100" dirty="0">
                <a:solidFill>
                  <a:srgbClr val="1E3A8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LLM reads query → sets intent field in state: 'refund', 'technical', 'billing', etc.</a:t>
            </a:r>
            <a:endParaRPr lang="en-US" altLang="en-US" sz="11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83" name="Text 8">
            <a:extLst>
              <a:ext uri="{FF2B5EF4-FFF2-40B4-BE49-F238E27FC236}">
                <a16:creationId xmlns:a16="http://schemas.microsoft.com/office/drawing/2014/main" id="{4C7A8D1A-5F92-2DE7-15E4-04BB84857A42}"/>
              </a:ext>
            </a:extLst>
          </p:cNvPr>
          <p:cNvSpPr/>
          <p:nvPr/>
        </p:nvSpPr>
        <p:spPr>
          <a:xfrm>
            <a:off x="4365625" y="1481138"/>
            <a:ext cx="411163" cy="365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pc="-1" dirty="0">
                <a:solidFill>
                  <a:srgbClr val="0EA5E9"/>
                </a:solidFill>
                <a:latin typeface="Calibri"/>
              </a:rPr>
              <a:t>→</a:t>
            </a:r>
            <a:endParaRPr lang="en-US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Shape 9">
            <a:extLst>
              <a:ext uri="{FF2B5EF4-FFF2-40B4-BE49-F238E27FC236}">
                <a16:creationId xmlns:a16="http://schemas.microsoft.com/office/drawing/2014/main" id="{3EDC997C-67AF-4D34-F3F8-0DFF210F3CFD}"/>
              </a:ext>
            </a:extLst>
          </p:cNvPr>
          <p:cNvSpPr/>
          <p:nvPr/>
        </p:nvSpPr>
        <p:spPr>
          <a:xfrm>
            <a:off x="4754563" y="1481138"/>
            <a:ext cx="330200" cy="330200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Text 10">
            <a:extLst>
              <a:ext uri="{FF2B5EF4-FFF2-40B4-BE49-F238E27FC236}">
                <a16:creationId xmlns:a16="http://schemas.microsoft.com/office/drawing/2014/main" id="{DB07B756-CA7D-5FC5-3E4E-E4730A820B68}"/>
              </a:ext>
            </a:extLst>
          </p:cNvPr>
          <p:cNvSpPr/>
          <p:nvPr/>
        </p:nvSpPr>
        <p:spPr>
          <a:xfrm>
            <a:off x="4770438" y="1481138"/>
            <a:ext cx="330200" cy="3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>
                <a:solidFill>
                  <a:schemeClr val="bg1"/>
                </a:solidFill>
                <a:latin typeface="Calibri"/>
              </a:rPr>
              <a:t>2</a:t>
            </a:r>
            <a:endParaRPr lang="en-US" sz="14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86" name="Text 11">
            <a:extLst>
              <a:ext uri="{FF2B5EF4-FFF2-40B4-BE49-F238E27FC236}">
                <a16:creationId xmlns:a16="http://schemas.microsoft.com/office/drawing/2014/main" id="{FBEB5339-BB5B-7F5F-28D1-4241D5DF8CDD}"/>
              </a:ext>
            </a:extLst>
          </p:cNvPr>
          <p:cNvSpPr/>
          <p:nvPr/>
        </p:nvSpPr>
        <p:spPr>
          <a:xfrm>
            <a:off x="5175250" y="1481138"/>
            <a:ext cx="3603625" cy="2016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1E3A8A"/>
                </a:solidFill>
                <a:latin typeface="Calibri"/>
                <a:ea typeface="Calibri"/>
              </a:rPr>
              <a:t>Retrieve Policy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7" name="Text 12">
            <a:extLst>
              <a:ext uri="{FF2B5EF4-FFF2-40B4-BE49-F238E27FC236}">
                <a16:creationId xmlns:a16="http://schemas.microsoft.com/office/drawing/2014/main" id="{F2B34F6E-0373-A305-E2AF-AB70DC20A7E8}"/>
              </a:ext>
            </a:extLst>
          </p:cNvPr>
          <p:cNvSpPr/>
          <p:nvPr/>
        </p:nvSpPr>
        <p:spPr>
          <a:xfrm>
            <a:off x="5175250" y="1682750"/>
            <a:ext cx="3603625" cy="292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 dirty="0">
                <a:solidFill>
                  <a:srgbClr val="1E3A8A"/>
                </a:solidFill>
                <a:latin typeface="Calibri"/>
                <a:ea typeface="Calibri"/>
              </a:rPr>
              <a:t>RAG retriever fetches top-3 policy docs from vector DB based on classified intent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8" name="Shape 13">
            <a:extLst>
              <a:ext uri="{FF2B5EF4-FFF2-40B4-BE49-F238E27FC236}">
                <a16:creationId xmlns:a16="http://schemas.microsoft.com/office/drawing/2014/main" id="{8D0BC5B8-3A59-730F-FAC8-E215B46E92D9}"/>
              </a:ext>
            </a:extLst>
          </p:cNvPr>
          <p:cNvSpPr/>
          <p:nvPr/>
        </p:nvSpPr>
        <p:spPr>
          <a:xfrm>
            <a:off x="457200" y="2716213"/>
            <a:ext cx="330200" cy="328612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9" name="Text 14">
            <a:extLst>
              <a:ext uri="{FF2B5EF4-FFF2-40B4-BE49-F238E27FC236}">
                <a16:creationId xmlns:a16="http://schemas.microsoft.com/office/drawing/2014/main" id="{D1E05659-1F90-0CFA-7F00-0C43ED54B8A2}"/>
              </a:ext>
            </a:extLst>
          </p:cNvPr>
          <p:cNvSpPr/>
          <p:nvPr/>
        </p:nvSpPr>
        <p:spPr>
          <a:xfrm>
            <a:off x="457200" y="2716213"/>
            <a:ext cx="330200" cy="3286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>
                <a:solidFill>
                  <a:schemeClr val="bg1"/>
                </a:solidFill>
                <a:latin typeface="Calibri"/>
              </a:rPr>
              <a:t>3</a:t>
            </a:r>
            <a:endParaRPr lang="en-US" sz="14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90" name="Text 15">
            <a:extLst>
              <a:ext uri="{FF2B5EF4-FFF2-40B4-BE49-F238E27FC236}">
                <a16:creationId xmlns:a16="http://schemas.microsoft.com/office/drawing/2014/main" id="{95B4A878-CD4E-ACB8-9B8A-57C4BEDF7B9F}"/>
              </a:ext>
            </a:extLst>
          </p:cNvPr>
          <p:cNvSpPr/>
          <p:nvPr/>
        </p:nvSpPr>
        <p:spPr>
          <a:xfrm>
            <a:off x="877888" y="2716213"/>
            <a:ext cx="3603625" cy="2016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  <a:ea typeface="Calibri"/>
              </a:rPr>
              <a:t>Draft Response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1" name="Text 16">
            <a:extLst>
              <a:ext uri="{FF2B5EF4-FFF2-40B4-BE49-F238E27FC236}">
                <a16:creationId xmlns:a16="http://schemas.microsoft.com/office/drawing/2014/main" id="{5517B1A6-9ECC-40A7-2CED-06CB39E70944}"/>
              </a:ext>
            </a:extLst>
          </p:cNvPr>
          <p:cNvSpPr/>
          <p:nvPr/>
        </p:nvSpPr>
        <p:spPr>
          <a:xfrm>
            <a:off x="877888" y="2936875"/>
            <a:ext cx="3603625" cy="365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  <a:ea typeface="Calibri"/>
              </a:rPr>
              <a:t>LLM generates reply using retrieved context + full conversation history from state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2" name="Text 17">
            <a:extLst>
              <a:ext uri="{FF2B5EF4-FFF2-40B4-BE49-F238E27FC236}">
                <a16:creationId xmlns:a16="http://schemas.microsoft.com/office/drawing/2014/main" id="{CA3CD0AC-66E6-56DE-53C2-ACDE5915FC8A}"/>
              </a:ext>
            </a:extLst>
          </p:cNvPr>
          <p:cNvSpPr/>
          <p:nvPr/>
        </p:nvSpPr>
        <p:spPr>
          <a:xfrm>
            <a:off x="4368800" y="2733675"/>
            <a:ext cx="411163" cy="3667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pc="-1" dirty="0">
                <a:solidFill>
                  <a:srgbClr val="0EA5E9"/>
                </a:solidFill>
                <a:latin typeface="Calibri"/>
              </a:rPr>
              <a:t>→</a:t>
            </a:r>
            <a:endParaRPr lang="en-US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3" name="Shape 18">
            <a:extLst>
              <a:ext uri="{FF2B5EF4-FFF2-40B4-BE49-F238E27FC236}">
                <a16:creationId xmlns:a16="http://schemas.microsoft.com/office/drawing/2014/main" id="{F1AE1A4E-8F3E-D84D-4490-7E92C132DBC5}"/>
              </a:ext>
            </a:extLst>
          </p:cNvPr>
          <p:cNvSpPr/>
          <p:nvPr/>
        </p:nvSpPr>
        <p:spPr>
          <a:xfrm>
            <a:off x="4754563" y="2716213"/>
            <a:ext cx="330200" cy="328612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4" name="Text 19">
            <a:extLst>
              <a:ext uri="{FF2B5EF4-FFF2-40B4-BE49-F238E27FC236}">
                <a16:creationId xmlns:a16="http://schemas.microsoft.com/office/drawing/2014/main" id="{72DF5762-4DCA-6EB5-40FF-3C32CDF079ED}"/>
              </a:ext>
            </a:extLst>
          </p:cNvPr>
          <p:cNvSpPr/>
          <p:nvPr/>
        </p:nvSpPr>
        <p:spPr>
          <a:xfrm>
            <a:off x="4754563" y="2716213"/>
            <a:ext cx="330200" cy="3286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>
                <a:solidFill>
                  <a:schemeClr val="bg1"/>
                </a:solidFill>
                <a:latin typeface="Calibri"/>
              </a:rPr>
              <a:t>4</a:t>
            </a:r>
            <a:endParaRPr lang="en-US" sz="14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95" name="Text 20">
            <a:extLst>
              <a:ext uri="{FF2B5EF4-FFF2-40B4-BE49-F238E27FC236}">
                <a16:creationId xmlns:a16="http://schemas.microsoft.com/office/drawing/2014/main" id="{9A38C05D-F6B2-ACA8-AC87-825098B5F9CD}"/>
              </a:ext>
            </a:extLst>
          </p:cNvPr>
          <p:cNvSpPr/>
          <p:nvPr/>
        </p:nvSpPr>
        <p:spPr>
          <a:xfrm>
            <a:off x="5175250" y="2716213"/>
            <a:ext cx="3603625" cy="2016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  <a:ea typeface="Calibri"/>
              </a:rPr>
              <a:t>Confidence Check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6" name="Text 21">
            <a:extLst>
              <a:ext uri="{FF2B5EF4-FFF2-40B4-BE49-F238E27FC236}">
                <a16:creationId xmlns:a16="http://schemas.microsoft.com/office/drawing/2014/main" id="{B3B23582-B17E-DE2F-9AF9-68BA2ACA9549}"/>
              </a:ext>
            </a:extLst>
          </p:cNvPr>
          <p:cNvSpPr/>
          <p:nvPr/>
        </p:nvSpPr>
        <p:spPr>
          <a:xfrm>
            <a:off x="5175250" y="2917825"/>
            <a:ext cx="3603625" cy="3286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9pPr>
          </a:lstStyle>
          <a:p>
            <a:pPr eaLnBrk="1" hangingPunct="1">
              <a:defRPr/>
            </a:pPr>
            <a:r>
              <a:rPr lang="en-US" altLang="en-US" sz="1100">
                <a:solidFill>
                  <a:srgbClr val="1E3A8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Conditional edge: if confidence &lt; 0.75 → loop back to retrieve more context and re-draft</a:t>
            </a:r>
            <a:endParaRPr lang="en-US" alt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97" name="Shape 22">
            <a:extLst>
              <a:ext uri="{FF2B5EF4-FFF2-40B4-BE49-F238E27FC236}">
                <a16:creationId xmlns:a16="http://schemas.microsoft.com/office/drawing/2014/main" id="{1C191DF2-EFFB-ED40-C5C4-A9C786811534}"/>
              </a:ext>
            </a:extLst>
          </p:cNvPr>
          <p:cNvSpPr/>
          <p:nvPr/>
        </p:nvSpPr>
        <p:spPr>
          <a:xfrm>
            <a:off x="457200" y="3949700"/>
            <a:ext cx="330200" cy="330200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8" name="Text 23">
            <a:extLst>
              <a:ext uri="{FF2B5EF4-FFF2-40B4-BE49-F238E27FC236}">
                <a16:creationId xmlns:a16="http://schemas.microsoft.com/office/drawing/2014/main" id="{5160702E-230B-EA9E-3192-6990D8063827}"/>
              </a:ext>
            </a:extLst>
          </p:cNvPr>
          <p:cNvSpPr/>
          <p:nvPr/>
        </p:nvSpPr>
        <p:spPr>
          <a:xfrm>
            <a:off x="457200" y="3949700"/>
            <a:ext cx="330200" cy="3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>
                <a:solidFill>
                  <a:schemeClr val="bg1"/>
                </a:solidFill>
                <a:latin typeface="Calibri"/>
              </a:rPr>
              <a:t>5</a:t>
            </a:r>
            <a:endParaRPr lang="en-US" sz="14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99" name="Text 24">
            <a:extLst>
              <a:ext uri="{FF2B5EF4-FFF2-40B4-BE49-F238E27FC236}">
                <a16:creationId xmlns:a16="http://schemas.microsoft.com/office/drawing/2014/main" id="{412B9045-A922-4E19-8869-413C2B4611B7}"/>
              </a:ext>
            </a:extLst>
          </p:cNvPr>
          <p:cNvSpPr/>
          <p:nvPr/>
        </p:nvSpPr>
        <p:spPr>
          <a:xfrm>
            <a:off x="877888" y="3949700"/>
            <a:ext cx="3603625" cy="2016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  <a:ea typeface="Calibri"/>
              </a:rPr>
              <a:t>Human Approval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0" name="Text 25">
            <a:extLst>
              <a:ext uri="{FF2B5EF4-FFF2-40B4-BE49-F238E27FC236}">
                <a16:creationId xmlns:a16="http://schemas.microsoft.com/office/drawing/2014/main" id="{1E1A0ECB-D3AD-92A1-1BBC-80A8F7F12EC6}"/>
              </a:ext>
            </a:extLst>
          </p:cNvPr>
          <p:cNvSpPr/>
          <p:nvPr/>
        </p:nvSpPr>
        <p:spPr>
          <a:xfrm>
            <a:off x="893763" y="4170363"/>
            <a:ext cx="3603625" cy="3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/>
                <a:cs typeface="DejaVu Sans"/>
              </a:defRPr>
            </a:lvl9pPr>
          </a:lstStyle>
          <a:p>
            <a:pPr algn="just" eaLnBrk="1" hangingPunct="1">
              <a:defRPr/>
            </a:pPr>
            <a:r>
              <a:rPr lang="en-US" altLang="en-US" sz="1100">
                <a:solidFill>
                  <a:srgbClr val="1E3A8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escalation_flag is set → graph pauses, human reviews and edits, then resumes</a:t>
            </a:r>
            <a:endParaRPr lang="en-US" alt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01" name="Text 26">
            <a:extLst>
              <a:ext uri="{FF2B5EF4-FFF2-40B4-BE49-F238E27FC236}">
                <a16:creationId xmlns:a16="http://schemas.microsoft.com/office/drawing/2014/main" id="{16A8A593-E6AA-1FE2-C0DC-FB9E2079CF13}"/>
              </a:ext>
            </a:extLst>
          </p:cNvPr>
          <p:cNvSpPr/>
          <p:nvPr/>
        </p:nvSpPr>
        <p:spPr>
          <a:xfrm>
            <a:off x="4365625" y="3932238"/>
            <a:ext cx="411163" cy="365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pc="-1" dirty="0">
                <a:solidFill>
                  <a:srgbClr val="0EA5E9"/>
                </a:solidFill>
                <a:latin typeface="Calibri"/>
              </a:rPr>
              <a:t>→</a:t>
            </a:r>
            <a:endParaRPr lang="en-US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2" name="Shape 27">
            <a:extLst>
              <a:ext uri="{FF2B5EF4-FFF2-40B4-BE49-F238E27FC236}">
                <a16:creationId xmlns:a16="http://schemas.microsoft.com/office/drawing/2014/main" id="{1D2EDDC3-CDB2-029F-5414-0341200ABB1B}"/>
              </a:ext>
            </a:extLst>
          </p:cNvPr>
          <p:cNvSpPr/>
          <p:nvPr/>
        </p:nvSpPr>
        <p:spPr>
          <a:xfrm>
            <a:off x="4754563" y="3949700"/>
            <a:ext cx="330200" cy="330200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3" name="Text 28">
            <a:extLst>
              <a:ext uri="{FF2B5EF4-FFF2-40B4-BE49-F238E27FC236}">
                <a16:creationId xmlns:a16="http://schemas.microsoft.com/office/drawing/2014/main" id="{0305A166-CA69-8E0A-FCC0-383F1AB69553}"/>
              </a:ext>
            </a:extLst>
          </p:cNvPr>
          <p:cNvSpPr/>
          <p:nvPr/>
        </p:nvSpPr>
        <p:spPr>
          <a:xfrm>
            <a:off x="4754563" y="3949700"/>
            <a:ext cx="330200" cy="3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>
                <a:solidFill>
                  <a:schemeClr val="bg1"/>
                </a:solidFill>
                <a:latin typeface="Calibri"/>
              </a:rPr>
              <a:t>6</a:t>
            </a:r>
            <a:endParaRPr lang="en-US" sz="14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04" name="Text 29">
            <a:extLst>
              <a:ext uri="{FF2B5EF4-FFF2-40B4-BE49-F238E27FC236}">
                <a16:creationId xmlns:a16="http://schemas.microsoft.com/office/drawing/2014/main" id="{D696FBCE-9945-65BF-CF88-26615259FFCB}"/>
              </a:ext>
            </a:extLst>
          </p:cNvPr>
          <p:cNvSpPr/>
          <p:nvPr/>
        </p:nvSpPr>
        <p:spPr>
          <a:xfrm>
            <a:off x="5175250" y="3949700"/>
            <a:ext cx="3603625" cy="2016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  <a:ea typeface="Calibri"/>
              </a:rPr>
              <a:t>Send &amp; Persist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5" name="Text 30">
            <a:extLst>
              <a:ext uri="{FF2B5EF4-FFF2-40B4-BE49-F238E27FC236}">
                <a16:creationId xmlns:a16="http://schemas.microsoft.com/office/drawing/2014/main" id="{40906074-F5A1-F0CE-11ED-226236A7C739}"/>
              </a:ext>
            </a:extLst>
          </p:cNvPr>
          <p:cNvSpPr/>
          <p:nvPr/>
        </p:nvSpPr>
        <p:spPr>
          <a:xfrm>
            <a:off x="5175250" y="4151313"/>
            <a:ext cx="3603625" cy="3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  <a:ea typeface="Calibri"/>
              </a:rPr>
              <a:t>Response sent to customer. State saved to memory. Interaction logged for quality review.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4609" name="Picture 1">
            <a:extLst>
              <a:ext uri="{FF2B5EF4-FFF2-40B4-BE49-F238E27FC236}">
                <a16:creationId xmlns:a16="http://schemas.microsoft.com/office/drawing/2014/main" id="{5B5AD65F-5AB6-BFDA-C025-478A9E739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55575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" grpId="0" animBg="1"/>
      <p:bldP spid="280" grpId="0"/>
      <p:bldP spid="281" grpId="0"/>
      <p:bldP spid="282" grpId="0"/>
      <p:bldP spid="283" grpId="0"/>
      <p:bldP spid="284" grpId="0" animBg="1"/>
      <p:bldP spid="285" grpId="0"/>
      <p:bldP spid="286" grpId="0"/>
      <p:bldP spid="287" grpId="0"/>
      <p:bldP spid="288" grpId="0" animBg="1"/>
      <p:bldP spid="289" grpId="0"/>
      <p:bldP spid="290" grpId="0"/>
      <p:bldP spid="291" grpId="0"/>
      <p:bldP spid="292" grpId="0"/>
      <p:bldP spid="293" grpId="0" animBg="1"/>
      <p:bldP spid="294" grpId="0"/>
      <p:bldP spid="295" grpId="0"/>
      <p:bldP spid="296" grpId="0"/>
      <p:bldP spid="297" grpId="0" animBg="1"/>
      <p:bldP spid="298" grpId="0"/>
      <p:bldP spid="299" grpId="0"/>
      <p:bldP spid="300" grpId="0"/>
      <p:bldP spid="301" grpId="0"/>
      <p:bldP spid="302" grpId="0" animBg="1"/>
      <p:bldP spid="303" grpId="0"/>
      <p:bldP spid="304" grpId="0"/>
      <p:bldP spid="30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0">
            <a:extLst>
              <a:ext uri="{FF2B5EF4-FFF2-40B4-BE49-F238E27FC236}">
                <a16:creationId xmlns:a16="http://schemas.microsoft.com/office/drawing/2014/main" id="{4CE2D90B-A3AA-9E9D-55FB-85B8C6AFFE43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8" name="Text 1">
            <a:extLst>
              <a:ext uri="{FF2B5EF4-FFF2-40B4-BE49-F238E27FC236}">
                <a16:creationId xmlns:a16="http://schemas.microsoft.com/office/drawing/2014/main" id="{6AB12C6F-6844-876A-B754-F25AB63928C4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>
                <a:solidFill>
                  <a:srgbClr val="1E3A8A"/>
                </a:solidFill>
                <a:latin typeface="Calibri"/>
              </a:rPr>
              <a:t>LANGGRAPH</a:t>
            </a:r>
            <a:endParaRPr lang="en-US" sz="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9" name="Text 2">
            <a:extLst>
              <a:ext uri="{FF2B5EF4-FFF2-40B4-BE49-F238E27FC236}">
                <a16:creationId xmlns:a16="http://schemas.microsoft.com/office/drawing/2014/main" id="{0FAB71A1-00C7-F7F1-C3BE-F1772A1A67B4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200" b="1" spc="-1">
                <a:solidFill>
                  <a:srgbClr val="1E3A8A"/>
                </a:solidFill>
                <a:latin typeface="Calibri"/>
              </a:rPr>
              <a:t>LangGraph — Code Pattern</a:t>
            </a:r>
            <a:endParaRPr lang="en-US" sz="2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0" name="Text 3">
            <a:extLst>
              <a:ext uri="{FF2B5EF4-FFF2-40B4-BE49-F238E27FC236}">
                <a16:creationId xmlns:a16="http://schemas.microsoft.com/office/drawing/2014/main" id="{D1680AA0-7A28-D13F-17C6-F07E2F86F1C6}"/>
              </a:ext>
            </a:extLst>
          </p:cNvPr>
          <p:cNvSpPr/>
          <p:nvPr/>
        </p:nvSpPr>
        <p:spPr>
          <a:xfrm>
            <a:off x="457200" y="904875"/>
            <a:ext cx="8229600" cy="255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rgbClr val="1E3A8A"/>
                </a:solidFill>
                <a:latin typeface="Calibri"/>
              </a:rPr>
              <a:t>Build a working LangGraph agent: define state → add nodes → add edges → compile → invoke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1" name="Shape 4">
            <a:extLst>
              <a:ext uri="{FF2B5EF4-FFF2-40B4-BE49-F238E27FC236}">
                <a16:creationId xmlns:a16="http://schemas.microsoft.com/office/drawing/2014/main" id="{E4E1E39E-E7D0-1E4B-C490-6353F3E04F42}"/>
              </a:ext>
            </a:extLst>
          </p:cNvPr>
          <p:cNvSpPr/>
          <p:nvPr/>
        </p:nvSpPr>
        <p:spPr>
          <a:xfrm>
            <a:off x="411163" y="1192213"/>
            <a:ext cx="5303837" cy="3654425"/>
          </a:xfrm>
          <a:prstGeom prst="rect">
            <a:avLst/>
          </a:prstGeom>
          <a:solidFill>
            <a:srgbClr val="DBEAFE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2" name="Text 5">
            <a:extLst>
              <a:ext uri="{FF2B5EF4-FFF2-40B4-BE49-F238E27FC236}">
                <a16:creationId xmlns:a16="http://schemas.microsoft.com/office/drawing/2014/main" id="{3550F068-DED3-04CE-BB30-46D4C9E1BDB6}"/>
              </a:ext>
            </a:extLst>
          </p:cNvPr>
          <p:cNvSpPr/>
          <p:nvPr/>
        </p:nvSpPr>
        <p:spPr>
          <a:xfrm>
            <a:off x="503238" y="1255713"/>
            <a:ext cx="5119687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888888"/>
                </a:solidFill>
                <a:latin typeface="Courier New"/>
                <a:ea typeface="Courier New"/>
              </a:rPr>
              <a:t># Python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3" name="Text 6">
            <a:extLst>
              <a:ext uri="{FF2B5EF4-FFF2-40B4-BE49-F238E27FC236}">
                <a16:creationId xmlns:a16="http://schemas.microsoft.com/office/drawing/2014/main" id="{FF505ED3-9CA3-B132-394F-9438D901DF4E}"/>
              </a:ext>
            </a:extLst>
          </p:cNvPr>
          <p:cNvSpPr/>
          <p:nvPr/>
        </p:nvSpPr>
        <p:spPr>
          <a:xfrm>
            <a:off x="503238" y="1503363"/>
            <a:ext cx="5119687" cy="1825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 dirty="0">
                <a:solidFill>
                  <a:srgbClr val="0C4A6E"/>
                </a:solidFill>
                <a:latin typeface="Courier New"/>
                <a:ea typeface="Courier New"/>
              </a:rPr>
              <a:t>from </a:t>
            </a:r>
            <a:r>
              <a:rPr lang="en-US" sz="900" spc="-1" dirty="0" err="1">
                <a:solidFill>
                  <a:srgbClr val="0C4A6E"/>
                </a:solidFill>
                <a:latin typeface="Courier New"/>
                <a:ea typeface="Courier New"/>
              </a:rPr>
              <a:t>langgraph.graph</a:t>
            </a:r>
            <a:r>
              <a:rPr lang="en-US" sz="900" spc="-1" dirty="0">
                <a:solidFill>
                  <a:srgbClr val="0C4A6E"/>
                </a:solidFill>
                <a:latin typeface="Courier New"/>
                <a:ea typeface="Courier New"/>
              </a:rPr>
              <a:t> import </a:t>
            </a:r>
            <a:r>
              <a:rPr lang="en-US" sz="900" spc="-1" dirty="0" err="1">
                <a:solidFill>
                  <a:srgbClr val="0C4A6E"/>
                </a:solidFill>
                <a:latin typeface="Courier New"/>
                <a:ea typeface="Courier New"/>
              </a:rPr>
              <a:t>StateGraph</a:t>
            </a:r>
            <a:r>
              <a:rPr lang="en-US" sz="900" spc="-1" dirty="0">
                <a:solidFill>
                  <a:srgbClr val="0C4A6E"/>
                </a:solidFill>
                <a:latin typeface="Courier New"/>
                <a:ea typeface="Courier New"/>
              </a:rPr>
              <a:t>, END</a:t>
            </a:r>
            <a:endParaRPr lang="en-US" sz="9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4" name="Text 7">
            <a:extLst>
              <a:ext uri="{FF2B5EF4-FFF2-40B4-BE49-F238E27FC236}">
                <a16:creationId xmlns:a16="http://schemas.microsoft.com/office/drawing/2014/main" id="{DB83B916-F5FD-3854-EF6F-AD87E266AC6A}"/>
              </a:ext>
            </a:extLst>
          </p:cNvPr>
          <p:cNvSpPr/>
          <p:nvPr/>
        </p:nvSpPr>
        <p:spPr>
          <a:xfrm>
            <a:off x="503238" y="1676400"/>
            <a:ext cx="5119687" cy="1825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from typing import TypedDict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5" name="Text 8">
            <a:extLst>
              <a:ext uri="{FF2B5EF4-FFF2-40B4-BE49-F238E27FC236}">
                <a16:creationId xmlns:a16="http://schemas.microsoft.com/office/drawing/2014/main" id="{585C14B7-3EE4-E0D9-3476-4A56B153432A}"/>
              </a:ext>
            </a:extLst>
          </p:cNvPr>
          <p:cNvSpPr/>
          <p:nvPr/>
        </p:nvSpPr>
        <p:spPr>
          <a:xfrm>
            <a:off x="503238" y="1851025"/>
            <a:ext cx="5119687" cy="1825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6" name="Text 9">
            <a:extLst>
              <a:ext uri="{FF2B5EF4-FFF2-40B4-BE49-F238E27FC236}">
                <a16:creationId xmlns:a16="http://schemas.microsoft.com/office/drawing/2014/main" id="{07647EED-BC73-3DFC-3281-090CEB4E4651}"/>
              </a:ext>
            </a:extLst>
          </p:cNvPr>
          <p:cNvSpPr/>
          <p:nvPr/>
        </p:nvSpPr>
        <p:spPr>
          <a:xfrm>
            <a:off x="503238" y="2024063"/>
            <a:ext cx="5119687" cy="1825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class AgentState(TypedDict):    # 1. State schema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7" name="Text 10">
            <a:extLst>
              <a:ext uri="{FF2B5EF4-FFF2-40B4-BE49-F238E27FC236}">
                <a16:creationId xmlns:a16="http://schemas.microsoft.com/office/drawing/2014/main" id="{3C4E64B1-BF3B-F446-9902-DFC36CEBBA71}"/>
              </a:ext>
            </a:extLst>
          </p:cNvPr>
          <p:cNvSpPr/>
          <p:nvPr/>
        </p:nvSpPr>
        <p:spPr>
          <a:xfrm>
            <a:off x="503238" y="2197100"/>
            <a:ext cx="5119687" cy="1841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  messages: list; intent: str; confidence: float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8" name="Text 11">
            <a:extLst>
              <a:ext uri="{FF2B5EF4-FFF2-40B4-BE49-F238E27FC236}">
                <a16:creationId xmlns:a16="http://schemas.microsoft.com/office/drawing/2014/main" id="{669C8B9B-8259-6AC9-D554-A15139EBA941}"/>
              </a:ext>
            </a:extLst>
          </p:cNvPr>
          <p:cNvSpPr/>
          <p:nvPr/>
        </p:nvSpPr>
        <p:spPr>
          <a:xfrm>
            <a:off x="503238" y="2371725"/>
            <a:ext cx="5119687" cy="1825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9" name="Text 12">
            <a:extLst>
              <a:ext uri="{FF2B5EF4-FFF2-40B4-BE49-F238E27FC236}">
                <a16:creationId xmlns:a16="http://schemas.microsoft.com/office/drawing/2014/main" id="{A3146F30-F50A-FCE0-5F6E-02DCBCE4879B}"/>
              </a:ext>
            </a:extLst>
          </p:cNvPr>
          <p:cNvSpPr/>
          <p:nvPr/>
        </p:nvSpPr>
        <p:spPr>
          <a:xfrm>
            <a:off x="503238" y="2544763"/>
            <a:ext cx="5119687" cy="1841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def classify_node(state):       # 2. Node function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0" name="Text 13">
            <a:extLst>
              <a:ext uri="{FF2B5EF4-FFF2-40B4-BE49-F238E27FC236}">
                <a16:creationId xmlns:a16="http://schemas.microsoft.com/office/drawing/2014/main" id="{0B53964C-96B1-5382-22B1-FD862FC8AF9F}"/>
              </a:ext>
            </a:extLst>
          </p:cNvPr>
          <p:cNvSpPr/>
          <p:nvPr/>
        </p:nvSpPr>
        <p:spPr>
          <a:xfrm>
            <a:off x="503238" y="2719388"/>
            <a:ext cx="5119687" cy="1825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  intent = llm.invoke(state['messages'])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1" name="Text 14">
            <a:extLst>
              <a:ext uri="{FF2B5EF4-FFF2-40B4-BE49-F238E27FC236}">
                <a16:creationId xmlns:a16="http://schemas.microsoft.com/office/drawing/2014/main" id="{249905AF-A562-32C9-0303-68E5E70F9B99}"/>
              </a:ext>
            </a:extLst>
          </p:cNvPr>
          <p:cNvSpPr/>
          <p:nvPr/>
        </p:nvSpPr>
        <p:spPr>
          <a:xfrm>
            <a:off x="503238" y="2892425"/>
            <a:ext cx="5119687" cy="1825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  return {'intent': intent}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2" name="Text 15">
            <a:extLst>
              <a:ext uri="{FF2B5EF4-FFF2-40B4-BE49-F238E27FC236}">
                <a16:creationId xmlns:a16="http://schemas.microsoft.com/office/drawing/2014/main" id="{94B462D1-272A-6188-A54C-015CD175233A}"/>
              </a:ext>
            </a:extLst>
          </p:cNvPr>
          <p:cNvSpPr/>
          <p:nvPr/>
        </p:nvSpPr>
        <p:spPr>
          <a:xfrm>
            <a:off x="503238" y="3067050"/>
            <a:ext cx="5119687" cy="1825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3" name="Text 16">
            <a:extLst>
              <a:ext uri="{FF2B5EF4-FFF2-40B4-BE49-F238E27FC236}">
                <a16:creationId xmlns:a16="http://schemas.microsoft.com/office/drawing/2014/main" id="{D353A3AC-2A78-C51A-66BA-95B8052AF8FD}"/>
              </a:ext>
            </a:extLst>
          </p:cNvPr>
          <p:cNvSpPr/>
          <p:nvPr/>
        </p:nvSpPr>
        <p:spPr>
          <a:xfrm>
            <a:off x="503238" y="3240088"/>
            <a:ext cx="5119687" cy="1825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graph = StateGraph(AgentState)  # 3. Build graph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4" name="Text 17">
            <a:extLst>
              <a:ext uri="{FF2B5EF4-FFF2-40B4-BE49-F238E27FC236}">
                <a16:creationId xmlns:a16="http://schemas.microsoft.com/office/drawing/2014/main" id="{5F5CB589-5AE4-94E7-45B8-FCE8F1ED34A1}"/>
              </a:ext>
            </a:extLst>
          </p:cNvPr>
          <p:cNvSpPr/>
          <p:nvPr/>
        </p:nvSpPr>
        <p:spPr>
          <a:xfrm>
            <a:off x="503238" y="3414713"/>
            <a:ext cx="5119687" cy="1825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graph.add_node('classify', classify_node)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5" name="Text 18">
            <a:extLst>
              <a:ext uri="{FF2B5EF4-FFF2-40B4-BE49-F238E27FC236}">
                <a16:creationId xmlns:a16="http://schemas.microsoft.com/office/drawing/2014/main" id="{51D6DB0B-478A-217F-7ED2-9DF1FD570A48}"/>
              </a:ext>
            </a:extLst>
          </p:cNvPr>
          <p:cNvSpPr/>
          <p:nvPr/>
        </p:nvSpPr>
        <p:spPr>
          <a:xfrm>
            <a:off x="503238" y="3587750"/>
            <a:ext cx="5119687" cy="1825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graph.add_node('retrieve', retrieve_node)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6" name="Text 19">
            <a:extLst>
              <a:ext uri="{FF2B5EF4-FFF2-40B4-BE49-F238E27FC236}">
                <a16:creationId xmlns:a16="http://schemas.microsoft.com/office/drawing/2014/main" id="{6FB9B588-A2C8-E9EB-1756-DC5D621C14BE}"/>
              </a:ext>
            </a:extLst>
          </p:cNvPr>
          <p:cNvSpPr/>
          <p:nvPr/>
        </p:nvSpPr>
        <p:spPr>
          <a:xfrm>
            <a:off x="503238" y="3760788"/>
            <a:ext cx="5119687" cy="1841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graph.add_node('respond',  respond_node)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7" name="Text 20">
            <a:extLst>
              <a:ext uri="{FF2B5EF4-FFF2-40B4-BE49-F238E27FC236}">
                <a16:creationId xmlns:a16="http://schemas.microsoft.com/office/drawing/2014/main" id="{8B15C943-B1F0-8E27-38B7-BF4B7456398F}"/>
              </a:ext>
            </a:extLst>
          </p:cNvPr>
          <p:cNvSpPr/>
          <p:nvPr/>
        </p:nvSpPr>
        <p:spPr>
          <a:xfrm>
            <a:off x="503238" y="3935413"/>
            <a:ext cx="5119687" cy="1825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graph.add_edge('classify', 'retrieve')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8" name="Text 21">
            <a:extLst>
              <a:ext uri="{FF2B5EF4-FFF2-40B4-BE49-F238E27FC236}">
                <a16:creationId xmlns:a16="http://schemas.microsoft.com/office/drawing/2014/main" id="{D439DBBD-331A-2C82-F4C8-81AD9C3172F3}"/>
              </a:ext>
            </a:extLst>
          </p:cNvPr>
          <p:cNvSpPr/>
          <p:nvPr/>
        </p:nvSpPr>
        <p:spPr>
          <a:xfrm>
            <a:off x="503238" y="4108450"/>
            <a:ext cx="5119687" cy="1841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graph.add_conditional_edges('respond', route_fn,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9" name="Text 22">
            <a:extLst>
              <a:ext uri="{FF2B5EF4-FFF2-40B4-BE49-F238E27FC236}">
                <a16:creationId xmlns:a16="http://schemas.microsoft.com/office/drawing/2014/main" id="{D6F9698E-6975-C4BD-7228-9990DE00F8B1}"/>
              </a:ext>
            </a:extLst>
          </p:cNvPr>
          <p:cNvSpPr/>
          <p:nvPr/>
        </p:nvSpPr>
        <p:spPr>
          <a:xfrm>
            <a:off x="503238" y="4283075"/>
            <a:ext cx="5119687" cy="1825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  {'retry':'retrieve', 'done':END})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0" name="Text 23">
            <a:extLst>
              <a:ext uri="{FF2B5EF4-FFF2-40B4-BE49-F238E27FC236}">
                <a16:creationId xmlns:a16="http://schemas.microsoft.com/office/drawing/2014/main" id="{C6090987-6231-9B90-7042-68D03EC2AA9B}"/>
              </a:ext>
            </a:extLst>
          </p:cNvPr>
          <p:cNvSpPr/>
          <p:nvPr/>
        </p:nvSpPr>
        <p:spPr>
          <a:xfrm>
            <a:off x="503238" y="4456113"/>
            <a:ext cx="5119687" cy="1825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app = graph.compile()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1" name="Text 24">
            <a:extLst>
              <a:ext uri="{FF2B5EF4-FFF2-40B4-BE49-F238E27FC236}">
                <a16:creationId xmlns:a16="http://schemas.microsoft.com/office/drawing/2014/main" id="{D583AF56-1823-95A3-0D5B-9C89A3C5FF93}"/>
              </a:ext>
            </a:extLst>
          </p:cNvPr>
          <p:cNvSpPr/>
          <p:nvPr/>
        </p:nvSpPr>
        <p:spPr>
          <a:xfrm>
            <a:off x="503238" y="4630738"/>
            <a:ext cx="5119687" cy="1825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result = app.invoke({'messages':[HumanMessage('...')]})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2" name="Shape 25">
            <a:extLst>
              <a:ext uri="{FF2B5EF4-FFF2-40B4-BE49-F238E27FC236}">
                <a16:creationId xmlns:a16="http://schemas.microsoft.com/office/drawing/2014/main" id="{8EAB809E-595F-8EC2-B2EF-640A9843A247}"/>
              </a:ext>
            </a:extLst>
          </p:cNvPr>
          <p:cNvSpPr/>
          <p:nvPr/>
        </p:nvSpPr>
        <p:spPr>
          <a:xfrm>
            <a:off x="5897563" y="1262063"/>
            <a:ext cx="2835275" cy="547687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3" name="Shape 26">
            <a:extLst>
              <a:ext uri="{FF2B5EF4-FFF2-40B4-BE49-F238E27FC236}">
                <a16:creationId xmlns:a16="http://schemas.microsoft.com/office/drawing/2014/main" id="{69394F50-4BDC-B739-4555-844D27DB7797}"/>
              </a:ext>
            </a:extLst>
          </p:cNvPr>
          <p:cNvSpPr/>
          <p:nvPr/>
        </p:nvSpPr>
        <p:spPr>
          <a:xfrm>
            <a:off x="5897563" y="1262063"/>
            <a:ext cx="46037" cy="547687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4" name="Text 27">
            <a:extLst>
              <a:ext uri="{FF2B5EF4-FFF2-40B4-BE49-F238E27FC236}">
                <a16:creationId xmlns:a16="http://schemas.microsoft.com/office/drawing/2014/main" id="{C364E268-B50E-1BBB-4BD0-E76BA4187986}"/>
              </a:ext>
            </a:extLst>
          </p:cNvPr>
          <p:cNvSpPr/>
          <p:nvPr/>
        </p:nvSpPr>
        <p:spPr>
          <a:xfrm>
            <a:off x="6016625" y="1298575"/>
            <a:ext cx="2651125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 dirty="0" err="1">
                <a:solidFill>
                  <a:srgbClr val="1E3A8A"/>
                </a:solidFill>
                <a:latin typeface="Courier New"/>
                <a:ea typeface="Courier New"/>
              </a:rPr>
              <a:t>StateGraph</a:t>
            </a:r>
            <a:endParaRPr lang="en-US" sz="10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5" name="Text 28">
            <a:extLst>
              <a:ext uri="{FF2B5EF4-FFF2-40B4-BE49-F238E27FC236}">
                <a16:creationId xmlns:a16="http://schemas.microsoft.com/office/drawing/2014/main" id="{D3F91D04-7B05-C964-1690-D7B5653F95A7}"/>
              </a:ext>
            </a:extLst>
          </p:cNvPr>
          <p:cNvSpPr/>
          <p:nvPr/>
        </p:nvSpPr>
        <p:spPr>
          <a:xfrm>
            <a:off x="6016625" y="1527175"/>
            <a:ext cx="2651125" cy="2016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 dirty="0">
                <a:solidFill>
                  <a:srgbClr val="1E3A8A"/>
                </a:solidFill>
                <a:latin typeface="Calibri"/>
              </a:rPr>
              <a:t>Container for the whole agent graph</a:t>
            </a:r>
            <a:endParaRPr lang="en-US" sz="10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6" name="Shape 29">
            <a:extLst>
              <a:ext uri="{FF2B5EF4-FFF2-40B4-BE49-F238E27FC236}">
                <a16:creationId xmlns:a16="http://schemas.microsoft.com/office/drawing/2014/main" id="{7D904513-5374-5D4F-2823-CBE67A19D75C}"/>
              </a:ext>
            </a:extLst>
          </p:cNvPr>
          <p:cNvSpPr/>
          <p:nvPr/>
        </p:nvSpPr>
        <p:spPr>
          <a:xfrm>
            <a:off x="5897563" y="1855788"/>
            <a:ext cx="2835275" cy="549275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7" name="Shape 30">
            <a:extLst>
              <a:ext uri="{FF2B5EF4-FFF2-40B4-BE49-F238E27FC236}">
                <a16:creationId xmlns:a16="http://schemas.microsoft.com/office/drawing/2014/main" id="{7906089D-3DBF-134A-4BC8-351934E5DB89}"/>
              </a:ext>
            </a:extLst>
          </p:cNvPr>
          <p:cNvSpPr/>
          <p:nvPr/>
        </p:nvSpPr>
        <p:spPr>
          <a:xfrm>
            <a:off x="5897563" y="1855788"/>
            <a:ext cx="46037" cy="549275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8" name="Text 31">
            <a:extLst>
              <a:ext uri="{FF2B5EF4-FFF2-40B4-BE49-F238E27FC236}">
                <a16:creationId xmlns:a16="http://schemas.microsoft.com/office/drawing/2014/main" id="{3847D16E-C3F6-4F6D-EEE8-D225F41E5456}"/>
              </a:ext>
            </a:extLst>
          </p:cNvPr>
          <p:cNvSpPr/>
          <p:nvPr/>
        </p:nvSpPr>
        <p:spPr>
          <a:xfrm>
            <a:off x="6016625" y="1892300"/>
            <a:ext cx="2651125" cy="2206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 dirty="0" err="1">
                <a:solidFill>
                  <a:srgbClr val="1E3A8A"/>
                </a:solidFill>
                <a:latin typeface="Courier New"/>
                <a:ea typeface="Courier New"/>
              </a:rPr>
              <a:t>add_node</a:t>
            </a:r>
            <a:r>
              <a:rPr lang="en-US" sz="1000" b="1" spc="-1" dirty="0">
                <a:solidFill>
                  <a:srgbClr val="1E3A8A"/>
                </a:solidFill>
                <a:latin typeface="Courier New"/>
                <a:ea typeface="Courier New"/>
              </a:rPr>
              <a:t>()</a:t>
            </a:r>
            <a:endParaRPr lang="en-US" sz="10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9" name="Text 32">
            <a:extLst>
              <a:ext uri="{FF2B5EF4-FFF2-40B4-BE49-F238E27FC236}">
                <a16:creationId xmlns:a16="http://schemas.microsoft.com/office/drawing/2014/main" id="{05BE4CE0-FD22-356F-398E-7A87A76A08EE}"/>
              </a:ext>
            </a:extLst>
          </p:cNvPr>
          <p:cNvSpPr/>
          <p:nvPr/>
        </p:nvSpPr>
        <p:spPr>
          <a:xfrm>
            <a:off x="6016625" y="2120900"/>
            <a:ext cx="2651125" cy="2016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rgbClr val="1E3A8A"/>
                </a:solidFill>
                <a:latin typeface="Calibri"/>
              </a:rPr>
              <a:t>Register a function as a graph node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0" name="Shape 33">
            <a:extLst>
              <a:ext uri="{FF2B5EF4-FFF2-40B4-BE49-F238E27FC236}">
                <a16:creationId xmlns:a16="http://schemas.microsoft.com/office/drawing/2014/main" id="{37ED3F43-AEE7-00B8-CE62-FD2AAEEF6603}"/>
              </a:ext>
            </a:extLst>
          </p:cNvPr>
          <p:cNvSpPr/>
          <p:nvPr/>
        </p:nvSpPr>
        <p:spPr>
          <a:xfrm>
            <a:off x="5897563" y="2451100"/>
            <a:ext cx="2835275" cy="547688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1" name="Shape 34">
            <a:extLst>
              <a:ext uri="{FF2B5EF4-FFF2-40B4-BE49-F238E27FC236}">
                <a16:creationId xmlns:a16="http://schemas.microsoft.com/office/drawing/2014/main" id="{2D8B7E1C-4B44-8BBB-4F06-18C51435AAA5}"/>
              </a:ext>
            </a:extLst>
          </p:cNvPr>
          <p:cNvSpPr/>
          <p:nvPr/>
        </p:nvSpPr>
        <p:spPr>
          <a:xfrm>
            <a:off x="5897563" y="2451100"/>
            <a:ext cx="46037" cy="547688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2" name="Text 35">
            <a:extLst>
              <a:ext uri="{FF2B5EF4-FFF2-40B4-BE49-F238E27FC236}">
                <a16:creationId xmlns:a16="http://schemas.microsoft.com/office/drawing/2014/main" id="{19E457D7-2847-DA13-68ED-809B84415B9A}"/>
              </a:ext>
            </a:extLst>
          </p:cNvPr>
          <p:cNvSpPr/>
          <p:nvPr/>
        </p:nvSpPr>
        <p:spPr>
          <a:xfrm>
            <a:off x="6016625" y="2487613"/>
            <a:ext cx="2651125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>
                <a:solidFill>
                  <a:srgbClr val="1E3A8A"/>
                </a:solidFill>
                <a:latin typeface="Courier New"/>
                <a:ea typeface="Courier New"/>
              </a:rPr>
              <a:t>add_edge()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3" name="Text 36">
            <a:extLst>
              <a:ext uri="{FF2B5EF4-FFF2-40B4-BE49-F238E27FC236}">
                <a16:creationId xmlns:a16="http://schemas.microsoft.com/office/drawing/2014/main" id="{96492964-BAFE-7FC8-A656-DB4539E4A667}"/>
              </a:ext>
            </a:extLst>
          </p:cNvPr>
          <p:cNvSpPr/>
          <p:nvPr/>
        </p:nvSpPr>
        <p:spPr>
          <a:xfrm>
            <a:off x="6016625" y="2716213"/>
            <a:ext cx="2651125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rgbClr val="1E3A8A"/>
                </a:solidFill>
                <a:latin typeface="Calibri"/>
              </a:rPr>
              <a:t>Always-fired transition between nodes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4" name="Shape 37">
            <a:extLst>
              <a:ext uri="{FF2B5EF4-FFF2-40B4-BE49-F238E27FC236}">
                <a16:creationId xmlns:a16="http://schemas.microsoft.com/office/drawing/2014/main" id="{7F3A9C63-D54C-11CD-61DF-5D01AF2C7578}"/>
              </a:ext>
            </a:extLst>
          </p:cNvPr>
          <p:cNvSpPr/>
          <p:nvPr/>
        </p:nvSpPr>
        <p:spPr>
          <a:xfrm>
            <a:off x="5897563" y="3044825"/>
            <a:ext cx="2835275" cy="549275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5" name="Shape 38">
            <a:extLst>
              <a:ext uri="{FF2B5EF4-FFF2-40B4-BE49-F238E27FC236}">
                <a16:creationId xmlns:a16="http://schemas.microsoft.com/office/drawing/2014/main" id="{571F2F60-C94C-4D0E-2B37-5EF6D06B5343}"/>
              </a:ext>
            </a:extLst>
          </p:cNvPr>
          <p:cNvSpPr/>
          <p:nvPr/>
        </p:nvSpPr>
        <p:spPr>
          <a:xfrm>
            <a:off x="5897563" y="3044825"/>
            <a:ext cx="46037" cy="549275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6" name="Text 39">
            <a:extLst>
              <a:ext uri="{FF2B5EF4-FFF2-40B4-BE49-F238E27FC236}">
                <a16:creationId xmlns:a16="http://schemas.microsoft.com/office/drawing/2014/main" id="{657E8691-5F38-7118-C472-D3F719E919A6}"/>
              </a:ext>
            </a:extLst>
          </p:cNvPr>
          <p:cNvSpPr/>
          <p:nvPr/>
        </p:nvSpPr>
        <p:spPr>
          <a:xfrm>
            <a:off x="6016625" y="3081338"/>
            <a:ext cx="2651125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>
                <a:solidFill>
                  <a:srgbClr val="1E3A8A"/>
                </a:solidFill>
                <a:latin typeface="Courier New"/>
                <a:ea typeface="Courier New"/>
              </a:rPr>
              <a:t>add_conditional_edges()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7" name="Text 40">
            <a:extLst>
              <a:ext uri="{FF2B5EF4-FFF2-40B4-BE49-F238E27FC236}">
                <a16:creationId xmlns:a16="http://schemas.microsoft.com/office/drawing/2014/main" id="{25008D85-7FD6-9E96-6D5A-9D9AD4D8244E}"/>
              </a:ext>
            </a:extLst>
          </p:cNvPr>
          <p:cNvSpPr/>
          <p:nvPr/>
        </p:nvSpPr>
        <p:spPr>
          <a:xfrm>
            <a:off x="6016625" y="3309938"/>
            <a:ext cx="2651125" cy="2016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rgbClr val="1E3A8A"/>
                </a:solidFill>
                <a:latin typeface="Calibri"/>
              </a:rPr>
              <a:t>Runtime routing based on function output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8" name="Shape 41">
            <a:extLst>
              <a:ext uri="{FF2B5EF4-FFF2-40B4-BE49-F238E27FC236}">
                <a16:creationId xmlns:a16="http://schemas.microsoft.com/office/drawing/2014/main" id="{A60B7AC0-5A4C-C183-E498-66BA87B63ABE}"/>
              </a:ext>
            </a:extLst>
          </p:cNvPr>
          <p:cNvSpPr/>
          <p:nvPr/>
        </p:nvSpPr>
        <p:spPr>
          <a:xfrm>
            <a:off x="5897563" y="3638550"/>
            <a:ext cx="2835275" cy="549275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9" name="Shape 42">
            <a:extLst>
              <a:ext uri="{FF2B5EF4-FFF2-40B4-BE49-F238E27FC236}">
                <a16:creationId xmlns:a16="http://schemas.microsoft.com/office/drawing/2014/main" id="{3C0FAB89-7AB5-54DC-A95D-E1B87A6C6662}"/>
              </a:ext>
            </a:extLst>
          </p:cNvPr>
          <p:cNvSpPr/>
          <p:nvPr/>
        </p:nvSpPr>
        <p:spPr>
          <a:xfrm>
            <a:off x="5897563" y="3638550"/>
            <a:ext cx="46037" cy="549275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0" name="Text 43">
            <a:extLst>
              <a:ext uri="{FF2B5EF4-FFF2-40B4-BE49-F238E27FC236}">
                <a16:creationId xmlns:a16="http://schemas.microsoft.com/office/drawing/2014/main" id="{59A16762-F65F-57EB-8036-88F8056470BD}"/>
              </a:ext>
            </a:extLst>
          </p:cNvPr>
          <p:cNvSpPr/>
          <p:nvPr/>
        </p:nvSpPr>
        <p:spPr>
          <a:xfrm>
            <a:off x="6016625" y="3676650"/>
            <a:ext cx="2651125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>
                <a:solidFill>
                  <a:srgbClr val="1E3A8A"/>
                </a:solidFill>
                <a:latin typeface="Courier New"/>
                <a:ea typeface="Courier New"/>
              </a:rPr>
              <a:t>compile()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1" name="Text 44">
            <a:extLst>
              <a:ext uri="{FF2B5EF4-FFF2-40B4-BE49-F238E27FC236}">
                <a16:creationId xmlns:a16="http://schemas.microsoft.com/office/drawing/2014/main" id="{EB08F15D-D93A-D75E-4A62-B7A41EE428E6}"/>
              </a:ext>
            </a:extLst>
          </p:cNvPr>
          <p:cNvSpPr/>
          <p:nvPr/>
        </p:nvSpPr>
        <p:spPr>
          <a:xfrm>
            <a:off x="6016625" y="3905250"/>
            <a:ext cx="2651125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rgbClr val="1E3A8A"/>
                </a:solidFill>
                <a:latin typeface="Calibri"/>
              </a:rPr>
              <a:t>Validate and lock the graph structure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2" name="Shape 45">
            <a:extLst>
              <a:ext uri="{FF2B5EF4-FFF2-40B4-BE49-F238E27FC236}">
                <a16:creationId xmlns:a16="http://schemas.microsoft.com/office/drawing/2014/main" id="{1C82165C-5B64-304A-9AF5-985F681B5B91}"/>
              </a:ext>
            </a:extLst>
          </p:cNvPr>
          <p:cNvSpPr/>
          <p:nvPr/>
        </p:nvSpPr>
        <p:spPr>
          <a:xfrm>
            <a:off x="5897563" y="4233863"/>
            <a:ext cx="2835275" cy="547687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3" name="Shape 46">
            <a:extLst>
              <a:ext uri="{FF2B5EF4-FFF2-40B4-BE49-F238E27FC236}">
                <a16:creationId xmlns:a16="http://schemas.microsoft.com/office/drawing/2014/main" id="{2E07F55E-BEF7-8A7C-74D1-732B183E2834}"/>
              </a:ext>
            </a:extLst>
          </p:cNvPr>
          <p:cNvSpPr/>
          <p:nvPr/>
        </p:nvSpPr>
        <p:spPr>
          <a:xfrm>
            <a:off x="5897563" y="4233863"/>
            <a:ext cx="46037" cy="547687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4" name="Text 47">
            <a:extLst>
              <a:ext uri="{FF2B5EF4-FFF2-40B4-BE49-F238E27FC236}">
                <a16:creationId xmlns:a16="http://schemas.microsoft.com/office/drawing/2014/main" id="{9379ED63-9B77-17E4-043C-B581548D6D4E}"/>
              </a:ext>
            </a:extLst>
          </p:cNvPr>
          <p:cNvSpPr/>
          <p:nvPr/>
        </p:nvSpPr>
        <p:spPr>
          <a:xfrm>
            <a:off x="6016625" y="4270375"/>
            <a:ext cx="2651125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>
                <a:solidFill>
                  <a:srgbClr val="1E3A8A"/>
                </a:solidFill>
                <a:latin typeface="Courier New"/>
                <a:ea typeface="Courier New"/>
              </a:rPr>
              <a:t>invoke()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5" name="Text 48">
            <a:extLst>
              <a:ext uri="{FF2B5EF4-FFF2-40B4-BE49-F238E27FC236}">
                <a16:creationId xmlns:a16="http://schemas.microsoft.com/office/drawing/2014/main" id="{CB1B166B-9944-C6B1-EE9E-E6D9D111847F}"/>
              </a:ext>
            </a:extLst>
          </p:cNvPr>
          <p:cNvSpPr/>
          <p:nvPr/>
        </p:nvSpPr>
        <p:spPr>
          <a:xfrm>
            <a:off x="6016625" y="4498975"/>
            <a:ext cx="2651125" cy="2016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rgbClr val="1E3A8A"/>
                </a:solidFill>
                <a:latin typeface="Calibri"/>
              </a:rPr>
              <a:t>Run the graph with an initial state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6" name="Shape 49">
            <a:extLst>
              <a:ext uri="{FF2B5EF4-FFF2-40B4-BE49-F238E27FC236}">
                <a16:creationId xmlns:a16="http://schemas.microsoft.com/office/drawing/2014/main" id="{D14B96DC-E5A7-F964-FB03-9ECCDC30FAE3}"/>
              </a:ext>
            </a:extLst>
          </p:cNvPr>
          <p:cNvSpPr/>
          <p:nvPr/>
        </p:nvSpPr>
        <p:spPr>
          <a:xfrm>
            <a:off x="411163" y="4846638"/>
            <a:ext cx="8321675" cy="201612"/>
          </a:xfrm>
          <a:prstGeom prst="rect">
            <a:avLst/>
          </a:prstGeom>
          <a:solidFill>
            <a:srgbClr val="F0F9FF"/>
          </a:solidFill>
          <a:ln w="12600">
            <a:solidFill>
              <a:srgbClr val="BAE6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7" name="Text 50">
            <a:extLst>
              <a:ext uri="{FF2B5EF4-FFF2-40B4-BE49-F238E27FC236}">
                <a16:creationId xmlns:a16="http://schemas.microsoft.com/office/drawing/2014/main" id="{61C160AB-A30E-87BC-8470-A0F2620F4741}"/>
              </a:ext>
            </a:extLst>
          </p:cNvPr>
          <p:cNvSpPr/>
          <p:nvPr/>
        </p:nvSpPr>
        <p:spPr>
          <a:xfrm>
            <a:off x="411163" y="4846638"/>
            <a:ext cx="8321675" cy="2016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b="1" spc="-1">
                <a:solidFill>
                  <a:srgbClr val="60A5FA"/>
                </a:solidFill>
                <a:latin typeface="Calibri"/>
              </a:rPr>
              <a:t>Key insight: compile() validates the graph; invoke() runs it with initial state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6677" name="Picture 1">
            <a:extLst>
              <a:ext uri="{FF2B5EF4-FFF2-40B4-BE49-F238E27FC236}">
                <a16:creationId xmlns:a16="http://schemas.microsoft.com/office/drawing/2014/main" id="{250F9747-639A-00BD-A2B1-0268E3E29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58750"/>
            <a:ext cx="2117725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" grpId="0" animBg="1"/>
      <p:bldP spid="312" grpId="0"/>
      <p:bldP spid="313" grpId="0"/>
      <p:bldP spid="314" grpId="0"/>
      <p:bldP spid="315" grpId="0"/>
      <p:bldP spid="316" grpId="0"/>
      <p:bldP spid="317" grpId="0"/>
      <p:bldP spid="318" grpId="0"/>
      <p:bldP spid="319" grpId="0"/>
      <p:bldP spid="320" grpId="0"/>
      <p:bldP spid="321" grpId="0"/>
      <p:bldP spid="322" grpId="0"/>
      <p:bldP spid="323" grpId="0"/>
      <p:bldP spid="324" grpId="0"/>
      <p:bldP spid="325" grpId="0"/>
      <p:bldP spid="326" grpId="0"/>
      <p:bldP spid="327" grpId="0"/>
      <p:bldP spid="328" grpId="0"/>
      <p:bldP spid="329" grpId="0"/>
      <p:bldP spid="330" grpId="0"/>
      <p:bldP spid="331" grpId="0"/>
      <p:bldP spid="332" grpId="0" animBg="1"/>
      <p:bldP spid="333" grpId="0" animBg="1"/>
      <p:bldP spid="334" grpId="0"/>
      <p:bldP spid="335" grpId="0"/>
      <p:bldP spid="336" grpId="0" animBg="1"/>
      <p:bldP spid="337" grpId="0" animBg="1"/>
      <p:bldP spid="338" grpId="0"/>
      <p:bldP spid="339" grpId="0"/>
      <p:bldP spid="340" grpId="0" animBg="1"/>
      <p:bldP spid="341" grpId="0" animBg="1"/>
      <p:bldP spid="342" grpId="0"/>
      <p:bldP spid="343" grpId="0"/>
      <p:bldP spid="344" grpId="0" animBg="1"/>
      <p:bldP spid="345" grpId="0" animBg="1"/>
      <p:bldP spid="346" grpId="0"/>
      <p:bldP spid="347" grpId="0"/>
      <p:bldP spid="348" grpId="0" animBg="1"/>
      <p:bldP spid="349" grpId="0" animBg="1"/>
      <p:bldP spid="350" grpId="0"/>
      <p:bldP spid="351" grpId="0"/>
      <p:bldP spid="352" grpId="0" animBg="1"/>
      <p:bldP spid="353" grpId="0" animBg="1"/>
      <p:bldP spid="354" grpId="0"/>
      <p:bldP spid="35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0">
            <a:extLst>
              <a:ext uri="{FF2B5EF4-FFF2-40B4-BE49-F238E27FC236}">
                <a16:creationId xmlns:a16="http://schemas.microsoft.com/office/drawing/2014/main" id="{17F3FBF4-DB15-998E-EBA2-C9077AD4B5FD}"/>
              </a:ext>
            </a:extLst>
          </p:cNvPr>
          <p:cNvSpPr/>
          <p:nvPr/>
        </p:nvSpPr>
        <p:spPr>
          <a:xfrm>
            <a:off x="0" y="0"/>
            <a:ext cx="9144000" cy="55563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640" rIns="90000" bIns="86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0" name="Text 1">
            <a:extLst>
              <a:ext uri="{FF2B5EF4-FFF2-40B4-BE49-F238E27FC236}">
                <a16:creationId xmlns:a16="http://schemas.microsoft.com/office/drawing/2014/main" id="{881BA538-5D08-DA4A-7A6A-C6959C3142F1}"/>
              </a:ext>
            </a:extLst>
          </p:cNvPr>
          <p:cNvSpPr/>
          <p:nvPr/>
        </p:nvSpPr>
        <p:spPr>
          <a:xfrm>
            <a:off x="457200" y="365125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b="1" spc="-1">
                <a:solidFill>
                  <a:srgbClr val="0EA5E9"/>
                </a:solidFill>
                <a:latin typeface="Calibri"/>
              </a:rPr>
              <a:t>DEMONSTRATION</a:t>
            </a:r>
            <a:endParaRPr lang="en-US" sz="13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1" name="Text 2">
            <a:extLst>
              <a:ext uri="{FF2B5EF4-FFF2-40B4-BE49-F238E27FC236}">
                <a16:creationId xmlns:a16="http://schemas.microsoft.com/office/drawing/2014/main" id="{4CC55FD8-B333-39FE-3B98-F1FC0C00D605}"/>
              </a:ext>
            </a:extLst>
          </p:cNvPr>
          <p:cNvSpPr/>
          <p:nvPr/>
        </p:nvSpPr>
        <p:spPr>
          <a:xfrm>
            <a:off x="457200" y="868363"/>
            <a:ext cx="8229600" cy="5953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1" spc="-1">
                <a:solidFill>
                  <a:srgbClr val="1E3A8A"/>
                </a:solidFill>
                <a:latin typeface="Calibri"/>
              </a:rPr>
              <a:t>LangGraph in Action</a:t>
            </a:r>
            <a:endParaRPr lang="en-US" sz="3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2" name="Text 3">
            <a:extLst>
              <a:ext uri="{FF2B5EF4-FFF2-40B4-BE49-F238E27FC236}">
                <a16:creationId xmlns:a16="http://schemas.microsoft.com/office/drawing/2014/main" id="{D9C8400C-3EE3-292F-5DDF-4EE87CF8377F}"/>
              </a:ext>
            </a:extLst>
          </p:cNvPr>
          <p:cNvSpPr/>
          <p:nvPr/>
        </p:nvSpPr>
        <p:spPr>
          <a:xfrm>
            <a:off x="457200" y="1508125"/>
            <a:ext cx="8229600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i="1" spc="-1" dirty="0">
                <a:solidFill>
                  <a:srgbClr val="0C4A6E"/>
                </a:solidFill>
                <a:latin typeface="Calibri"/>
              </a:rPr>
              <a:t>Demo: Build a Customer Support Agent with </a:t>
            </a:r>
            <a:r>
              <a:rPr lang="en-US" sz="1300" i="1" spc="-1" dirty="0" err="1">
                <a:solidFill>
                  <a:srgbClr val="0C4A6E"/>
                </a:solidFill>
                <a:latin typeface="Calibri"/>
              </a:rPr>
              <a:t>StateGraph</a:t>
            </a:r>
            <a:r>
              <a:rPr lang="en-US" sz="1300" i="1" spc="-1" dirty="0">
                <a:solidFill>
                  <a:srgbClr val="0C4A6E"/>
                </a:solidFill>
                <a:latin typeface="Calibri"/>
              </a:rPr>
              <a:t>, conditional edges, and human-in-the-loop</a:t>
            </a:r>
            <a:endParaRPr lang="en-US" sz="13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3" name="Shape 4">
            <a:extLst>
              <a:ext uri="{FF2B5EF4-FFF2-40B4-BE49-F238E27FC236}">
                <a16:creationId xmlns:a16="http://schemas.microsoft.com/office/drawing/2014/main" id="{1CB4EB3B-EE3A-FE72-BFA1-0FF6DDD264BC}"/>
              </a:ext>
            </a:extLst>
          </p:cNvPr>
          <p:cNvSpPr/>
          <p:nvPr/>
        </p:nvSpPr>
        <p:spPr>
          <a:xfrm>
            <a:off x="411163" y="1920875"/>
            <a:ext cx="4114800" cy="822325"/>
          </a:xfrm>
          <a:prstGeom prst="rect">
            <a:avLst/>
          </a:prstGeom>
          <a:solidFill>
            <a:srgbClr val="BFDBFE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4" name="Shape 5">
            <a:extLst>
              <a:ext uri="{FF2B5EF4-FFF2-40B4-BE49-F238E27FC236}">
                <a16:creationId xmlns:a16="http://schemas.microsoft.com/office/drawing/2014/main" id="{9CB5AB30-86FB-A196-CCFE-8B9B77E7D902}"/>
              </a:ext>
            </a:extLst>
          </p:cNvPr>
          <p:cNvSpPr/>
          <p:nvPr/>
        </p:nvSpPr>
        <p:spPr>
          <a:xfrm>
            <a:off x="411163" y="1920875"/>
            <a:ext cx="503237" cy="822325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5" name="Text 6">
            <a:extLst>
              <a:ext uri="{FF2B5EF4-FFF2-40B4-BE49-F238E27FC236}">
                <a16:creationId xmlns:a16="http://schemas.microsoft.com/office/drawing/2014/main" id="{243E7D50-0D86-880B-3A95-0434D446188B}"/>
              </a:ext>
            </a:extLst>
          </p:cNvPr>
          <p:cNvSpPr/>
          <p:nvPr/>
        </p:nvSpPr>
        <p:spPr>
          <a:xfrm>
            <a:off x="411163" y="1920875"/>
            <a:ext cx="503237" cy="822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>
                <a:solidFill>
                  <a:srgbClr val="1E3A8A"/>
                </a:solidFill>
                <a:latin typeface="Calibri"/>
              </a:rPr>
              <a:t>01</a:t>
            </a:r>
            <a:endParaRPr lang="en-US" sz="16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6" name="Text 7">
            <a:extLst>
              <a:ext uri="{FF2B5EF4-FFF2-40B4-BE49-F238E27FC236}">
                <a16:creationId xmlns:a16="http://schemas.microsoft.com/office/drawing/2014/main" id="{A06B4CFA-289D-1C23-5FE9-F04F761C5887}"/>
              </a:ext>
            </a:extLst>
          </p:cNvPr>
          <p:cNvSpPr/>
          <p:nvPr/>
        </p:nvSpPr>
        <p:spPr>
          <a:xfrm>
            <a:off x="1006475" y="1993900"/>
            <a:ext cx="3429000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0EA5E9"/>
                </a:solidFill>
                <a:latin typeface="Calibri"/>
              </a:rPr>
              <a:t>Setup Environment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7" name="Text 8">
            <a:extLst>
              <a:ext uri="{FF2B5EF4-FFF2-40B4-BE49-F238E27FC236}">
                <a16:creationId xmlns:a16="http://schemas.microsoft.com/office/drawing/2014/main" id="{FF1F33B0-B8E6-AEC3-2E81-340E2C56851E}"/>
              </a:ext>
            </a:extLst>
          </p:cNvPr>
          <p:cNvSpPr/>
          <p:nvPr/>
        </p:nvSpPr>
        <p:spPr>
          <a:xfrm>
            <a:off x="1006475" y="2286000"/>
            <a:ext cx="3429000" cy="3841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spc="-1" dirty="0">
                <a:solidFill>
                  <a:srgbClr val="0C4A6E"/>
                </a:solidFill>
                <a:latin typeface="Calibri"/>
              </a:rPr>
              <a:t>Install </a:t>
            </a:r>
            <a:r>
              <a:rPr lang="en-US" sz="1050" spc="-1" dirty="0" err="1">
                <a:solidFill>
                  <a:srgbClr val="0C4A6E"/>
                </a:solidFill>
                <a:latin typeface="Calibri"/>
              </a:rPr>
              <a:t>langgraph</a:t>
            </a:r>
            <a:r>
              <a:rPr lang="en-US" sz="1050" spc="-1" dirty="0">
                <a:solidFill>
                  <a:srgbClr val="0C4A6E"/>
                </a:solidFill>
                <a:latin typeface="Calibri"/>
              </a:rPr>
              <a:t>, define </a:t>
            </a:r>
            <a:r>
              <a:rPr lang="en-US" sz="1050" spc="-1" dirty="0" err="1">
                <a:solidFill>
                  <a:srgbClr val="0C4A6E"/>
                </a:solidFill>
                <a:latin typeface="Calibri"/>
              </a:rPr>
              <a:t>AgentState</a:t>
            </a:r>
            <a:r>
              <a:rPr lang="en-US" sz="1050" spc="-1" dirty="0">
                <a:solidFill>
                  <a:srgbClr val="0C4A6E"/>
                </a:solidFill>
                <a:latin typeface="Calibri"/>
              </a:rPr>
              <a:t> </a:t>
            </a:r>
            <a:r>
              <a:rPr lang="en-US" sz="1050" spc="-1" dirty="0" err="1">
                <a:solidFill>
                  <a:srgbClr val="0C4A6E"/>
                </a:solidFill>
                <a:latin typeface="Calibri"/>
              </a:rPr>
              <a:t>TypedDict</a:t>
            </a:r>
            <a:r>
              <a:rPr lang="en-US" sz="1050" spc="-1" dirty="0">
                <a:solidFill>
                  <a:srgbClr val="0C4A6E"/>
                </a:solidFill>
                <a:latin typeface="Calibri"/>
              </a:rPr>
              <a:t>, </a:t>
            </a:r>
            <a:r>
              <a:rPr lang="en-US" sz="1050" spc="-1" dirty="0" err="1">
                <a:solidFill>
                  <a:srgbClr val="0C4A6E"/>
                </a:solidFill>
                <a:latin typeface="Calibri"/>
              </a:rPr>
              <a:t>initialise</a:t>
            </a:r>
            <a:r>
              <a:rPr lang="en-US" sz="1050" spc="-1" dirty="0">
                <a:solidFill>
                  <a:srgbClr val="0C4A6E"/>
                </a:solidFill>
                <a:latin typeface="Calibri"/>
              </a:rPr>
              <a:t> </a:t>
            </a:r>
            <a:r>
              <a:rPr lang="en-US" sz="1050" spc="-1" dirty="0" err="1">
                <a:solidFill>
                  <a:srgbClr val="0C4A6E"/>
                </a:solidFill>
                <a:latin typeface="Calibri"/>
              </a:rPr>
              <a:t>StateGraph</a:t>
            </a:r>
            <a:endParaRPr lang="en-US" sz="105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8" name="Shape 9">
            <a:extLst>
              <a:ext uri="{FF2B5EF4-FFF2-40B4-BE49-F238E27FC236}">
                <a16:creationId xmlns:a16="http://schemas.microsoft.com/office/drawing/2014/main" id="{9C878852-B89E-A1AB-5CCD-8495754B22EA}"/>
              </a:ext>
            </a:extLst>
          </p:cNvPr>
          <p:cNvSpPr/>
          <p:nvPr/>
        </p:nvSpPr>
        <p:spPr>
          <a:xfrm>
            <a:off x="4708525" y="1920875"/>
            <a:ext cx="4114800" cy="822325"/>
          </a:xfrm>
          <a:prstGeom prst="rect">
            <a:avLst/>
          </a:prstGeom>
          <a:solidFill>
            <a:srgbClr val="BFDBFE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9" name="Shape 10">
            <a:extLst>
              <a:ext uri="{FF2B5EF4-FFF2-40B4-BE49-F238E27FC236}">
                <a16:creationId xmlns:a16="http://schemas.microsoft.com/office/drawing/2014/main" id="{4D94C9C1-DBD1-1B0E-C539-6075DD8C6FEC}"/>
              </a:ext>
            </a:extLst>
          </p:cNvPr>
          <p:cNvSpPr/>
          <p:nvPr/>
        </p:nvSpPr>
        <p:spPr>
          <a:xfrm>
            <a:off x="4708525" y="1920875"/>
            <a:ext cx="503238" cy="822325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0" name="Text 11">
            <a:extLst>
              <a:ext uri="{FF2B5EF4-FFF2-40B4-BE49-F238E27FC236}">
                <a16:creationId xmlns:a16="http://schemas.microsoft.com/office/drawing/2014/main" id="{212FCE4D-56D5-3E13-0932-261C52682D7A}"/>
              </a:ext>
            </a:extLst>
          </p:cNvPr>
          <p:cNvSpPr/>
          <p:nvPr/>
        </p:nvSpPr>
        <p:spPr>
          <a:xfrm>
            <a:off x="4708525" y="1920875"/>
            <a:ext cx="503238" cy="822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>
                <a:solidFill>
                  <a:srgbClr val="1E3A8A"/>
                </a:solidFill>
                <a:latin typeface="Calibri"/>
              </a:rPr>
              <a:t>02</a:t>
            </a:r>
            <a:endParaRPr lang="en-US" sz="16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1" name="Text 12">
            <a:extLst>
              <a:ext uri="{FF2B5EF4-FFF2-40B4-BE49-F238E27FC236}">
                <a16:creationId xmlns:a16="http://schemas.microsoft.com/office/drawing/2014/main" id="{18E676F7-F6E8-B8AA-3BC1-AD4C8FF85BBE}"/>
              </a:ext>
            </a:extLst>
          </p:cNvPr>
          <p:cNvSpPr/>
          <p:nvPr/>
        </p:nvSpPr>
        <p:spPr>
          <a:xfrm>
            <a:off x="5303838" y="1993900"/>
            <a:ext cx="3429000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0EA5E9"/>
                </a:solidFill>
                <a:latin typeface="Calibri"/>
              </a:rPr>
              <a:t>Define Nodes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2" name="Text 13">
            <a:extLst>
              <a:ext uri="{FF2B5EF4-FFF2-40B4-BE49-F238E27FC236}">
                <a16:creationId xmlns:a16="http://schemas.microsoft.com/office/drawing/2014/main" id="{1A8FFC8D-1CF6-88B7-3C28-61D19B5A3294}"/>
              </a:ext>
            </a:extLst>
          </p:cNvPr>
          <p:cNvSpPr/>
          <p:nvPr/>
        </p:nvSpPr>
        <p:spPr>
          <a:xfrm>
            <a:off x="5303838" y="2286000"/>
            <a:ext cx="3429000" cy="3841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spc="-1" dirty="0" err="1">
                <a:solidFill>
                  <a:srgbClr val="0C4A6E"/>
                </a:solidFill>
                <a:latin typeface="Calibri"/>
              </a:rPr>
              <a:t>classify_node</a:t>
            </a:r>
            <a:r>
              <a:rPr lang="en-US" sz="1050" spc="-1" dirty="0">
                <a:solidFill>
                  <a:srgbClr val="0C4A6E"/>
                </a:solidFill>
                <a:latin typeface="Calibri"/>
              </a:rPr>
              <a:t>, </a:t>
            </a:r>
            <a:r>
              <a:rPr lang="en-US" sz="1050" spc="-1" dirty="0" err="1">
                <a:solidFill>
                  <a:srgbClr val="0C4A6E"/>
                </a:solidFill>
                <a:latin typeface="Calibri"/>
              </a:rPr>
              <a:t>retrieve_node</a:t>
            </a:r>
            <a:r>
              <a:rPr lang="en-US" sz="1050" spc="-1" dirty="0">
                <a:solidFill>
                  <a:srgbClr val="0C4A6E"/>
                </a:solidFill>
                <a:latin typeface="Calibri"/>
              </a:rPr>
              <a:t>, </a:t>
            </a:r>
            <a:r>
              <a:rPr lang="en-US" sz="1050" spc="-1" dirty="0" err="1">
                <a:solidFill>
                  <a:srgbClr val="0C4A6E"/>
                </a:solidFill>
                <a:latin typeface="Calibri"/>
              </a:rPr>
              <a:t>respond_node</a:t>
            </a:r>
            <a:r>
              <a:rPr lang="en-US" sz="1050" spc="-1" dirty="0">
                <a:solidFill>
                  <a:srgbClr val="0C4A6E"/>
                </a:solidFill>
                <a:latin typeface="Calibri"/>
              </a:rPr>
              <a:t> - each returns partial state update</a:t>
            </a:r>
            <a:endParaRPr lang="en-US" sz="105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3" name="Shape 14">
            <a:extLst>
              <a:ext uri="{FF2B5EF4-FFF2-40B4-BE49-F238E27FC236}">
                <a16:creationId xmlns:a16="http://schemas.microsoft.com/office/drawing/2014/main" id="{00DE220F-1CED-F0F2-7436-2A9DFD22EE0F}"/>
              </a:ext>
            </a:extLst>
          </p:cNvPr>
          <p:cNvSpPr/>
          <p:nvPr/>
        </p:nvSpPr>
        <p:spPr>
          <a:xfrm>
            <a:off x="411163" y="2879725"/>
            <a:ext cx="4114800" cy="823913"/>
          </a:xfrm>
          <a:prstGeom prst="rect">
            <a:avLst/>
          </a:prstGeom>
          <a:solidFill>
            <a:srgbClr val="BFDBFE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4" name="Shape 15">
            <a:extLst>
              <a:ext uri="{FF2B5EF4-FFF2-40B4-BE49-F238E27FC236}">
                <a16:creationId xmlns:a16="http://schemas.microsoft.com/office/drawing/2014/main" id="{60E3F2C1-E686-3091-CD73-32887EF8C7BC}"/>
              </a:ext>
            </a:extLst>
          </p:cNvPr>
          <p:cNvSpPr/>
          <p:nvPr/>
        </p:nvSpPr>
        <p:spPr>
          <a:xfrm>
            <a:off x="411163" y="2879725"/>
            <a:ext cx="503237" cy="823913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5" name="Text 16">
            <a:extLst>
              <a:ext uri="{FF2B5EF4-FFF2-40B4-BE49-F238E27FC236}">
                <a16:creationId xmlns:a16="http://schemas.microsoft.com/office/drawing/2014/main" id="{C6D5BE2A-22DB-A49C-2D76-191DC488045E}"/>
              </a:ext>
            </a:extLst>
          </p:cNvPr>
          <p:cNvSpPr/>
          <p:nvPr/>
        </p:nvSpPr>
        <p:spPr>
          <a:xfrm>
            <a:off x="411163" y="2879725"/>
            <a:ext cx="503237" cy="8239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>
                <a:solidFill>
                  <a:srgbClr val="1E3A8A"/>
                </a:solidFill>
                <a:latin typeface="Calibri"/>
              </a:rPr>
              <a:t>03</a:t>
            </a:r>
            <a:endParaRPr lang="en-US" sz="16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6" name="Text 17">
            <a:extLst>
              <a:ext uri="{FF2B5EF4-FFF2-40B4-BE49-F238E27FC236}">
                <a16:creationId xmlns:a16="http://schemas.microsoft.com/office/drawing/2014/main" id="{DB5CE6D2-18A7-BAD5-4792-ECF9BFFDB375}"/>
              </a:ext>
            </a:extLst>
          </p:cNvPr>
          <p:cNvSpPr/>
          <p:nvPr/>
        </p:nvSpPr>
        <p:spPr>
          <a:xfrm>
            <a:off x="1006475" y="2952750"/>
            <a:ext cx="3429000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0EA5E9"/>
                </a:solidFill>
                <a:latin typeface="Calibri"/>
              </a:rPr>
              <a:t>Wire the Graph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7" name="Text 18">
            <a:extLst>
              <a:ext uri="{FF2B5EF4-FFF2-40B4-BE49-F238E27FC236}">
                <a16:creationId xmlns:a16="http://schemas.microsoft.com/office/drawing/2014/main" id="{FA565AB2-4953-526E-FF0C-8577607E518F}"/>
              </a:ext>
            </a:extLst>
          </p:cNvPr>
          <p:cNvSpPr/>
          <p:nvPr/>
        </p:nvSpPr>
        <p:spPr>
          <a:xfrm>
            <a:off x="1006475" y="3246438"/>
            <a:ext cx="3429000" cy="3841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spc="-1">
                <a:solidFill>
                  <a:srgbClr val="0C4A6E"/>
                </a:solidFill>
                <a:latin typeface="Calibri"/>
              </a:rPr>
              <a:t>add_node(), add_edge(), add_conditional_edges() with a routing function</a:t>
            </a:r>
            <a:endParaRPr lang="en-US" sz="10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8" name="Shape 19">
            <a:extLst>
              <a:ext uri="{FF2B5EF4-FFF2-40B4-BE49-F238E27FC236}">
                <a16:creationId xmlns:a16="http://schemas.microsoft.com/office/drawing/2014/main" id="{E369D450-96F2-4E3E-487F-8BC4DE6BF16C}"/>
              </a:ext>
            </a:extLst>
          </p:cNvPr>
          <p:cNvSpPr/>
          <p:nvPr/>
        </p:nvSpPr>
        <p:spPr>
          <a:xfrm>
            <a:off x="4708525" y="2879725"/>
            <a:ext cx="4114800" cy="823913"/>
          </a:xfrm>
          <a:prstGeom prst="rect">
            <a:avLst/>
          </a:prstGeom>
          <a:solidFill>
            <a:srgbClr val="BFDBFE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9" name="Shape 20">
            <a:extLst>
              <a:ext uri="{FF2B5EF4-FFF2-40B4-BE49-F238E27FC236}">
                <a16:creationId xmlns:a16="http://schemas.microsoft.com/office/drawing/2014/main" id="{7FF9EDF2-BB2D-4F2D-7914-29F7385E9EAF}"/>
              </a:ext>
            </a:extLst>
          </p:cNvPr>
          <p:cNvSpPr/>
          <p:nvPr/>
        </p:nvSpPr>
        <p:spPr>
          <a:xfrm>
            <a:off x="4708525" y="2879725"/>
            <a:ext cx="503238" cy="823913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0" name="Text 21">
            <a:extLst>
              <a:ext uri="{FF2B5EF4-FFF2-40B4-BE49-F238E27FC236}">
                <a16:creationId xmlns:a16="http://schemas.microsoft.com/office/drawing/2014/main" id="{F95DC05D-A2FF-07CC-5B30-155BC6725596}"/>
              </a:ext>
            </a:extLst>
          </p:cNvPr>
          <p:cNvSpPr/>
          <p:nvPr/>
        </p:nvSpPr>
        <p:spPr>
          <a:xfrm>
            <a:off x="4708525" y="2879725"/>
            <a:ext cx="503238" cy="8239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>
                <a:solidFill>
                  <a:srgbClr val="1E3A8A"/>
                </a:solidFill>
                <a:latin typeface="Calibri"/>
              </a:rPr>
              <a:t>04</a:t>
            </a:r>
            <a:endParaRPr lang="en-US" sz="16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1" name="Text 22">
            <a:extLst>
              <a:ext uri="{FF2B5EF4-FFF2-40B4-BE49-F238E27FC236}">
                <a16:creationId xmlns:a16="http://schemas.microsoft.com/office/drawing/2014/main" id="{489CECA7-6201-5307-CAF7-F5C4072638B6}"/>
              </a:ext>
            </a:extLst>
          </p:cNvPr>
          <p:cNvSpPr/>
          <p:nvPr/>
        </p:nvSpPr>
        <p:spPr>
          <a:xfrm>
            <a:off x="5303838" y="2952750"/>
            <a:ext cx="3429000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0EA5E9"/>
                </a:solidFill>
                <a:latin typeface="Calibri"/>
              </a:rPr>
              <a:t>Compile &amp; Run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2" name="Text 23">
            <a:extLst>
              <a:ext uri="{FF2B5EF4-FFF2-40B4-BE49-F238E27FC236}">
                <a16:creationId xmlns:a16="http://schemas.microsoft.com/office/drawing/2014/main" id="{057AF32D-B59E-543D-CA93-8BC38B519446}"/>
              </a:ext>
            </a:extLst>
          </p:cNvPr>
          <p:cNvSpPr/>
          <p:nvPr/>
        </p:nvSpPr>
        <p:spPr>
          <a:xfrm>
            <a:off x="5303838" y="3246438"/>
            <a:ext cx="3429000" cy="3841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spc="-1" dirty="0" err="1">
                <a:solidFill>
                  <a:srgbClr val="0C4A6E"/>
                </a:solidFill>
                <a:latin typeface="Calibri"/>
              </a:rPr>
              <a:t>graph.compile</a:t>
            </a:r>
            <a:r>
              <a:rPr lang="en-US" sz="1050" spc="-1" dirty="0">
                <a:solidFill>
                  <a:srgbClr val="0C4A6E"/>
                </a:solidFill>
                <a:latin typeface="Calibri"/>
              </a:rPr>
              <a:t>() then </a:t>
            </a:r>
            <a:r>
              <a:rPr lang="en-US" sz="1050" spc="-1" dirty="0" err="1">
                <a:solidFill>
                  <a:srgbClr val="0C4A6E"/>
                </a:solidFill>
                <a:latin typeface="Calibri"/>
              </a:rPr>
              <a:t>app.invoke</a:t>
            </a:r>
            <a:r>
              <a:rPr lang="en-US" sz="1050" spc="-1" dirty="0">
                <a:solidFill>
                  <a:srgbClr val="0C4A6E"/>
                </a:solidFill>
                <a:latin typeface="Calibri"/>
              </a:rPr>
              <a:t>() - watch state evolve at each node</a:t>
            </a:r>
            <a:endParaRPr lang="en-US" sz="105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3" name="Shape 24">
            <a:extLst>
              <a:ext uri="{FF2B5EF4-FFF2-40B4-BE49-F238E27FC236}">
                <a16:creationId xmlns:a16="http://schemas.microsoft.com/office/drawing/2014/main" id="{14E9D4A6-F52C-F916-9073-3D3375D38E24}"/>
              </a:ext>
            </a:extLst>
          </p:cNvPr>
          <p:cNvSpPr/>
          <p:nvPr/>
        </p:nvSpPr>
        <p:spPr>
          <a:xfrm>
            <a:off x="411163" y="3840163"/>
            <a:ext cx="4114800" cy="823912"/>
          </a:xfrm>
          <a:prstGeom prst="rect">
            <a:avLst/>
          </a:prstGeom>
          <a:solidFill>
            <a:srgbClr val="BFDBFE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4" name="Shape 25">
            <a:extLst>
              <a:ext uri="{FF2B5EF4-FFF2-40B4-BE49-F238E27FC236}">
                <a16:creationId xmlns:a16="http://schemas.microsoft.com/office/drawing/2014/main" id="{91DAFF51-CA60-80C3-71F0-115D09D18B75}"/>
              </a:ext>
            </a:extLst>
          </p:cNvPr>
          <p:cNvSpPr/>
          <p:nvPr/>
        </p:nvSpPr>
        <p:spPr>
          <a:xfrm>
            <a:off x="411163" y="3840163"/>
            <a:ext cx="503237" cy="823912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5" name="Text 26">
            <a:extLst>
              <a:ext uri="{FF2B5EF4-FFF2-40B4-BE49-F238E27FC236}">
                <a16:creationId xmlns:a16="http://schemas.microsoft.com/office/drawing/2014/main" id="{260C973F-A05E-0F01-FEBA-30B396BEF094}"/>
              </a:ext>
            </a:extLst>
          </p:cNvPr>
          <p:cNvSpPr/>
          <p:nvPr/>
        </p:nvSpPr>
        <p:spPr>
          <a:xfrm>
            <a:off x="411163" y="3840163"/>
            <a:ext cx="503237" cy="823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>
                <a:solidFill>
                  <a:srgbClr val="1E3A8A"/>
                </a:solidFill>
                <a:latin typeface="Calibri"/>
              </a:rPr>
              <a:t>05</a:t>
            </a:r>
            <a:endParaRPr lang="en-US" sz="16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6" name="Text 27">
            <a:extLst>
              <a:ext uri="{FF2B5EF4-FFF2-40B4-BE49-F238E27FC236}">
                <a16:creationId xmlns:a16="http://schemas.microsoft.com/office/drawing/2014/main" id="{250AFBF2-43FA-19C3-FDE3-59D76FE0E5C1}"/>
              </a:ext>
            </a:extLst>
          </p:cNvPr>
          <p:cNvSpPr/>
          <p:nvPr/>
        </p:nvSpPr>
        <p:spPr>
          <a:xfrm>
            <a:off x="1006475" y="3913188"/>
            <a:ext cx="3429000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0EA5E9"/>
                </a:solidFill>
                <a:latin typeface="Calibri"/>
              </a:rPr>
              <a:t>Inspect State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7" name="Text 28">
            <a:extLst>
              <a:ext uri="{FF2B5EF4-FFF2-40B4-BE49-F238E27FC236}">
                <a16:creationId xmlns:a16="http://schemas.microsoft.com/office/drawing/2014/main" id="{D0649B67-AC82-88F8-3941-6539F9141DBB}"/>
              </a:ext>
            </a:extLst>
          </p:cNvPr>
          <p:cNvSpPr/>
          <p:nvPr/>
        </p:nvSpPr>
        <p:spPr>
          <a:xfrm>
            <a:off x="1006475" y="4206875"/>
            <a:ext cx="3429000" cy="3841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spc="-1" dirty="0">
                <a:solidFill>
                  <a:srgbClr val="0C4A6E"/>
                </a:solidFill>
                <a:latin typeface="Calibri"/>
              </a:rPr>
              <a:t>Print state after each node - see intent, retrieved docs, response in real time</a:t>
            </a:r>
            <a:endParaRPr lang="en-US" sz="105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8" name="Shape 29">
            <a:extLst>
              <a:ext uri="{FF2B5EF4-FFF2-40B4-BE49-F238E27FC236}">
                <a16:creationId xmlns:a16="http://schemas.microsoft.com/office/drawing/2014/main" id="{72AD6149-335F-7C83-670E-F6ABDBC1EF87}"/>
              </a:ext>
            </a:extLst>
          </p:cNvPr>
          <p:cNvSpPr/>
          <p:nvPr/>
        </p:nvSpPr>
        <p:spPr>
          <a:xfrm>
            <a:off x="4708525" y="3840163"/>
            <a:ext cx="4114800" cy="823912"/>
          </a:xfrm>
          <a:prstGeom prst="rect">
            <a:avLst/>
          </a:prstGeom>
          <a:solidFill>
            <a:srgbClr val="BFDBFE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9" name="Shape 30">
            <a:extLst>
              <a:ext uri="{FF2B5EF4-FFF2-40B4-BE49-F238E27FC236}">
                <a16:creationId xmlns:a16="http://schemas.microsoft.com/office/drawing/2014/main" id="{A45BD80D-E9E3-3A96-724C-686A422E45FA}"/>
              </a:ext>
            </a:extLst>
          </p:cNvPr>
          <p:cNvSpPr/>
          <p:nvPr/>
        </p:nvSpPr>
        <p:spPr>
          <a:xfrm>
            <a:off x="4708525" y="3840163"/>
            <a:ext cx="503238" cy="823912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0" name="Text 31">
            <a:extLst>
              <a:ext uri="{FF2B5EF4-FFF2-40B4-BE49-F238E27FC236}">
                <a16:creationId xmlns:a16="http://schemas.microsoft.com/office/drawing/2014/main" id="{69361E01-F0D5-CF72-793D-109518F201C8}"/>
              </a:ext>
            </a:extLst>
          </p:cNvPr>
          <p:cNvSpPr/>
          <p:nvPr/>
        </p:nvSpPr>
        <p:spPr>
          <a:xfrm>
            <a:off x="4708525" y="3840163"/>
            <a:ext cx="503238" cy="823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>
                <a:solidFill>
                  <a:srgbClr val="1E3A8A"/>
                </a:solidFill>
                <a:latin typeface="Calibri"/>
              </a:rPr>
              <a:t>06</a:t>
            </a:r>
            <a:endParaRPr lang="en-US" sz="16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1" name="Text 32">
            <a:extLst>
              <a:ext uri="{FF2B5EF4-FFF2-40B4-BE49-F238E27FC236}">
                <a16:creationId xmlns:a16="http://schemas.microsoft.com/office/drawing/2014/main" id="{6ABFBC9D-29DD-D239-CEB9-DB5B39EC6232}"/>
              </a:ext>
            </a:extLst>
          </p:cNvPr>
          <p:cNvSpPr/>
          <p:nvPr/>
        </p:nvSpPr>
        <p:spPr>
          <a:xfrm>
            <a:off x="5303838" y="3913188"/>
            <a:ext cx="3429000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0EA5E9"/>
                </a:solidFill>
                <a:latin typeface="Calibri"/>
              </a:rPr>
              <a:t>Human-in-the-Loop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2" name="Text 33">
            <a:extLst>
              <a:ext uri="{FF2B5EF4-FFF2-40B4-BE49-F238E27FC236}">
                <a16:creationId xmlns:a16="http://schemas.microsoft.com/office/drawing/2014/main" id="{C4FD11A9-1198-EEBB-1264-F60E4D8689B1}"/>
              </a:ext>
            </a:extLst>
          </p:cNvPr>
          <p:cNvSpPr/>
          <p:nvPr/>
        </p:nvSpPr>
        <p:spPr>
          <a:xfrm>
            <a:off x="5303838" y="4206875"/>
            <a:ext cx="3429000" cy="3841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spc="-1">
                <a:solidFill>
                  <a:srgbClr val="0C4A6E"/>
                </a:solidFill>
                <a:latin typeface="Calibri"/>
              </a:rPr>
              <a:t>Interrupt before respond_node, update state manually, resume graph</a:t>
            </a:r>
            <a:endParaRPr lang="en-US" sz="1050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8708" name="Picture 1">
            <a:extLst>
              <a:ext uri="{FF2B5EF4-FFF2-40B4-BE49-F238E27FC236}">
                <a16:creationId xmlns:a16="http://schemas.microsoft.com/office/drawing/2014/main" id="{0270D6FB-49C0-2DF5-C9DB-E0BC31E9C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93675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0">
            <a:extLst>
              <a:ext uri="{FF2B5EF4-FFF2-40B4-BE49-F238E27FC236}">
                <a16:creationId xmlns:a16="http://schemas.microsoft.com/office/drawing/2014/main" id="{3553E809-9D26-7F0A-86D4-8B26E0BC0543}"/>
              </a:ext>
            </a:extLst>
          </p:cNvPr>
          <p:cNvSpPr/>
          <p:nvPr/>
        </p:nvSpPr>
        <p:spPr>
          <a:xfrm>
            <a:off x="0" y="0"/>
            <a:ext cx="9144000" cy="55563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640" rIns="90000" bIns="86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5" name="Text 1">
            <a:extLst>
              <a:ext uri="{FF2B5EF4-FFF2-40B4-BE49-F238E27FC236}">
                <a16:creationId xmlns:a16="http://schemas.microsoft.com/office/drawing/2014/main" id="{1838397F-47F3-CDD4-3C5F-75AA155C5E74}"/>
              </a:ext>
            </a:extLst>
          </p:cNvPr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>
                <a:solidFill>
                  <a:srgbClr val="0EA5E9"/>
                </a:solidFill>
                <a:latin typeface="Calibri"/>
              </a:rPr>
              <a:t>SECTION 3</a:t>
            </a:r>
            <a:endParaRPr lang="en-US" sz="14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6" name="Text 2">
            <a:extLst>
              <a:ext uri="{FF2B5EF4-FFF2-40B4-BE49-F238E27FC236}">
                <a16:creationId xmlns:a16="http://schemas.microsoft.com/office/drawing/2014/main" id="{7ABF9FD9-C4D4-70AD-284A-26AB62ECBD5C}"/>
              </a:ext>
            </a:extLst>
          </p:cNvPr>
          <p:cNvSpPr/>
          <p:nvPr/>
        </p:nvSpPr>
        <p:spPr>
          <a:xfrm>
            <a:off x="457200" y="1874838"/>
            <a:ext cx="8229600" cy="822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4400" b="1" spc="-1">
                <a:solidFill>
                  <a:srgbClr val="1E3A8A"/>
                </a:solidFill>
                <a:latin typeface="Calibri"/>
              </a:rPr>
              <a:t>AutoGen</a:t>
            </a:r>
            <a:endParaRPr lang="en-US" sz="44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7" name="Text 3">
            <a:extLst>
              <a:ext uri="{FF2B5EF4-FFF2-40B4-BE49-F238E27FC236}">
                <a16:creationId xmlns:a16="http://schemas.microsoft.com/office/drawing/2014/main" id="{D595380D-D089-4E03-79BF-871D8CF414C6}"/>
              </a:ext>
            </a:extLst>
          </p:cNvPr>
          <p:cNvSpPr/>
          <p:nvPr/>
        </p:nvSpPr>
        <p:spPr>
          <a:xfrm>
            <a:off x="457200" y="2789238"/>
            <a:ext cx="8229600" cy="365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i="1" spc="-1">
                <a:solidFill>
                  <a:srgbClr val="0C4A6E"/>
                </a:solidFill>
                <a:latin typeface="Calibri"/>
              </a:rPr>
              <a:t>Conversational Multi-Agent Framework</a:t>
            </a:r>
            <a:endParaRPr lang="en-US" sz="1600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0726" name="Picture 1">
            <a:extLst>
              <a:ext uri="{FF2B5EF4-FFF2-40B4-BE49-F238E27FC236}">
                <a16:creationId xmlns:a16="http://schemas.microsoft.com/office/drawing/2014/main" id="{8477B0CD-DE4D-66C4-08FA-86648F7FC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93675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0">
            <a:extLst>
              <a:ext uri="{FF2B5EF4-FFF2-40B4-BE49-F238E27FC236}">
                <a16:creationId xmlns:a16="http://schemas.microsoft.com/office/drawing/2014/main" id="{F6D47428-4F30-EC2E-0668-0C32AD818029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0" name="Text 1">
            <a:extLst>
              <a:ext uri="{FF2B5EF4-FFF2-40B4-BE49-F238E27FC236}">
                <a16:creationId xmlns:a16="http://schemas.microsoft.com/office/drawing/2014/main" id="{F565087F-9F6F-13D4-F071-B4995A61BBE5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>
                <a:solidFill>
                  <a:srgbClr val="1E3A8A"/>
                </a:solidFill>
                <a:latin typeface="Calibri"/>
              </a:rPr>
              <a:t>AUTOGEN</a:t>
            </a:r>
            <a:endParaRPr lang="en-US" sz="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1" name="Text 2">
            <a:extLst>
              <a:ext uri="{FF2B5EF4-FFF2-40B4-BE49-F238E27FC236}">
                <a16:creationId xmlns:a16="http://schemas.microsoft.com/office/drawing/2014/main" id="{4B47DC35-172C-2462-2601-2289D94489C4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400" b="1" spc="-1">
                <a:solidFill>
                  <a:srgbClr val="1E3A8A"/>
                </a:solidFill>
                <a:latin typeface="Calibri"/>
              </a:rPr>
              <a:t>Why AutoGen?</a:t>
            </a:r>
            <a:endParaRPr lang="en-US" sz="24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2" name="Text 3">
            <a:extLst>
              <a:ext uri="{FF2B5EF4-FFF2-40B4-BE49-F238E27FC236}">
                <a16:creationId xmlns:a16="http://schemas.microsoft.com/office/drawing/2014/main" id="{011621D2-BFEB-41F1-2C90-2CF23C276D04}"/>
              </a:ext>
            </a:extLst>
          </p:cNvPr>
          <p:cNvSpPr/>
          <p:nvPr/>
        </p:nvSpPr>
        <p:spPr>
          <a:xfrm>
            <a:off x="457200" y="960438"/>
            <a:ext cx="8229600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spc="-1" dirty="0" err="1">
                <a:solidFill>
                  <a:srgbClr val="1E3A8A"/>
                </a:solidFill>
                <a:latin typeface="Calibri"/>
              </a:rPr>
              <a:t>AutoGen</a:t>
            </a:r>
            <a:r>
              <a:rPr lang="en-US" sz="1300" spc="-1" dirty="0">
                <a:solidFill>
                  <a:srgbClr val="1E3A8A"/>
                </a:solidFill>
                <a:latin typeface="Calibri"/>
              </a:rPr>
              <a:t> enables multi-agent conversations each agent has a role, memory, and can execute code.</a:t>
            </a:r>
            <a:endParaRPr lang="en-US" sz="13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3" name="Shape 4">
            <a:extLst>
              <a:ext uri="{FF2B5EF4-FFF2-40B4-BE49-F238E27FC236}">
                <a16:creationId xmlns:a16="http://schemas.microsoft.com/office/drawing/2014/main" id="{2A7BC7F5-A581-DAFD-C461-B4279ED605A7}"/>
              </a:ext>
            </a:extLst>
          </p:cNvPr>
          <p:cNvSpPr/>
          <p:nvPr/>
        </p:nvSpPr>
        <p:spPr>
          <a:xfrm>
            <a:off x="411163" y="1371600"/>
            <a:ext cx="411480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4" name="Shape 5">
            <a:extLst>
              <a:ext uri="{FF2B5EF4-FFF2-40B4-BE49-F238E27FC236}">
                <a16:creationId xmlns:a16="http://schemas.microsoft.com/office/drawing/2014/main" id="{47141A26-111A-BBB9-F93A-B338028B3337}"/>
              </a:ext>
            </a:extLst>
          </p:cNvPr>
          <p:cNvSpPr/>
          <p:nvPr/>
        </p:nvSpPr>
        <p:spPr>
          <a:xfrm>
            <a:off x="411163" y="1371600"/>
            <a:ext cx="55562" cy="1600200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5" name="Text 6">
            <a:extLst>
              <a:ext uri="{FF2B5EF4-FFF2-40B4-BE49-F238E27FC236}">
                <a16:creationId xmlns:a16="http://schemas.microsoft.com/office/drawing/2014/main" id="{8AAF19C4-F706-1FF0-372D-1B65AF6621DE}"/>
              </a:ext>
            </a:extLst>
          </p:cNvPr>
          <p:cNvSpPr/>
          <p:nvPr/>
        </p:nvSpPr>
        <p:spPr>
          <a:xfrm>
            <a:off x="576263" y="1463675"/>
            <a:ext cx="3859212" cy="255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1E3A8A"/>
                </a:solidFill>
                <a:latin typeface="Calibri"/>
                <a:ea typeface="Calibri"/>
              </a:rPr>
              <a:t>Conversational Coordination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6" name="Text 7">
            <a:extLst>
              <a:ext uri="{FF2B5EF4-FFF2-40B4-BE49-F238E27FC236}">
                <a16:creationId xmlns:a16="http://schemas.microsoft.com/office/drawing/2014/main" id="{168AD9D2-57FC-DD68-8918-747B448D481A}"/>
              </a:ext>
            </a:extLst>
          </p:cNvPr>
          <p:cNvSpPr/>
          <p:nvPr/>
        </p:nvSpPr>
        <p:spPr>
          <a:xfrm>
            <a:off x="576263" y="1719263"/>
            <a:ext cx="3859212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spc="-1" dirty="0">
                <a:solidFill>
                  <a:srgbClr val="1E3A8A"/>
                </a:solidFill>
                <a:latin typeface="Calibri"/>
                <a:ea typeface="Calibri"/>
              </a:rPr>
              <a:t>Agents talk to each other via natural language messages - no explicit graph wiring required. Flexible and dynamic.</a:t>
            </a:r>
            <a:endParaRPr lang="en-US" sz="115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7" name="Shape 8">
            <a:extLst>
              <a:ext uri="{FF2B5EF4-FFF2-40B4-BE49-F238E27FC236}">
                <a16:creationId xmlns:a16="http://schemas.microsoft.com/office/drawing/2014/main" id="{488EAE06-3F14-D6D6-4DB5-765D1968A112}"/>
              </a:ext>
            </a:extLst>
          </p:cNvPr>
          <p:cNvSpPr/>
          <p:nvPr/>
        </p:nvSpPr>
        <p:spPr>
          <a:xfrm>
            <a:off x="4708525" y="1371600"/>
            <a:ext cx="411480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8" name="Shape 9">
            <a:extLst>
              <a:ext uri="{FF2B5EF4-FFF2-40B4-BE49-F238E27FC236}">
                <a16:creationId xmlns:a16="http://schemas.microsoft.com/office/drawing/2014/main" id="{04779F5C-1471-E682-F3DE-43CFD4DF6583}"/>
              </a:ext>
            </a:extLst>
          </p:cNvPr>
          <p:cNvSpPr/>
          <p:nvPr/>
        </p:nvSpPr>
        <p:spPr>
          <a:xfrm>
            <a:off x="4708525" y="1371600"/>
            <a:ext cx="55563" cy="1600200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9" name="Text 10">
            <a:extLst>
              <a:ext uri="{FF2B5EF4-FFF2-40B4-BE49-F238E27FC236}">
                <a16:creationId xmlns:a16="http://schemas.microsoft.com/office/drawing/2014/main" id="{2E80D551-A7D6-F851-1743-7FC76AEBE697}"/>
              </a:ext>
            </a:extLst>
          </p:cNvPr>
          <p:cNvSpPr/>
          <p:nvPr/>
        </p:nvSpPr>
        <p:spPr>
          <a:xfrm>
            <a:off x="4873625" y="1463675"/>
            <a:ext cx="3859213" cy="255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  <a:ea typeface="Calibri"/>
              </a:rPr>
              <a:t>Built-in Code Execution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0" name="Text 11">
            <a:extLst>
              <a:ext uri="{FF2B5EF4-FFF2-40B4-BE49-F238E27FC236}">
                <a16:creationId xmlns:a16="http://schemas.microsoft.com/office/drawing/2014/main" id="{38B13344-CBE6-31E8-7F73-D458B9FB9CD8}"/>
              </a:ext>
            </a:extLst>
          </p:cNvPr>
          <p:cNvSpPr/>
          <p:nvPr/>
        </p:nvSpPr>
        <p:spPr>
          <a:xfrm>
            <a:off x="4873625" y="1719263"/>
            <a:ext cx="3859213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spc="-1" dirty="0" err="1">
                <a:solidFill>
                  <a:srgbClr val="1E3A8A"/>
                </a:solidFill>
                <a:latin typeface="Calibri"/>
                <a:ea typeface="Calibri"/>
              </a:rPr>
              <a:t>UserProxyAgent</a:t>
            </a:r>
            <a:r>
              <a:rPr lang="en-US" sz="1150" spc="-1" dirty="0">
                <a:solidFill>
                  <a:srgbClr val="1E3A8A"/>
                </a:solidFill>
                <a:latin typeface="Calibri"/>
                <a:ea typeface="Calibri"/>
              </a:rPr>
              <a:t> auto-runs Python code blocks in a sandboxed environment - no manual execution steps.</a:t>
            </a:r>
            <a:endParaRPr lang="en-US" sz="115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1" name="Shape 12">
            <a:extLst>
              <a:ext uri="{FF2B5EF4-FFF2-40B4-BE49-F238E27FC236}">
                <a16:creationId xmlns:a16="http://schemas.microsoft.com/office/drawing/2014/main" id="{E37BB8AD-F796-5022-C3D7-B968953B2A52}"/>
              </a:ext>
            </a:extLst>
          </p:cNvPr>
          <p:cNvSpPr/>
          <p:nvPr/>
        </p:nvSpPr>
        <p:spPr>
          <a:xfrm>
            <a:off x="411163" y="3200400"/>
            <a:ext cx="411480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2" name="Shape 13">
            <a:extLst>
              <a:ext uri="{FF2B5EF4-FFF2-40B4-BE49-F238E27FC236}">
                <a16:creationId xmlns:a16="http://schemas.microsoft.com/office/drawing/2014/main" id="{0FD4DD75-2251-7FA7-5A60-46CF42C27F6E}"/>
              </a:ext>
            </a:extLst>
          </p:cNvPr>
          <p:cNvSpPr/>
          <p:nvPr/>
        </p:nvSpPr>
        <p:spPr>
          <a:xfrm>
            <a:off x="411163" y="3200400"/>
            <a:ext cx="55562" cy="1600200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3" name="Text 14">
            <a:extLst>
              <a:ext uri="{FF2B5EF4-FFF2-40B4-BE49-F238E27FC236}">
                <a16:creationId xmlns:a16="http://schemas.microsoft.com/office/drawing/2014/main" id="{09E23062-915A-B8FD-B865-E41EC4142376}"/>
              </a:ext>
            </a:extLst>
          </p:cNvPr>
          <p:cNvSpPr/>
          <p:nvPr/>
        </p:nvSpPr>
        <p:spPr>
          <a:xfrm>
            <a:off x="576263" y="3292475"/>
            <a:ext cx="3859212" cy="255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  <a:ea typeface="Calibri"/>
              </a:rPr>
              <a:t>Role-Based Architecture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4" name="Text 15">
            <a:extLst>
              <a:ext uri="{FF2B5EF4-FFF2-40B4-BE49-F238E27FC236}">
                <a16:creationId xmlns:a16="http://schemas.microsoft.com/office/drawing/2014/main" id="{25CB8D15-4F2D-7FFC-C6F8-EB095BA735D0}"/>
              </a:ext>
            </a:extLst>
          </p:cNvPr>
          <p:cNvSpPr/>
          <p:nvPr/>
        </p:nvSpPr>
        <p:spPr>
          <a:xfrm>
            <a:off x="576263" y="3548063"/>
            <a:ext cx="3859212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spc="-1">
                <a:solidFill>
                  <a:srgbClr val="1E3A8A"/>
                </a:solidFill>
                <a:latin typeface="Calibri"/>
                <a:ea typeface="Calibri"/>
              </a:rPr>
              <a:t>Each AssistantAgent gets a precise system_message defining their expertise. Specialisation drives quality.</a:t>
            </a:r>
            <a:endParaRPr lang="en-US" sz="11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5" name="Shape 16">
            <a:extLst>
              <a:ext uri="{FF2B5EF4-FFF2-40B4-BE49-F238E27FC236}">
                <a16:creationId xmlns:a16="http://schemas.microsoft.com/office/drawing/2014/main" id="{8D1B2DD0-FC96-6F3C-2CE8-F6CC3271D295}"/>
              </a:ext>
            </a:extLst>
          </p:cNvPr>
          <p:cNvSpPr/>
          <p:nvPr/>
        </p:nvSpPr>
        <p:spPr>
          <a:xfrm>
            <a:off x="4708525" y="3200400"/>
            <a:ext cx="411480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6" name="Shape 17">
            <a:extLst>
              <a:ext uri="{FF2B5EF4-FFF2-40B4-BE49-F238E27FC236}">
                <a16:creationId xmlns:a16="http://schemas.microsoft.com/office/drawing/2014/main" id="{6F912EE6-3280-66BF-04F0-899F297A23FE}"/>
              </a:ext>
            </a:extLst>
          </p:cNvPr>
          <p:cNvSpPr/>
          <p:nvPr/>
        </p:nvSpPr>
        <p:spPr>
          <a:xfrm>
            <a:off x="4708525" y="3200400"/>
            <a:ext cx="55563" cy="1600200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7" name="Text 18">
            <a:extLst>
              <a:ext uri="{FF2B5EF4-FFF2-40B4-BE49-F238E27FC236}">
                <a16:creationId xmlns:a16="http://schemas.microsoft.com/office/drawing/2014/main" id="{DDD0F713-44F1-0894-DF10-4A0B3C08D22A}"/>
              </a:ext>
            </a:extLst>
          </p:cNvPr>
          <p:cNvSpPr/>
          <p:nvPr/>
        </p:nvSpPr>
        <p:spPr>
          <a:xfrm>
            <a:off x="4873625" y="3292475"/>
            <a:ext cx="3859213" cy="255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  <a:ea typeface="Calibri"/>
              </a:rPr>
              <a:t>Rapid Prototyping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8" name="Text 19">
            <a:extLst>
              <a:ext uri="{FF2B5EF4-FFF2-40B4-BE49-F238E27FC236}">
                <a16:creationId xmlns:a16="http://schemas.microsoft.com/office/drawing/2014/main" id="{BFB3AA10-A177-A416-A3E7-7C05EE51DE37}"/>
              </a:ext>
            </a:extLst>
          </p:cNvPr>
          <p:cNvSpPr/>
          <p:nvPr/>
        </p:nvSpPr>
        <p:spPr>
          <a:xfrm>
            <a:off x="4873625" y="3548063"/>
            <a:ext cx="3859213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spc="-1">
                <a:solidFill>
                  <a:srgbClr val="1E3A8A"/>
                </a:solidFill>
                <a:latin typeface="Calibri"/>
                <a:ea typeface="Calibri"/>
              </a:rPr>
              <a:t>Set up a 5-agent research team in under 30 lines. GroupChat manages turn-taking and termination automatically.</a:t>
            </a:r>
            <a:endParaRPr lang="en-US" sz="1150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2790" name="Picture 1">
            <a:extLst>
              <a:ext uri="{FF2B5EF4-FFF2-40B4-BE49-F238E27FC236}">
                <a16:creationId xmlns:a16="http://schemas.microsoft.com/office/drawing/2014/main" id="{84A89B92-438D-504C-52EE-C7812709D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7638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" grpId="0" animBg="1"/>
      <p:bldP spid="404" grpId="0" animBg="1"/>
      <p:bldP spid="405" grpId="0"/>
      <p:bldP spid="406" grpId="0"/>
      <p:bldP spid="407" grpId="0" animBg="1"/>
      <p:bldP spid="408" grpId="0" animBg="1"/>
      <p:bldP spid="409" grpId="0"/>
      <p:bldP spid="410" grpId="0"/>
      <p:bldP spid="411" grpId="0" animBg="1"/>
      <p:bldP spid="412" grpId="0" animBg="1"/>
      <p:bldP spid="413" grpId="0"/>
      <p:bldP spid="414" grpId="0"/>
      <p:bldP spid="415" grpId="0" animBg="1"/>
      <p:bldP spid="416" grpId="0" animBg="1"/>
      <p:bldP spid="417" grpId="0"/>
      <p:bldP spid="4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0">
            <a:extLst>
              <a:ext uri="{FF2B5EF4-FFF2-40B4-BE49-F238E27FC236}">
                <a16:creationId xmlns:a16="http://schemas.microsoft.com/office/drawing/2014/main" id="{F31BB9D7-C70E-F0D0-4C2D-6161FA712244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1" name="Text 1">
            <a:extLst>
              <a:ext uri="{FF2B5EF4-FFF2-40B4-BE49-F238E27FC236}">
                <a16:creationId xmlns:a16="http://schemas.microsoft.com/office/drawing/2014/main" id="{C0C68453-4778-31CF-F91C-5EF0AD52BEB9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>
                <a:solidFill>
                  <a:srgbClr val="1E3A8A"/>
                </a:solidFill>
                <a:latin typeface="Calibri"/>
              </a:rPr>
              <a:t>AUTOGEN</a:t>
            </a:r>
            <a:endParaRPr lang="en-US" sz="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2" name="Text 2">
            <a:extLst>
              <a:ext uri="{FF2B5EF4-FFF2-40B4-BE49-F238E27FC236}">
                <a16:creationId xmlns:a16="http://schemas.microsoft.com/office/drawing/2014/main" id="{55729528-8070-C612-6AFB-BDD1F0ECF65C}"/>
              </a:ext>
            </a:extLst>
          </p:cNvPr>
          <p:cNvSpPr/>
          <p:nvPr/>
        </p:nvSpPr>
        <p:spPr>
          <a:xfrm>
            <a:off x="433388" y="430213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200" b="1" spc="-1" dirty="0" err="1">
                <a:solidFill>
                  <a:srgbClr val="1E3A8A"/>
                </a:solidFill>
                <a:latin typeface="Calibri"/>
              </a:rPr>
              <a:t>AutoGen</a:t>
            </a:r>
            <a:r>
              <a:rPr lang="en-US" sz="2200" b="1" spc="-1" dirty="0">
                <a:solidFill>
                  <a:srgbClr val="1E3A8A"/>
                </a:solidFill>
                <a:latin typeface="Calibri"/>
              </a:rPr>
              <a:t> Architecture</a:t>
            </a:r>
            <a:endParaRPr lang="en-US" sz="2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3" name="Text 3">
            <a:extLst>
              <a:ext uri="{FF2B5EF4-FFF2-40B4-BE49-F238E27FC236}">
                <a16:creationId xmlns:a16="http://schemas.microsoft.com/office/drawing/2014/main" id="{9431F03F-EC36-B216-94C8-429B5C819BA9}"/>
              </a:ext>
            </a:extLst>
          </p:cNvPr>
          <p:cNvSpPr/>
          <p:nvPr/>
        </p:nvSpPr>
        <p:spPr>
          <a:xfrm>
            <a:off x="457200" y="852488"/>
            <a:ext cx="8229600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spc="-1" dirty="0">
                <a:solidFill>
                  <a:srgbClr val="1E3A8A"/>
                </a:solidFill>
                <a:latin typeface="Calibri"/>
              </a:rPr>
              <a:t>Agents, Proxy, Group Chat - how </a:t>
            </a:r>
            <a:r>
              <a:rPr lang="en-US" sz="1300" spc="-1" dirty="0" err="1">
                <a:solidFill>
                  <a:srgbClr val="1E3A8A"/>
                </a:solidFill>
                <a:latin typeface="Calibri"/>
              </a:rPr>
              <a:t>AutoGen's</a:t>
            </a:r>
            <a:r>
              <a:rPr lang="en-US" sz="1300" spc="-1" dirty="0">
                <a:solidFill>
                  <a:srgbClr val="1E3A8A"/>
                </a:solidFill>
                <a:latin typeface="Calibri"/>
              </a:rPr>
              <a:t> components fit together:</a:t>
            </a:r>
            <a:endParaRPr lang="en-US" sz="13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4" name="Shape 4">
            <a:extLst>
              <a:ext uri="{FF2B5EF4-FFF2-40B4-BE49-F238E27FC236}">
                <a16:creationId xmlns:a16="http://schemas.microsoft.com/office/drawing/2014/main" id="{162E9B7E-5533-0E62-6543-C1AA9918EA39}"/>
              </a:ext>
            </a:extLst>
          </p:cNvPr>
          <p:cNvSpPr/>
          <p:nvPr/>
        </p:nvSpPr>
        <p:spPr>
          <a:xfrm>
            <a:off x="265113" y="1100138"/>
            <a:ext cx="8766175" cy="2882900"/>
          </a:xfrm>
          <a:prstGeom prst="rect">
            <a:avLst/>
          </a:prstGeom>
          <a:solidFill>
            <a:srgbClr val="F8F4FF"/>
          </a:solidFill>
          <a:ln w="19080">
            <a:solidFill>
              <a:srgbClr val="CE93D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5" name="Text 5">
            <a:extLst>
              <a:ext uri="{FF2B5EF4-FFF2-40B4-BE49-F238E27FC236}">
                <a16:creationId xmlns:a16="http://schemas.microsoft.com/office/drawing/2014/main" id="{59417C46-61C0-C048-A2CA-90CB92E68A94}"/>
              </a:ext>
            </a:extLst>
          </p:cNvPr>
          <p:cNvSpPr/>
          <p:nvPr/>
        </p:nvSpPr>
        <p:spPr>
          <a:xfrm>
            <a:off x="3722688" y="3092450"/>
            <a:ext cx="1828800" cy="2746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0">
            <a:noFill/>
          </a:ln>
          <a:effectLst>
            <a:outerShdw dist="38183" dir="27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>
                <a:solidFill>
                  <a:schemeClr val="bg1"/>
                </a:solidFill>
                <a:latin typeface="Calibri"/>
              </a:rPr>
              <a:t>GroupChat</a:t>
            </a:r>
            <a:endParaRPr lang="en-US" sz="10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27" name="Text 8">
            <a:extLst>
              <a:ext uri="{FF2B5EF4-FFF2-40B4-BE49-F238E27FC236}">
                <a16:creationId xmlns:a16="http://schemas.microsoft.com/office/drawing/2014/main" id="{359E9BEA-07B5-D855-D731-0E9A0AED6CEE}"/>
              </a:ext>
            </a:extLst>
          </p:cNvPr>
          <p:cNvSpPr/>
          <p:nvPr/>
        </p:nvSpPr>
        <p:spPr>
          <a:xfrm>
            <a:off x="552450" y="1958975"/>
            <a:ext cx="1439863" cy="7191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b="1" spc="-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Researcher</a:t>
            </a:r>
            <a:endParaRPr lang="en-US" sz="1050" spc="-1" dirty="0">
              <a:solidFill>
                <a:schemeClr val="accent2">
                  <a:lumMod val="75000"/>
                </a:schemeClr>
              </a:solidFill>
              <a:latin typeface="Calibri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b="1" spc="-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Assistant Agent</a:t>
            </a:r>
            <a:endParaRPr lang="en-US" sz="1050" spc="-1" dirty="0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429" name="Text 10">
            <a:extLst>
              <a:ext uri="{FF2B5EF4-FFF2-40B4-BE49-F238E27FC236}">
                <a16:creationId xmlns:a16="http://schemas.microsoft.com/office/drawing/2014/main" id="{E012AD36-F774-A196-A86A-DA6681BE278C}"/>
              </a:ext>
            </a:extLst>
          </p:cNvPr>
          <p:cNvSpPr/>
          <p:nvPr/>
        </p:nvSpPr>
        <p:spPr>
          <a:xfrm>
            <a:off x="2187575" y="1962150"/>
            <a:ext cx="1441450" cy="719138"/>
          </a:xfrm>
          <a:prstGeom prst="rect">
            <a:avLst/>
          </a:prstGeom>
          <a:solidFill>
            <a:srgbClr val="00B0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b="1" spc="-1" dirty="0">
                <a:solidFill>
                  <a:schemeClr val="bg1"/>
                </a:solidFill>
                <a:latin typeface="Calibri"/>
              </a:rPr>
              <a:t>Analyst</a:t>
            </a:r>
            <a:endParaRPr lang="en-US" sz="1050" spc="-1" dirty="0">
              <a:solidFill>
                <a:schemeClr val="bg1"/>
              </a:solidFill>
              <a:latin typeface="Calibri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b="1" spc="-1" dirty="0">
                <a:solidFill>
                  <a:schemeClr val="bg1"/>
                </a:solidFill>
                <a:latin typeface="Calibri"/>
              </a:rPr>
              <a:t>Assistant Agent</a:t>
            </a:r>
            <a:endParaRPr lang="en-US" sz="105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31" name="Text 12">
            <a:extLst>
              <a:ext uri="{FF2B5EF4-FFF2-40B4-BE49-F238E27FC236}">
                <a16:creationId xmlns:a16="http://schemas.microsoft.com/office/drawing/2014/main" id="{147360B4-01FA-2BAD-6A1C-C5BC10549CED}"/>
              </a:ext>
            </a:extLst>
          </p:cNvPr>
          <p:cNvSpPr/>
          <p:nvPr/>
        </p:nvSpPr>
        <p:spPr>
          <a:xfrm>
            <a:off x="3916363" y="1960563"/>
            <a:ext cx="1439862" cy="71913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b="1" spc="-1" dirty="0">
                <a:solidFill>
                  <a:schemeClr val="bg1"/>
                </a:solidFill>
                <a:latin typeface="Calibri"/>
              </a:rPr>
              <a:t>Writer</a:t>
            </a:r>
            <a:endParaRPr lang="en-US" sz="1050" spc="-1" dirty="0">
              <a:solidFill>
                <a:schemeClr val="bg1"/>
              </a:solidFill>
              <a:latin typeface="Calibri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b="1" spc="-1" dirty="0">
                <a:solidFill>
                  <a:schemeClr val="bg1"/>
                </a:solidFill>
                <a:latin typeface="Calibri"/>
              </a:rPr>
              <a:t>Assistant Agent</a:t>
            </a:r>
            <a:endParaRPr lang="en-US" sz="105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33" name="Text 14">
            <a:extLst>
              <a:ext uri="{FF2B5EF4-FFF2-40B4-BE49-F238E27FC236}">
                <a16:creationId xmlns:a16="http://schemas.microsoft.com/office/drawing/2014/main" id="{BBE378FC-17EC-BFC3-C122-0DAD4A01A487}"/>
              </a:ext>
            </a:extLst>
          </p:cNvPr>
          <p:cNvSpPr/>
          <p:nvPr/>
        </p:nvSpPr>
        <p:spPr>
          <a:xfrm>
            <a:off x="5646738" y="1962150"/>
            <a:ext cx="1439862" cy="7191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b="1" spc="-1" dirty="0">
                <a:solidFill>
                  <a:schemeClr val="bg1"/>
                </a:solidFill>
                <a:latin typeface="Calibri"/>
              </a:rPr>
              <a:t>Critic</a:t>
            </a:r>
            <a:endParaRPr lang="en-US" sz="1050" spc="-1" dirty="0">
              <a:solidFill>
                <a:schemeClr val="bg1"/>
              </a:solidFill>
              <a:latin typeface="Calibri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b="1" spc="-1" dirty="0">
                <a:solidFill>
                  <a:schemeClr val="bg1"/>
                </a:solidFill>
                <a:latin typeface="Calibri"/>
              </a:rPr>
              <a:t>Assistant Agent</a:t>
            </a:r>
            <a:endParaRPr lang="en-US" sz="105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35" name="Text 16">
            <a:extLst>
              <a:ext uri="{FF2B5EF4-FFF2-40B4-BE49-F238E27FC236}">
                <a16:creationId xmlns:a16="http://schemas.microsoft.com/office/drawing/2014/main" id="{D79A19C2-E8E0-8391-C7CC-F85D9D879659}"/>
              </a:ext>
            </a:extLst>
          </p:cNvPr>
          <p:cNvSpPr/>
          <p:nvPr/>
        </p:nvSpPr>
        <p:spPr>
          <a:xfrm>
            <a:off x="7377113" y="1962150"/>
            <a:ext cx="1439862" cy="71913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b="1" spc="-1" dirty="0" err="1">
                <a:solidFill>
                  <a:schemeClr val="bg1"/>
                </a:solidFill>
                <a:latin typeface="Calibri"/>
              </a:rPr>
              <a:t>UserProxy</a:t>
            </a:r>
            <a:endParaRPr lang="en-US" sz="1050" spc="-1" dirty="0">
              <a:solidFill>
                <a:schemeClr val="bg1"/>
              </a:solidFill>
              <a:latin typeface="Calibri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b="1" spc="-1" dirty="0">
                <a:solidFill>
                  <a:schemeClr val="bg1"/>
                </a:solidFill>
                <a:latin typeface="Calibri"/>
              </a:rPr>
              <a:t>Agent</a:t>
            </a:r>
            <a:endParaRPr lang="en-US" sz="105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36" name="Text 17">
            <a:extLst>
              <a:ext uri="{FF2B5EF4-FFF2-40B4-BE49-F238E27FC236}">
                <a16:creationId xmlns:a16="http://schemas.microsoft.com/office/drawing/2014/main" id="{26DCF2BC-0AD9-A4D1-44B9-D9EF773F9D6A}"/>
              </a:ext>
            </a:extLst>
          </p:cNvPr>
          <p:cNvSpPr/>
          <p:nvPr/>
        </p:nvSpPr>
        <p:spPr>
          <a:xfrm>
            <a:off x="1917700" y="2274888"/>
            <a:ext cx="306388" cy="7191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7" name="Shape 21">
            <a:extLst>
              <a:ext uri="{FF2B5EF4-FFF2-40B4-BE49-F238E27FC236}">
                <a16:creationId xmlns:a16="http://schemas.microsoft.com/office/drawing/2014/main" id="{95B7CD20-25FE-77E5-5975-07F139627FD4}"/>
              </a:ext>
            </a:extLst>
          </p:cNvPr>
          <p:cNvSpPr/>
          <p:nvPr/>
        </p:nvSpPr>
        <p:spPr>
          <a:xfrm>
            <a:off x="355600" y="4044950"/>
            <a:ext cx="2011363" cy="1017588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8" name="Shape 22">
            <a:extLst>
              <a:ext uri="{FF2B5EF4-FFF2-40B4-BE49-F238E27FC236}">
                <a16:creationId xmlns:a16="http://schemas.microsoft.com/office/drawing/2014/main" id="{65D755C7-3522-1AD7-D450-3E874412AAF8}"/>
              </a:ext>
            </a:extLst>
          </p:cNvPr>
          <p:cNvSpPr/>
          <p:nvPr/>
        </p:nvSpPr>
        <p:spPr>
          <a:xfrm>
            <a:off x="355600" y="4044950"/>
            <a:ext cx="2011363" cy="53975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9" name="Text 23">
            <a:extLst>
              <a:ext uri="{FF2B5EF4-FFF2-40B4-BE49-F238E27FC236}">
                <a16:creationId xmlns:a16="http://schemas.microsoft.com/office/drawing/2014/main" id="{735287A2-5640-E072-712C-AC391767AD0F}"/>
              </a:ext>
            </a:extLst>
          </p:cNvPr>
          <p:cNvSpPr/>
          <p:nvPr/>
        </p:nvSpPr>
        <p:spPr>
          <a:xfrm>
            <a:off x="447675" y="4127500"/>
            <a:ext cx="1828800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 err="1">
                <a:solidFill>
                  <a:srgbClr val="1E3A8A"/>
                </a:solidFill>
                <a:latin typeface="Calibri"/>
              </a:rPr>
              <a:t>AssistantAgent</a:t>
            </a:r>
            <a:endParaRPr lang="en-US" sz="10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0" name="Text 24">
            <a:extLst>
              <a:ext uri="{FF2B5EF4-FFF2-40B4-BE49-F238E27FC236}">
                <a16:creationId xmlns:a16="http://schemas.microsoft.com/office/drawing/2014/main" id="{AEF6EA75-0625-D34E-695A-EF9FA6DF759C}"/>
              </a:ext>
            </a:extLst>
          </p:cNvPr>
          <p:cNvSpPr/>
          <p:nvPr/>
        </p:nvSpPr>
        <p:spPr>
          <a:xfrm>
            <a:off x="447675" y="4364038"/>
            <a:ext cx="1828800" cy="5032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 dirty="0">
                <a:solidFill>
                  <a:srgbClr val="1E3A8A"/>
                </a:solidFill>
                <a:latin typeface="Calibri"/>
              </a:rPr>
              <a:t>Has LLM reasoning. Responds to messages, executes tasks, calls tools. Gets a precise </a:t>
            </a:r>
            <a:r>
              <a:rPr lang="en-US" sz="1000" spc="-1" dirty="0" err="1">
                <a:solidFill>
                  <a:srgbClr val="1E3A8A"/>
                </a:solidFill>
                <a:latin typeface="Calibri"/>
              </a:rPr>
              <a:t>system_message</a:t>
            </a:r>
            <a:r>
              <a:rPr lang="en-US" sz="1000" spc="-1" dirty="0">
                <a:solidFill>
                  <a:srgbClr val="1E3A8A"/>
                </a:solidFill>
                <a:latin typeface="Calibri"/>
              </a:rPr>
              <a:t>.</a:t>
            </a:r>
            <a:endParaRPr lang="en-US" sz="10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1" name="Shape 25">
            <a:extLst>
              <a:ext uri="{FF2B5EF4-FFF2-40B4-BE49-F238E27FC236}">
                <a16:creationId xmlns:a16="http://schemas.microsoft.com/office/drawing/2014/main" id="{3FF214F4-1AEE-79D9-486B-30397CA1F156}"/>
              </a:ext>
            </a:extLst>
          </p:cNvPr>
          <p:cNvSpPr/>
          <p:nvPr/>
        </p:nvSpPr>
        <p:spPr>
          <a:xfrm>
            <a:off x="2532063" y="4044950"/>
            <a:ext cx="2011362" cy="1017588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2" name="Shape 26">
            <a:extLst>
              <a:ext uri="{FF2B5EF4-FFF2-40B4-BE49-F238E27FC236}">
                <a16:creationId xmlns:a16="http://schemas.microsoft.com/office/drawing/2014/main" id="{ECE61393-2974-182E-C39A-E65484F41210}"/>
              </a:ext>
            </a:extLst>
          </p:cNvPr>
          <p:cNvSpPr/>
          <p:nvPr/>
        </p:nvSpPr>
        <p:spPr>
          <a:xfrm>
            <a:off x="2532063" y="4044950"/>
            <a:ext cx="2011362" cy="53975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3" name="Text 27">
            <a:extLst>
              <a:ext uri="{FF2B5EF4-FFF2-40B4-BE49-F238E27FC236}">
                <a16:creationId xmlns:a16="http://schemas.microsoft.com/office/drawing/2014/main" id="{A823241F-4340-198F-64A4-04CE7CA81696}"/>
              </a:ext>
            </a:extLst>
          </p:cNvPr>
          <p:cNvSpPr/>
          <p:nvPr/>
        </p:nvSpPr>
        <p:spPr>
          <a:xfrm>
            <a:off x="2624138" y="4127500"/>
            <a:ext cx="1828800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 err="1">
                <a:solidFill>
                  <a:srgbClr val="1E3A8A"/>
                </a:solidFill>
                <a:latin typeface="Calibri"/>
              </a:rPr>
              <a:t>UserProxyAgent</a:t>
            </a:r>
            <a:endParaRPr lang="en-US" sz="10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4" name="Text 28">
            <a:extLst>
              <a:ext uri="{FF2B5EF4-FFF2-40B4-BE49-F238E27FC236}">
                <a16:creationId xmlns:a16="http://schemas.microsoft.com/office/drawing/2014/main" id="{842A7895-47DC-5494-81F5-06FF6B9086F5}"/>
              </a:ext>
            </a:extLst>
          </p:cNvPr>
          <p:cNvSpPr/>
          <p:nvPr/>
        </p:nvSpPr>
        <p:spPr>
          <a:xfrm>
            <a:off x="2624138" y="4364038"/>
            <a:ext cx="1828800" cy="5032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 dirty="0">
                <a:solidFill>
                  <a:srgbClr val="1E3A8A"/>
                </a:solidFill>
                <a:latin typeface="Calibri"/>
              </a:rPr>
              <a:t>Represents the human. Auto-runs code blocks, injects TERMINATE when done, can ask for human input.</a:t>
            </a:r>
            <a:endParaRPr lang="en-US" sz="10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5" name="Shape 29">
            <a:extLst>
              <a:ext uri="{FF2B5EF4-FFF2-40B4-BE49-F238E27FC236}">
                <a16:creationId xmlns:a16="http://schemas.microsoft.com/office/drawing/2014/main" id="{E2E2499D-2FE6-D8E1-E882-25558C86C703}"/>
              </a:ext>
            </a:extLst>
          </p:cNvPr>
          <p:cNvSpPr/>
          <p:nvPr/>
        </p:nvSpPr>
        <p:spPr>
          <a:xfrm>
            <a:off x="4708525" y="4044950"/>
            <a:ext cx="2011363" cy="1017588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6" name="Shape 30">
            <a:extLst>
              <a:ext uri="{FF2B5EF4-FFF2-40B4-BE49-F238E27FC236}">
                <a16:creationId xmlns:a16="http://schemas.microsoft.com/office/drawing/2014/main" id="{7069FC2D-26A7-B03B-1406-0B311BDD0C7D}"/>
              </a:ext>
            </a:extLst>
          </p:cNvPr>
          <p:cNvSpPr/>
          <p:nvPr/>
        </p:nvSpPr>
        <p:spPr>
          <a:xfrm>
            <a:off x="4708525" y="4044950"/>
            <a:ext cx="2011363" cy="53975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7" name="Text 31">
            <a:extLst>
              <a:ext uri="{FF2B5EF4-FFF2-40B4-BE49-F238E27FC236}">
                <a16:creationId xmlns:a16="http://schemas.microsoft.com/office/drawing/2014/main" id="{BB46139F-82B7-7C77-1D10-E9DBE7B4F6CD}"/>
              </a:ext>
            </a:extLst>
          </p:cNvPr>
          <p:cNvSpPr/>
          <p:nvPr/>
        </p:nvSpPr>
        <p:spPr>
          <a:xfrm>
            <a:off x="4800600" y="4127500"/>
            <a:ext cx="1828800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 err="1">
                <a:solidFill>
                  <a:srgbClr val="1E3A8A"/>
                </a:solidFill>
                <a:latin typeface="Calibri"/>
              </a:rPr>
              <a:t>GroupChat</a:t>
            </a:r>
            <a:endParaRPr lang="en-US" sz="10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8" name="Text 32">
            <a:extLst>
              <a:ext uri="{FF2B5EF4-FFF2-40B4-BE49-F238E27FC236}">
                <a16:creationId xmlns:a16="http://schemas.microsoft.com/office/drawing/2014/main" id="{EC556414-D966-5B96-5A7F-A12197E1E838}"/>
              </a:ext>
            </a:extLst>
          </p:cNvPr>
          <p:cNvSpPr/>
          <p:nvPr/>
        </p:nvSpPr>
        <p:spPr>
          <a:xfrm>
            <a:off x="4800600" y="4364038"/>
            <a:ext cx="1828800" cy="5032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 dirty="0">
                <a:solidFill>
                  <a:srgbClr val="1E3A8A"/>
                </a:solidFill>
                <a:latin typeface="Calibri"/>
              </a:rPr>
              <a:t>The shared conversation space. All agents see all messages. </a:t>
            </a:r>
            <a:r>
              <a:rPr lang="en-US" sz="1000" spc="-1" dirty="0" err="1">
                <a:solidFill>
                  <a:srgbClr val="1E3A8A"/>
                </a:solidFill>
                <a:latin typeface="Calibri"/>
              </a:rPr>
              <a:t>GroupChatManager</a:t>
            </a:r>
            <a:r>
              <a:rPr lang="en-US" sz="1000" spc="-1" dirty="0">
                <a:solidFill>
                  <a:srgbClr val="1E3A8A"/>
                </a:solidFill>
                <a:latin typeface="Calibri"/>
              </a:rPr>
              <a:t> picks next speaker.</a:t>
            </a:r>
            <a:endParaRPr lang="en-US" sz="10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9" name="Shape 33">
            <a:extLst>
              <a:ext uri="{FF2B5EF4-FFF2-40B4-BE49-F238E27FC236}">
                <a16:creationId xmlns:a16="http://schemas.microsoft.com/office/drawing/2014/main" id="{841F7A23-3AB6-79DC-79EF-A568F8AD9462}"/>
              </a:ext>
            </a:extLst>
          </p:cNvPr>
          <p:cNvSpPr/>
          <p:nvPr/>
        </p:nvSpPr>
        <p:spPr>
          <a:xfrm>
            <a:off x="6884988" y="4044950"/>
            <a:ext cx="2011362" cy="1017588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0" name="Shape 34">
            <a:extLst>
              <a:ext uri="{FF2B5EF4-FFF2-40B4-BE49-F238E27FC236}">
                <a16:creationId xmlns:a16="http://schemas.microsoft.com/office/drawing/2014/main" id="{79A8E308-5E95-4D5D-46B5-F86B8349F182}"/>
              </a:ext>
            </a:extLst>
          </p:cNvPr>
          <p:cNvSpPr/>
          <p:nvPr/>
        </p:nvSpPr>
        <p:spPr>
          <a:xfrm>
            <a:off x="6884988" y="4044950"/>
            <a:ext cx="2011362" cy="53975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1" name="Text 35">
            <a:extLst>
              <a:ext uri="{FF2B5EF4-FFF2-40B4-BE49-F238E27FC236}">
                <a16:creationId xmlns:a16="http://schemas.microsoft.com/office/drawing/2014/main" id="{B22B04C3-6643-3998-4E57-5FBC69161733}"/>
              </a:ext>
            </a:extLst>
          </p:cNvPr>
          <p:cNvSpPr/>
          <p:nvPr/>
        </p:nvSpPr>
        <p:spPr>
          <a:xfrm>
            <a:off x="6975475" y="4127500"/>
            <a:ext cx="1828800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1E3A8A"/>
                </a:solidFill>
                <a:latin typeface="Calibri"/>
              </a:rPr>
              <a:t>Message History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2" name="Text 36">
            <a:extLst>
              <a:ext uri="{FF2B5EF4-FFF2-40B4-BE49-F238E27FC236}">
                <a16:creationId xmlns:a16="http://schemas.microsoft.com/office/drawing/2014/main" id="{C96709E2-9B8B-A026-7EF4-E78AAA26C22E}"/>
              </a:ext>
            </a:extLst>
          </p:cNvPr>
          <p:cNvSpPr/>
          <p:nvPr/>
        </p:nvSpPr>
        <p:spPr>
          <a:xfrm>
            <a:off x="6975475" y="4364038"/>
            <a:ext cx="1828800" cy="5032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 dirty="0">
                <a:solidFill>
                  <a:srgbClr val="1E3A8A"/>
                </a:solidFill>
                <a:latin typeface="Calibri"/>
              </a:rPr>
              <a:t>State in </a:t>
            </a:r>
            <a:r>
              <a:rPr lang="en-US" sz="1000" spc="-1" dirty="0" err="1">
                <a:solidFill>
                  <a:srgbClr val="1E3A8A"/>
                </a:solidFill>
                <a:latin typeface="Calibri"/>
              </a:rPr>
              <a:t>AutoGen</a:t>
            </a:r>
            <a:r>
              <a:rPr lang="en-US" sz="1000" spc="-1" dirty="0">
                <a:solidFill>
                  <a:srgbClr val="1E3A8A"/>
                </a:solidFill>
                <a:latin typeface="Calibri"/>
              </a:rPr>
              <a:t> = the full message history. Every agent reads from and writes to this shared log.</a:t>
            </a:r>
            <a:endParaRPr lang="en-US" sz="1000" spc="-1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34851" name="Straight Arrow Connector 35">
            <a:extLst>
              <a:ext uri="{FF2B5EF4-FFF2-40B4-BE49-F238E27FC236}">
                <a16:creationId xmlns:a16="http://schemas.microsoft.com/office/drawing/2014/main" id="{ECF03BA4-8CDA-49A4-9A51-122ABA6014BA}"/>
              </a:ext>
            </a:extLst>
          </p:cNvPr>
          <p:cNvCxnSpPr>
            <a:cxnSpLocks noChangeShapeType="1"/>
            <a:endCxn id="425" idx="1"/>
          </p:cNvCxnSpPr>
          <p:nvPr/>
        </p:nvCxnSpPr>
        <p:spPr bwMode="auto">
          <a:xfrm>
            <a:off x="1230313" y="2679700"/>
            <a:ext cx="2493962" cy="552450"/>
          </a:xfrm>
          <a:prstGeom prst="straightConnector1">
            <a:avLst/>
          </a:prstGeom>
          <a:noFill/>
          <a:ln w="6480">
            <a:solidFill>
              <a:schemeClr val="accent2">
                <a:lumMod val="75000"/>
              </a:schemeClr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34852" name="Straight Arrow Connector 39">
            <a:extLst>
              <a:ext uri="{FF2B5EF4-FFF2-40B4-BE49-F238E27FC236}">
                <a16:creationId xmlns:a16="http://schemas.microsoft.com/office/drawing/2014/main" id="{1E7BA0C4-977A-E21F-54EF-2699C655411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908300" y="2681288"/>
            <a:ext cx="1117600" cy="419100"/>
          </a:xfrm>
          <a:prstGeom prst="straightConnector1">
            <a:avLst/>
          </a:prstGeom>
          <a:noFill/>
          <a:ln w="6480">
            <a:solidFill>
              <a:schemeClr val="accent2">
                <a:lumMod val="75000"/>
              </a:schemeClr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34853" name="Straight Arrow Connector 45">
            <a:extLst>
              <a:ext uri="{FF2B5EF4-FFF2-40B4-BE49-F238E27FC236}">
                <a16:creationId xmlns:a16="http://schemas.microsoft.com/office/drawing/2014/main" id="{99202D92-D6B1-C4DD-09D2-FDC2CC2A63F1}"/>
              </a:ext>
            </a:extLst>
          </p:cNvPr>
          <p:cNvCxnSpPr>
            <a:cxnSpLocks noChangeShapeType="1"/>
            <a:endCxn id="425" idx="0"/>
          </p:cNvCxnSpPr>
          <p:nvPr/>
        </p:nvCxnSpPr>
        <p:spPr bwMode="auto">
          <a:xfrm>
            <a:off x="4637088" y="2679700"/>
            <a:ext cx="1587" cy="412750"/>
          </a:xfrm>
          <a:prstGeom prst="straightConnector1">
            <a:avLst/>
          </a:prstGeom>
          <a:noFill/>
          <a:ln w="6480">
            <a:solidFill>
              <a:schemeClr val="accent2">
                <a:lumMod val="75000"/>
              </a:schemeClr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34854" name="Straight Arrow Connector 48">
            <a:extLst>
              <a:ext uri="{FF2B5EF4-FFF2-40B4-BE49-F238E27FC236}">
                <a16:creationId xmlns:a16="http://schemas.microsoft.com/office/drawing/2014/main" id="{4171735C-202A-D5D9-460C-5ED410611D9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216525" y="2681288"/>
            <a:ext cx="1149350" cy="419100"/>
          </a:xfrm>
          <a:prstGeom prst="straightConnector1">
            <a:avLst/>
          </a:prstGeom>
          <a:noFill/>
          <a:ln w="6480">
            <a:solidFill>
              <a:schemeClr val="accent2">
                <a:lumMod val="75000"/>
              </a:schemeClr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34855" name="Straight Arrow Connector 50">
            <a:extLst>
              <a:ext uri="{FF2B5EF4-FFF2-40B4-BE49-F238E27FC236}">
                <a16:creationId xmlns:a16="http://schemas.microsoft.com/office/drawing/2014/main" id="{C7B27C9B-5C84-0831-69DB-AEC9CB855BCF}"/>
              </a:ext>
            </a:extLst>
          </p:cNvPr>
          <p:cNvCxnSpPr>
            <a:cxnSpLocks noChangeShapeType="1"/>
            <a:endCxn id="425" idx="3"/>
          </p:cNvCxnSpPr>
          <p:nvPr/>
        </p:nvCxnSpPr>
        <p:spPr bwMode="auto">
          <a:xfrm flipH="1">
            <a:off x="5551488" y="2681288"/>
            <a:ext cx="2544762" cy="550862"/>
          </a:xfrm>
          <a:prstGeom prst="straightConnector1">
            <a:avLst/>
          </a:prstGeom>
          <a:noFill/>
          <a:ln w="6480">
            <a:solidFill>
              <a:schemeClr val="accent2">
                <a:lumMod val="75000"/>
              </a:schemeClr>
            </a:solidFill>
            <a:miter lim="800000"/>
            <a:headEnd type="triangle" w="med" len="med"/>
            <a:tailEnd type="triangle" w="med" len="med"/>
          </a:ln>
        </p:spPr>
      </p:cxnSp>
      <p:sp>
        <p:nvSpPr>
          <p:cNvPr id="458" name="TextBox 53">
            <a:extLst>
              <a:ext uri="{FF2B5EF4-FFF2-40B4-BE49-F238E27FC236}">
                <a16:creationId xmlns:a16="http://schemas.microsoft.com/office/drawing/2014/main" id="{FB62773D-EB24-7F75-6E40-F2C0A2B51BD1}"/>
              </a:ext>
            </a:extLst>
          </p:cNvPr>
          <p:cNvSpPr/>
          <p:nvPr/>
        </p:nvSpPr>
        <p:spPr>
          <a:xfrm>
            <a:off x="7786688" y="2825750"/>
            <a:ext cx="920750" cy="255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IN" sz="1050" b="1" spc="-1" dirty="0">
                <a:solidFill>
                  <a:srgbClr val="000000"/>
                </a:solidFill>
                <a:latin typeface="Calibri"/>
              </a:rPr>
              <a:t>Read/Write</a:t>
            </a:r>
            <a:endParaRPr lang="en-US" sz="1050" b="1" spc="-1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34857" name="Straight Arrow Connector 59">
            <a:extLst>
              <a:ext uri="{FF2B5EF4-FFF2-40B4-BE49-F238E27FC236}">
                <a16:creationId xmlns:a16="http://schemas.microsoft.com/office/drawing/2014/main" id="{05CC817E-1AD7-4D5F-A3BD-0634E6F4F6C8}"/>
              </a:ext>
            </a:extLst>
          </p:cNvPr>
          <p:cNvCxnSpPr>
            <a:cxnSpLocks noChangeShapeType="1"/>
            <a:stCxn id="460" idx="1"/>
          </p:cNvCxnSpPr>
          <p:nvPr/>
        </p:nvCxnSpPr>
        <p:spPr bwMode="auto">
          <a:xfrm flipH="1">
            <a:off x="1230313" y="1433513"/>
            <a:ext cx="2492375" cy="527050"/>
          </a:xfrm>
          <a:prstGeom prst="straightConnector1">
            <a:avLst/>
          </a:prstGeom>
          <a:noFill/>
          <a:ln w="6480">
            <a:solidFill>
              <a:schemeClr val="accent2">
                <a:lumMod val="7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34858" name="Straight Arrow Connector 61">
            <a:extLst>
              <a:ext uri="{FF2B5EF4-FFF2-40B4-BE49-F238E27FC236}">
                <a16:creationId xmlns:a16="http://schemas.microsoft.com/office/drawing/2014/main" id="{873835E6-7FA7-39E1-F1B2-5C7B3D88B66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908300" y="1570038"/>
            <a:ext cx="1008063" cy="392112"/>
          </a:xfrm>
          <a:prstGeom prst="straightConnector1">
            <a:avLst/>
          </a:prstGeom>
          <a:noFill/>
          <a:ln w="6480">
            <a:solidFill>
              <a:schemeClr val="accent2">
                <a:lumMod val="7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34859" name="Straight Arrow Connector 33792">
            <a:extLst>
              <a:ext uri="{FF2B5EF4-FFF2-40B4-BE49-F238E27FC236}">
                <a16:creationId xmlns:a16="http://schemas.microsoft.com/office/drawing/2014/main" id="{DF9D1FBF-DE02-05C8-40F6-01415590FFCC}"/>
              </a:ext>
            </a:extLst>
          </p:cNvPr>
          <p:cNvCxnSpPr>
            <a:cxnSpLocks noChangeShapeType="1"/>
            <a:stCxn id="460" idx="2"/>
          </p:cNvCxnSpPr>
          <p:nvPr/>
        </p:nvCxnSpPr>
        <p:spPr bwMode="auto">
          <a:xfrm>
            <a:off x="4637088" y="1570038"/>
            <a:ext cx="1587" cy="390525"/>
          </a:xfrm>
          <a:prstGeom prst="straightConnector1">
            <a:avLst/>
          </a:prstGeom>
          <a:noFill/>
          <a:ln w="6480">
            <a:solidFill>
              <a:schemeClr val="accent2">
                <a:lumMod val="7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34860" name="Straight Arrow Connector 33802">
            <a:extLst>
              <a:ext uri="{FF2B5EF4-FFF2-40B4-BE49-F238E27FC236}">
                <a16:creationId xmlns:a16="http://schemas.microsoft.com/office/drawing/2014/main" id="{5C5E07DC-AC27-54FC-4A34-44F832ACDE73}"/>
              </a:ext>
            </a:extLst>
          </p:cNvPr>
          <p:cNvCxnSpPr>
            <a:cxnSpLocks noChangeShapeType="1"/>
            <a:stCxn id="460" idx="3"/>
          </p:cNvCxnSpPr>
          <p:nvPr/>
        </p:nvCxnSpPr>
        <p:spPr bwMode="auto">
          <a:xfrm>
            <a:off x="5108575" y="1570038"/>
            <a:ext cx="1257300" cy="392112"/>
          </a:xfrm>
          <a:prstGeom prst="straightConnector1">
            <a:avLst/>
          </a:prstGeom>
          <a:noFill/>
          <a:ln w="6480">
            <a:solidFill>
              <a:schemeClr val="accent2">
                <a:lumMod val="7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34861" name="Straight Arrow Connector 33808">
            <a:extLst>
              <a:ext uri="{FF2B5EF4-FFF2-40B4-BE49-F238E27FC236}">
                <a16:creationId xmlns:a16="http://schemas.microsoft.com/office/drawing/2014/main" id="{E7B939F7-A94B-F386-10AF-808A1D772002}"/>
              </a:ext>
            </a:extLst>
          </p:cNvPr>
          <p:cNvCxnSpPr>
            <a:cxnSpLocks noChangeShapeType="1"/>
            <a:stCxn id="460" idx="3"/>
          </p:cNvCxnSpPr>
          <p:nvPr/>
        </p:nvCxnSpPr>
        <p:spPr bwMode="auto">
          <a:xfrm>
            <a:off x="5551488" y="1433513"/>
            <a:ext cx="2544762" cy="528637"/>
          </a:xfrm>
          <a:prstGeom prst="straightConnector1">
            <a:avLst/>
          </a:prstGeom>
          <a:noFill/>
          <a:ln w="6480">
            <a:solidFill>
              <a:schemeClr val="accent2">
                <a:lumMod val="75000"/>
              </a:schemeClr>
            </a:solidFill>
            <a:miter lim="800000"/>
            <a:headEnd/>
            <a:tailEnd type="triangle" w="med" len="med"/>
          </a:ln>
        </p:spPr>
      </p:cxnSp>
      <p:cxnSp>
        <p:nvCxnSpPr>
          <p:cNvPr id="34862" name="Connector: Elbow 33866">
            <a:extLst>
              <a:ext uri="{FF2B5EF4-FFF2-40B4-BE49-F238E27FC236}">
                <a16:creationId xmlns:a16="http://schemas.microsoft.com/office/drawing/2014/main" id="{202DF29C-FADF-0602-D61B-E6613A6211EE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4813300" y="3384550"/>
            <a:ext cx="4087813" cy="139700"/>
          </a:xfrm>
          <a:prstGeom prst="bentConnector3">
            <a:avLst>
              <a:gd name="adj1" fmla="val -134"/>
            </a:avLst>
          </a:prstGeom>
          <a:noFill/>
          <a:ln w="12600">
            <a:solidFill>
              <a:schemeClr val="accent2">
                <a:lumMod val="75000"/>
              </a:schemeClr>
            </a:solidFill>
            <a:miter lim="800000"/>
            <a:headEnd/>
            <a:tailEnd/>
          </a:ln>
        </p:spPr>
      </p:cxnSp>
      <p:cxnSp>
        <p:nvCxnSpPr>
          <p:cNvPr id="34863" name="Connector: Elbow 33871">
            <a:extLst>
              <a:ext uri="{FF2B5EF4-FFF2-40B4-BE49-F238E27FC236}">
                <a16:creationId xmlns:a16="http://schemas.microsoft.com/office/drawing/2014/main" id="{24544C7D-A117-2B99-B78B-EDC4475C1FF1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749800" y="1177925"/>
            <a:ext cx="4165600" cy="2346325"/>
          </a:xfrm>
          <a:prstGeom prst="bentConnector3">
            <a:avLst>
              <a:gd name="adj1" fmla="val 241"/>
            </a:avLst>
          </a:prstGeom>
          <a:noFill/>
          <a:ln w="12600">
            <a:solidFill>
              <a:schemeClr val="accent2">
                <a:lumMod val="75000"/>
              </a:schemeClr>
            </a:solidFill>
            <a:miter lim="800000"/>
            <a:headEnd/>
            <a:tailEnd/>
          </a:ln>
        </p:spPr>
      </p:cxnSp>
      <p:cxnSp>
        <p:nvCxnSpPr>
          <p:cNvPr id="34864" name="Straight Arrow Connector 33874">
            <a:extLst>
              <a:ext uri="{FF2B5EF4-FFF2-40B4-BE49-F238E27FC236}">
                <a16:creationId xmlns:a16="http://schemas.microsoft.com/office/drawing/2014/main" id="{4953C638-70DB-D277-A235-91A3553DF3E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49800" y="1179513"/>
            <a:ext cx="1588" cy="130175"/>
          </a:xfrm>
          <a:prstGeom prst="straightConnector1">
            <a:avLst/>
          </a:prstGeom>
          <a:noFill/>
          <a:ln w="12600">
            <a:solidFill>
              <a:schemeClr val="accent2">
                <a:lumMod val="75000"/>
              </a:schemeClr>
            </a:solidFill>
            <a:miter lim="800000"/>
            <a:headEnd/>
            <a:tailEnd type="triangle" w="med" len="med"/>
          </a:ln>
        </p:spPr>
      </p:cxnSp>
      <p:sp>
        <p:nvSpPr>
          <p:cNvPr id="468" name="Text 5">
            <a:extLst>
              <a:ext uri="{FF2B5EF4-FFF2-40B4-BE49-F238E27FC236}">
                <a16:creationId xmlns:a16="http://schemas.microsoft.com/office/drawing/2014/main" id="{4838CD4F-5562-B2C2-9D00-CA7BB35E113C}"/>
              </a:ext>
            </a:extLst>
          </p:cNvPr>
          <p:cNvSpPr/>
          <p:nvPr/>
        </p:nvSpPr>
        <p:spPr>
          <a:xfrm>
            <a:off x="3716338" y="3654425"/>
            <a:ext cx="1828800" cy="2746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0">
            <a:noFill/>
          </a:ln>
          <a:effectLst>
            <a:outerShdw dist="38183" dir="27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 dirty="0">
                <a:solidFill>
                  <a:schemeClr val="bg1"/>
                </a:solidFill>
                <a:latin typeface="Calibri"/>
              </a:rPr>
              <a:t>Message History</a:t>
            </a:r>
            <a:endParaRPr lang="en-US" sz="1000" spc="-1" dirty="0">
              <a:solidFill>
                <a:schemeClr val="bg1"/>
              </a:solidFill>
              <a:latin typeface="Calibri"/>
            </a:endParaRPr>
          </a:p>
        </p:txBody>
      </p:sp>
      <p:cxnSp>
        <p:nvCxnSpPr>
          <p:cNvPr id="34866" name="Straight Arrow Connector 33905">
            <a:extLst>
              <a:ext uri="{FF2B5EF4-FFF2-40B4-BE49-F238E27FC236}">
                <a16:creationId xmlns:a16="http://schemas.microsoft.com/office/drawing/2014/main" id="{2C3AE16E-6D81-E276-FB05-548014264CC5}"/>
              </a:ext>
            </a:extLst>
          </p:cNvPr>
          <p:cNvCxnSpPr>
            <a:cxnSpLocks noChangeShapeType="1"/>
            <a:stCxn id="425" idx="2"/>
            <a:endCxn id="468" idx="0"/>
          </p:cNvCxnSpPr>
          <p:nvPr/>
        </p:nvCxnSpPr>
        <p:spPr bwMode="auto">
          <a:xfrm flipH="1">
            <a:off x="4630738" y="3367088"/>
            <a:ext cx="6350" cy="287337"/>
          </a:xfrm>
          <a:prstGeom prst="straightConnector1">
            <a:avLst/>
          </a:prstGeom>
          <a:noFill/>
          <a:ln w="6480">
            <a:solidFill>
              <a:schemeClr val="accent2">
                <a:lumMod val="75000"/>
              </a:schemeClr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34867" name="Connector: Elbow 33917">
            <a:extLst>
              <a:ext uri="{FF2B5EF4-FFF2-40B4-BE49-F238E27FC236}">
                <a16:creationId xmlns:a16="http://schemas.microsoft.com/office/drawing/2014/main" id="{239E1A52-42E3-1DBB-F3D0-1B0055B5839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84175" y="1182688"/>
            <a:ext cx="4089400" cy="138112"/>
          </a:xfrm>
          <a:prstGeom prst="bentConnector3">
            <a:avLst>
              <a:gd name="adj1" fmla="val -134"/>
            </a:avLst>
          </a:prstGeom>
          <a:noFill/>
          <a:ln w="12600">
            <a:solidFill>
              <a:schemeClr val="accent2">
                <a:lumMod val="75000"/>
              </a:schemeClr>
            </a:solidFill>
            <a:miter lim="800000"/>
            <a:headEnd/>
            <a:tailEnd/>
          </a:ln>
        </p:spPr>
      </p:cxnSp>
      <p:cxnSp>
        <p:nvCxnSpPr>
          <p:cNvPr id="34868" name="Connector: Elbow 33923">
            <a:extLst>
              <a:ext uri="{FF2B5EF4-FFF2-40B4-BE49-F238E27FC236}">
                <a16:creationId xmlns:a16="http://schemas.microsoft.com/office/drawing/2014/main" id="{F8CC1D73-D916-8377-B852-09ED987BDCF2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393700" y="1195388"/>
            <a:ext cx="4060825" cy="2344737"/>
          </a:xfrm>
          <a:prstGeom prst="bentConnector3">
            <a:avLst>
              <a:gd name="adj1" fmla="val -222"/>
            </a:avLst>
          </a:prstGeom>
          <a:noFill/>
          <a:ln w="12600">
            <a:solidFill>
              <a:schemeClr val="accent2">
                <a:lumMod val="75000"/>
              </a:schemeClr>
            </a:solidFill>
            <a:miter lim="800000"/>
            <a:headEnd/>
            <a:tailEnd/>
          </a:ln>
        </p:spPr>
      </p:cxnSp>
      <p:cxnSp>
        <p:nvCxnSpPr>
          <p:cNvPr id="34869" name="Straight Arrow Connector 33926">
            <a:extLst>
              <a:ext uri="{FF2B5EF4-FFF2-40B4-BE49-F238E27FC236}">
                <a16:creationId xmlns:a16="http://schemas.microsoft.com/office/drawing/2014/main" id="{323443C6-C14A-DE12-B43E-AB1D65D659E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449763" y="3367088"/>
            <a:ext cx="0" cy="173037"/>
          </a:xfrm>
          <a:prstGeom prst="straightConnector1">
            <a:avLst/>
          </a:prstGeom>
          <a:noFill/>
          <a:ln w="12600">
            <a:solidFill>
              <a:schemeClr val="accent2">
                <a:lumMod val="75000"/>
              </a:schemeClr>
            </a:solidFill>
            <a:miter lim="800000"/>
            <a:headEnd/>
            <a:tailEnd type="triangle" w="med" len="med"/>
          </a:ln>
        </p:spPr>
      </p:cxnSp>
      <p:sp>
        <p:nvSpPr>
          <p:cNvPr id="460" name="Text 5">
            <a:extLst>
              <a:ext uri="{FF2B5EF4-FFF2-40B4-BE49-F238E27FC236}">
                <a16:creationId xmlns:a16="http://schemas.microsoft.com/office/drawing/2014/main" id="{D790AB6B-EA54-105B-7BDB-55F0A0CE7B17}"/>
              </a:ext>
            </a:extLst>
          </p:cNvPr>
          <p:cNvSpPr/>
          <p:nvPr/>
        </p:nvSpPr>
        <p:spPr>
          <a:xfrm>
            <a:off x="3722688" y="1295400"/>
            <a:ext cx="1828800" cy="2746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0">
            <a:noFill/>
          </a:ln>
          <a:effectLst>
            <a:outerShdw dist="38183" dir="2700000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 dirty="0">
                <a:solidFill>
                  <a:schemeClr val="bg1"/>
                </a:solidFill>
                <a:latin typeface="Calibri"/>
              </a:rPr>
              <a:t>Group Chat Manager</a:t>
            </a:r>
            <a:endParaRPr lang="en-US" sz="10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73" name="TextBox 33931">
            <a:extLst>
              <a:ext uri="{FF2B5EF4-FFF2-40B4-BE49-F238E27FC236}">
                <a16:creationId xmlns:a16="http://schemas.microsoft.com/office/drawing/2014/main" id="{7F1EB6D8-388E-6FA5-96F6-58989201A371}"/>
              </a:ext>
            </a:extLst>
          </p:cNvPr>
          <p:cNvSpPr/>
          <p:nvPr/>
        </p:nvSpPr>
        <p:spPr>
          <a:xfrm>
            <a:off x="7708900" y="1458913"/>
            <a:ext cx="1077913" cy="419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IN" sz="1050" b="1" spc="-1" dirty="0">
                <a:solidFill>
                  <a:srgbClr val="000000"/>
                </a:solidFill>
                <a:latin typeface="Calibri"/>
              </a:rPr>
              <a:t>who speaks next</a:t>
            </a:r>
            <a:endParaRPr lang="en-US" sz="1050" b="1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" name="Picture 33932">
            <a:extLst>
              <a:ext uri="{FF2B5EF4-FFF2-40B4-BE49-F238E27FC236}">
                <a16:creationId xmlns:a16="http://schemas.microsoft.com/office/drawing/2014/main" id="{17F405CB-5D61-9720-DBB1-7D03BAE20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4988" y="141288"/>
            <a:ext cx="2117725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4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4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4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4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4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" grpId="0" animBg="1"/>
      <p:bldP spid="425" grpId="0" animBg="1"/>
      <p:bldP spid="427" grpId="0" animBg="1"/>
      <p:bldP spid="429" grpId="0" animBg="1"/>
      <p:bldP spid="431" grpId="0" animBg="1"/>
      <p:bldP spid="433" grpId="0" animBg="1"/>
      <p:bldP spid="435" grpId="0" animBg="1"/>
      <p:bldP spid="437" grpId="0" animBg="1"/>
      <p:bldP spid="438" grpId="0" animBg="1"/>
      <p:bldP spid="439" grpId="0"/>
      <p:bldP spid="440" grpId="0"/>
      <p:bldP spid="441" grpId="0" animBg="1"/>
      <p:bldP spid="442" grpId="0" animBg="1"/>
      <p:bldP spid="443" grpId="0"/>
      <p:bldP spid="444" grpId="0"/>
      <p:bldP spid="445" grpId="0" animBg="1"/>
      <p:bldP spid="446" grpId="0" animBg="1"/>
      <p:bldP spid="447" grpId="0"/>
      <p:bldP spid="448" grpId="0"/>
      <p:bldP spid="449" grpId="0" animBg="1"/>
      <p:bldP spid="450" grpId="0" animBg="1"/>
      <p:bldP spid="451" grpId="0"/>
      <p:bldP spid="452" grpId="0"/>
      <p:bldP spid="458" grpId="0"/>
      <p:bldP spid="468" grpId="0" animBg="1"/>
      <p:bldP spid="460" grpId="0" animBg="1"/>
      <p:bldP spid="47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0">
            <a:extLst>
              <a:ext uri="{FF2B5EF4-FFF2-40B4-BE49-F238E27FC236}">
                <a16:creationId xmlns:a16="http://schemas.microsoft.com/office/drawing/2014/main" id="{44D31ECE-B002-66F4-9AA1-F105EF8AB2F3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6" name="Text 1">
            <a:extLst>
              <a:ext uri="{FF2B5EF4-FFF2-40B4-BE49-F238E27FC236}">
                <a16:creationId xmlns:a16="http://schemas.microsoft.com/office/drawing/2014/main" id="{BEF8A561-774F-8513-873D-E20A596E1437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>
                <a:solidFill>
                  <a:srgbClr val="1E3A8A"/>
                </a:solidFill>
                <a:latin typeface="Calibri"/>
              </a:rPr>
              <a:t>AUTOGEN</a:t>
            </a:r>
            <a:endParaRPr lang="en-US" sz="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7" name="Text 2">
            <a:extLst>
              <a:ext uri="{FF2B5EF4-FFF2-40B4-BE49-F238E27FC236}">
                <a16:creationId xmlns:a16="http://schemas.microsoft.com/office/drawing/2014/main" id="{2F1326A7-283A-7EF3-282A-67315DAD7EF0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200" b="1" spc="-1">
                <a:solidFill>
                  <a:srgbClr val="1E3A8A"/>
                </a:solidFill>
                <a:latin typeface="Calibri"/>
              </a:rPr>
              <a:t>AutoGen Patterns</a:t>
            </a:r>
            <a:endParaRPr lang="en-US" sz="2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8" name="Text 3">
            <a:extLst>
              <a:ext uri="{FF2B5EF4-FFF2-40B4-BE49-F238E27FC236}">
                <a16:creationId xmlns:a16="http://schemas.microsoft.com/office/drawing/2014/main" id="{D614539B-620F-559A-79D9-C9CF9CC96AC9}"/>
              </a:ext>
            </a:extLst>
          </p:cNvPr>
          <p:cNvSpPr/>
          <p:nvPr/>
        </p:nvSpPr>
        <p:spPr>
          <a:xfrm>
            <a:off x="457200" y="960438"/>
            <a:ext cx="8229600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spc="-1" dirty="0">
                <a:solidFill>
                  <a:srgbClr val="1E3A8A"/>
                </a:solidFill>
                <a:latin typeface="Calibri"/>
              </a:rPr>
              <a:t>Roles, rounds, termination - the building blocks of robust </a:t>
            </a:r>
            <a:r>
              <a:rPr lang="en-US" sz="1300" spc="-1" dirty="0" err="1">
                <a:solidFill>
                  <a:srgbClr val="1E3A8A"/>
                </a:solidFill>
                <a:latin typeface="Calibri"/>
              </a:rPr>
              <a:t>AutoGen</a:t>
            </a:r>
            <a:r>
              <a:rPr lang="en-US" sz="1300" spc="-1" dirty="0">
                <a:solidFill>
                  <a:srgbClr val="1E3A8A"/>
                </a:solidFill>
                <a:latin typeface="Calibri"/>
              </a:rPr>
              <a:t> workflows:</a:t>
            </a:r>
            <a:endParaRPr lang="en-US" sz="13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9" name="Shape 4">
            <a:extLst>
              <a:ext uri="{FF2B5EF4-FFF2-40B4-BE49-F238E27FC236}">
                <a16:creationId xmlns:a16="http://schemas.microsoft.com/office/drawing/2014/main" id="{8BD97189-8AC1-829E-4E4B-219E487B1388}"/>
              </a:ext>
            </a:extLst>
          </p:cNvPr>
          <p:cNvSpPr/>
          <p:nvPr/>
        </p:nvSpPr>
        <p:spPr>
          <a:xfrm>
            <a:off x="411163" y="1325563"/>
            <a:ext cx="4114800" cy="1554162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0" name="Shape 5">
            <a:extLst>
              <a:ext uri="{FF2B5EF4-FFF2-40B4-BE49-F238E27FC236}">
                <a16:creationId xmlns:a16="http://schemas.microsoft.com/office/drawing/2014/main" id="{1EB74864-98D8-5055-2892-2AD9180007BE}"/>
              </a:ext>
            </a:extLst>
          </p:cNvPr>
          <p:cNvSpPr/>
          <p:nvPr/>
        </p:nvSpPr>
        <p:spPr>
          <a:xfrm>
            <a:off x="411163" y="1325563"/>
            <a:ext cx="4114800" cy="55562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640" rIns="90000" bIns="86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1" name="Text 6">
            <a:extLst>
              <a:ext uri="{FF2B5EF4-FFF2-40B4-BE49-F238E27FC236}">
                <a16:creationId xmlns:a16="http://schemas.microsoft.com/office/drawing/2014/main" id="{4A908F49-B5D4-B9F3-9ECA-B03084A1B195}"/>
              </a:ext>
            </a:extLst>
          </p:cNvPr>
          <p:cNvSpPr/>
          <p:nvPr/>
        </p:nvSpPr>
        <p:spPr>
          <a:xfrm>
            <a:off x="549275" y="1435100"/>
            <a:ext cx="3840163" cy="2571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1E3A8A"/>
                </a:solidFill>
                <a:latin typeface="Calibri"/>
              </a:rPr>
              <a:t>Two-Agent Chat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2" name="Text 7">
            <a:extLst>
              <a:ext uri="{FF2B5EF4-FFF2-40B4-BE49-F238E27FC236}">
                <a16:creationId xmlns:a16="http://schemas.microsoft.com/office/drawing/2014/main" id="{6DE6DE7D-650A-6869-848D-37DA784D1F14}"/>
              </a:ext>
            </a:extLst>
          </p:cNvPr>
          <p:cNvSpPr/>
          <p:nvPr/>
        </p:nvSpPr>
        <p:spPr>
          <a:xfrm>
            <a:off x="549275" y="1728788"/>
            <a:ext cx="3840163" cy="1077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spc="-1" dirty="0">
                <a:solidFill>
                  <a:srgbClr val="1E3A8A"/>
                </a:solidFill>
                <a:latin typeface="Calibri"/>
              </a:rPr>
              <a:t>Simplest pattern: </a:t>
            </a:r>
            <a:r>
              <a:rPr lang="en-US" sz="1150" spc="-1" dirty="0" err="1">
                <a:solidFill>
                  <a:srgbClr val="1E3A8A"/>
                </a:solidFill>
                <a:latin typeface="Calibri"/>
              </a:rPr>
              <a:t>AssistantAgent</a:t>
            </a:r>
            <a:r>
              <a:rPr lang="en-US" sz="1150" spc="-1" dirty="0">
                <a:solidFill>
                  <a:srgbClr val="1E3A8A"/>
                </a:solidFill>
                <a:latin typeface="Calibri"/>
              </a:rPr>
              <a:t> + </a:t>
            </a:r>
            <a:r>
              <a:rPr lang="en-US" sz="1150" spc="-1" dirty="0" err="1">
                <a:solidFill>
                  <a:srgbClr val="1E3A8A"/>
                </a:solidFill>
                <a:latin typeface="Calibri"/>
              </a:rPr>
              <a:t>UserProxy</a:t>
            </a:r>
            <a:r>
              <a:rPr lang="en-US" sz="1150" spc="-1" dirty="0">
                <a:solidFill>
                  <a:srgbClr val="1E3A8A"/>
                </a:solidFill>
                <a:latin typeface="Calibri"/>
              </a:rPr>
              <a:t>. Agent responds, proxy checks, TERMINATE ends the loop. Great for focused Q&amp;A or coding tasks.</a:t>
            </a:r>
            <a:endParaRPr lang="en-US" sz="115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3" name="Shape 8">
            <a:extLst>
              <a:ext uri="{FF2B5EF4-FFF2-40B4-BE49-F238E27FC236}">
                <a16:creationId xmlns:a16="http://schemas.microsoft.com/office/drawing/2014/main" id="{16824863-CF89-01F2-4B95-128FEDB210E5}"/>
              </a:ext>
            </a:extLst>
          </p:cNvPr>
          <p:cNvSpPr/>
          <p:nvPr/>
        </p:nvSpPr>
        <p:spPr>
          <a:xfrm>
            <a:off x="4708525" y="1325563"/>
            <a:ext cx="4114800" cy="1554162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4" name="Shape 9">
            <a:extLst>
              <a:ext uri="{FF2B5EF4-FFF2-40B4-BE49-F238E27FC236}">
                <a16:creationId xmlns:a16="http://schemas.microsoft.com/office/drawing/2014/main" id="{DCED9620-EEE9-EBF1-F9F6-BFED57B3C245}"/>
              </a:ext>
            </a:extLst>
          </p:cNvPr>
          <p:cNvSpPr/>
          <p:nvPr/>
        </p:nvSpPr>
        <p:spPr>
          <a:xfrm>
            <a:off x="4708525" y="1325563"/>
            <a:ext cx="4114800" cy="55562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640" rIns="90000" bIns="86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5" name="Text 10">
            <a:extLst>
              <a:ext uri="{FF2B5EF4-FFF2-40B4-BE49-F238E27FC236}">
                <a16:creationId xmlns:a16="http://schemas.microsoft.com/office/drawing/2014/main" id="{223553B3-4DD3-AD4B-4B78-C662DBBAD333}"/>
              </a:ext>
            </a:extLst>
          </p:cNvPr>
          <p:cNvSpPr/>
          <p:nvPr/>
        </p:nvSpPr>
        <p:spPr>
          <a:xfrm>
            <a:off x="4846638" y="1435100"/>
            <a:ext cx="3840162" cy="2571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GroupChat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6" name="Text 11">
            <a:extLst>
              <a:ext uri="{FF2B5EF4-FFF2-40B4-BE49-F238E27FC236}">
                <a16:creationId xmlns:a16="http://schemas.microsoft.com/office/drawing/2014/main" id="{C5535C5E-2A2B-FD23-79AC-0E2BC853A13E}"/>
              </a:ext>
            </a:extLst>
          </p:cNvPr>
          <p:cNvSpPr/>
          <p:nvPr/>
        </p:nvSpPr>
        <p:spPr>
          <a:xfrm>
            <a:off x="4846638" y="1728788"/>
            <a:ext cx="3840162" cy="1077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spc="-1">
                <a:solidFill>
                  <a:srgbClr val="1E3A8A"/>
                </a:solidFill>
                <a:latin typeface="Calibri"/>
              </a:rPr>
              <a:t>All agents share one conversation. GroupChatManager dynamically selects next speaker based on context. Scales to N agents easily.</a:t>
            </a:r>
            <a:endParaRPr lang="en-US" sz="11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7" name="Shape 12">
            <a:extLst>
              <a:ext uri="{FF2B5EF4-FFF2-40B4-BE49-F238E27FC236}">
                <a16:creationId xmlns:a16="http://schemas.microsoft.com/office/drawing/2014/main" id="{5E458331-9BB3-0C99-5686-E0A85DCB0E50}"/>
              </a:ext>
            </a:extLst>
          </p:cNvPr>
          <p:cNvSpPr/>
          <p:nvPr/>
        </p:nvSpPr>
        <p:spPr>
          <a:xfrm>
            <a:off x="411163" y="3108325"/>
            <a:ext cx="4114800" cy="155575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8" name="Shape 13">
            <a:extLst>
              <a:ext uri="{FF2B5EF4-FFF2-40B4-BE49-F238E27FC236}">
                <a16:creationId xmlns:a16="http://schemas.microsoft.com/office/drawing/2014/main" id="{EED70B06-FC56-AED8-F810-A9050DE4A807}"/>
              </a:ext>
            </a:extLst>
          </p:cNvPr>
          <p:cNvSpPr/>
          <p:nvPr/>
        </p:nvSpPr>
        <p:spPr>
          <a:xfrm>
            <a:off x="411163" y="3108325"/>
            <a:ext cx="4114800" cy="55563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000" rIns="90000" bIns="9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9" name="Text 14">
            <a:extLst>
              <a:ext uri="{FF2B5EF4-FFF2-40B4-BE49-F238E27FC236}">
                <a16:creationId xmlns:a16="http://schemas.microsoft.com/office/drawing/2014/main" id="{AAA9E38E-33A8-F9F3-BDAD-B42D376A6354}"/>
              </a:ext>
            </a:extLst>
          </p:cNvPr>
          <p:cNvSpPr/>
          <p:nvPr/>
        </p:nvSpPr>
        <p:spPr>
          <a:xfrm>
            <a:off x="549275" y="3219450"/>
            <a:ext cx="3840163" cy="255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Nested Agents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0" name="Text 15">
            <a:extLst>
              <a:ext uri="{FF2B5EF4-FFF2-40B4-BE49-F238E27FC236}">
                <a16:creationId xmlns:a16="http://schemas.microsoft.com/office/drawing/2014/main" id="{FE6E6165-078F-A53C-9D49-5D567A00DDDD}"/>
              </a:ext>
            </a:extLst>
          </p:cNvPr>
          <p:cNvSpPr/>
          <p:nvPr/>
        </p:nvSpPr>
        <p:spPr>
          <a:xfrm>
            <a:off x="549275" y="3511550"/>
            <a:ext cx="3840163" cy="1079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spc="-1">
                <a:solidFill>
                  <a:srgbClr val="1E3A8A"/>
                </a:solidFill>
                <a:latin typeface="Calibri"/>
              </a:rPr>
              <a:t>An AssistantAgent can itself manage a sub-GroupChat. Hierarchical: outer manager, inner specialist team. Complex tasks, clean structure.</a:t>
            </a:r>
            <a:endParaRPr lang="en-US" sz="11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1" name="Shape 16">
            <a:extLst>
              <a:ext uri="{FF2B5EF4-FFF2-40B4-BE49-F238E27FC236}">
                <a16:creationId xmlns:a16="http://schemas.microsoft.com/office/drawing/2014/main" id="{8314B3A5-444F-FE2B-2A37-860377040730}"/>
              </a:ext>
            </a:extLst>
          </p:cNvPr>
          <p:cNvSpPr/>
          <p:nvPr/>
        </p:nvSpPr>
        <p:spPr>
          <a:xfrm>
            <a:off x="4708525" y="3108325"/>
            <a:ext cx="4114800" cy="155575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2" name="Shape 17">
            <a:extLst>
              <a:ext uri="{FF2B5EF4-FFF2-40B4-BE49-F238E27FC236}">
                <a16:creationId xmlns:a16="http://schemas.microsoft.com/office/drawing/2014/main" id="{9E567129-D6F4-56A9-5F21-2250FA326E66}"/>
              </a:ext>
            </a:extLst>
          </p:cNvPr>
          <p:cNvSpPr/>
          <p:nvPr/>
        </p:nvSpPr>
        <p:spPr>
          <a:xfrm>
            <a:off x="4708525" y="3108325"/>
            <a:ext cx="4114800" cy="55563"/>
          </a:xfrm>
          <a:prstGeom prst="rect">
            <a:avLst/>
          </a:prstGeom>
          <a:solidFill>
            <a:srgbClr val="E65100"/>
          </a:solidFill>
          <a:ln w="12600">
            <a:solidFill>
              <a:srgbClr val="E651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000" rIns="90000" bIns="9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3" name="Text 18">
            <a:extLst>
              <a:ext uri="{FF2B5EF4-FFF2-40B4-BE49-F238E27FC236}">
                <a16:creationId xmlns:a16="http://schemas.microsoft.com/office/drawing/2014/main" id="{A93DE1D7-9791-EC71-F1FE-78B802D494F4}"/>
              </a:ext>
            </a:extLst>
          </p:cNvPr>
          <p:cNvSpPr/>
          <p:nvPr/>
        </p:nvSpPr>
        <p:spPr>
          <a:xfrm>
            <a:off x="4846638" y="3219450"/>
            <a:ext cx="3840162" cy="255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Termination Logic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4" name="Text 19">
            <a:extLst>
              <a:ext uri="{FF2B5EF4-FFF2-40B4-BE49-F238E27FC236}">
                <a16:creationId xmlns:a16="http://schemas.microsoft.com/office/drawing/2014/main" id="{EC477824-557B-E52B-225B-C436B074FD25}"/>
              </a:ext>
            </a:extLst>
          </p:cNvPr>
          <p:cNvSpPr/>
          <p:nvPr/>
        </p:nvSpPr>
        <p:spPr>
          <a:xfrm>
            <a:off x="4846638" y="3511550"/>
            <a:ext cx="3840162" cy="10795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spc="-1">
                <a:solidFill>
                  <a:srgbClr val="1E3A8A"/>
                </a:solidFill>
                <a:latin typeface="Calibri"/>
              </a:rPr>
              <a:t>Set max_round to cap loops. Agents emit 'TERMINATE' in messages to signal done. Custom is_termination_msg() functions for complex conditions.</a:t>
            </a:r>
            <a:endParaRPr lang="en-US" sz="1150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6886" name="Picture 1">
            <a:extLst>
              <a:ext uri="{FF2B5EF4-FFF2-40B4-BE49-F238E27FC236}">
                <a16:creationId xmlns:a16="http://schemas.microsoft.com/office/drawing/2014/main" id="{4B3EB46D-FAB4-2FE0-DB6A-DA11B9530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1288"/>
            <a:ext cx="2117725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" grpId="0" animBg="1"/>
      <p:bldP spid="480" grpId="0" animBg="1"/>
      <p:bldP spid="481" grpId="0"/>
      <p:bldP spid="482" grpId="0"/>
      <p:bldP spid="483" grpId="0" animBg="1"/>
      <p:bldP spid="484" grpId="0" animBg="1"/>
      <p:bldP spid="485" grpId="0"/>
      <p:bldP spid="486" grpId="0"/>
      <p:bldP spid="487" grpId="0" animBg="1"/>
      <p:bldP spid="488" grpId="0" animBg="1"/>
      <p:bldP spid="489" grpId="0"/>
      <p:bldP spid="490" grpId="0"/>
      <p:bldP spid="491" grpId="0" animBg="1"/>
      <p:bldP spid="492" grpId="0" animBg="1"/>
      <p:bldP spid="493" grpId="0"/>
      <p:bldP spid="49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Shape 0">
            <a:extLst>
              <a:ext uri="{FF2B5EF4-FFF2-40B4-BE49-F238E27FC236}">
                <a16:creationId xmlns:a16="http://schemas.microsoft.com/office/drawing/2014/main" id="{AB60EDF5-216F-8442-78BD-D10B4EDA54AE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7" name="Text 1">
            <a:extLst>
              <a:ext uri="{FF2B5EF4-FFF2-40B4-BE49-F238E27FC236}">
                <a16:creationId xmlns:a16="http://schemas.microsoft.com/office/drawing/2014/main" id="{B4F92F94-D5AB-0E7E-D788-769EECA73775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>
                <a:solidFill>
                  <a:srgbClr val="1E3A8A"/>
                </a:solidFill>
                <a:latin typeface="Calibri"/>
              </a:rPr>
              <a:t>AUTOGEN</a:t>
            </a:r>
            <a:endParaRPr lang="en-US" sz="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8" name="Text 2">
            <a:extLst>
              <a:ext uri="{FF2B5EF4-FFF2-40B4-BE49-F238E27FC236}">
                <a16:creationId xmlns:a16="http://schemas.microsoft.com/office/drawing/2014/main" id="{49EDBC30-3A77-EC89-2EE2-9853186DEF3A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000" b="1" spc="-1" dirty="0" err="1">
                <a:solidFill>
                  <a:srgbClr val="1E3A8A"/>
                </a:solidFill>
                <a:latin typeface="Calibri"/>
              </a:rPr>
              <a:t>AutoGen</a:t>
            </a:r>
            <a:r>
              <a:rPr lang="en-US" sz="2000" b="1" spc="-1" dirty="0">
                <a:solidFill>
                  <a:srgbClr val="1E3A8A"/>
                </a:solidFill>
                <a:latin typeface="Calibri"/>
              </a:rPr>
              <a:t> Use Case - AI Research Team</a:t>
            </a:r>
            <a:endParaRPr lang="en-US" sz="20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9" name="Text 3">
            <a:extLst>
              <a:ext uri="{FF2B5EF4-FFF2-40B4-BE49-F238E27FC236}">
                <a16:creationId xmlns:a16="http://schemas.microsoft.com/office/drawing/2014/main" id="{5C73A049-125A-1585-DB42-BD7CEA53ADD6}"/>
              </a:ext>
            </a:extLst>
          </p:cNvPr>
          <p:cNvSpPr/>
          <p:nvPr/>
        </p:nvSpPr>
        <p:spPr>
          <a:xfrm>
            <a:off x="457200" y="960438"/>
            <a:ext cx="8229600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i="1" spc="-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Scenario: "Research a topic, </a:t>
            </a:r>
            <a:r>
              <a:rPr lang="en-US" sz="1300" i="1" spc="-1" dirty="0" err="1">
                <a:solidFill>
                  <a:schemeClr val="accent2">
                    <a:lumMod val="75000"/>
                  </a:schemeClr>
                </a:solidFill>
                <a:latin typeface="Calibri"/>
              </a:rPr>
              <a:t>analyse</a:t>
            </a:r>
            <a:r>
              <a:rPr lang="en-US" sz="1300" i="1" spc="-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 data, fact-check, write, and produce a final report"</a:t>
            </a:r>
            <a:endParaRPr lang="en-US" sz="1300" spc="-1" dirty="0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500" name="Shape 4">
            <a:extLst>
              <a:ext uri="{FF2B5EF4-FFF2-40B4-BE49-F238E27FC236}">
                <a16:creationId xmlns:a16="http://schemas.microsoft.com/office/drawing/2014/main" id="{CEB9AF47-ABEB-9F05-9F6A-C216DE477B71}"/>
              </a:ext>
            </a:extLst>
          </p:cNvPr>
          <p:cNvSpPr/>
          <p:nvPr/>
        </p:nvSpPr>
        <p:spPr>
          <a:xfrm>
            <a:off x="411163" y="1325563"/>
            <a:ext cx="274320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1" name="Shape 5">
            <a:extLst>
              <a:ext uri="{FF2B5EF4-FFF2-40B4-BE49-F238E27FC236}">
                <a16:creationId xmlns:a16="http://schemas.microsoft.com/office/drawing/2014/main" id="{A213495F-E427-26F6-B438-23765FB288F7}"/>
              </a:ext>
            </a:extLst>
          </p:cNvPr>
          <p:cNvSpPr/>
          <p:nvPr/>
        </p:nvSpPr>
        <p:spPr>
          <a:xfrm>
            <a:off x="411163" y="1325563"/>
            <a:ext cx="2743200" cy="457200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2" name="Text 6">
            <a:extLst>
              <a:ext uri="{FF2B5EF4-FFF2-40B4-BE49-F238E27FC236}">
                <a16:creationId xmlns:a16="http://schemas.microsoft.com/office/drawing/2014/main" id="{61D11358-B0BC-D965-AD4C-B20205FA52DF}"/>
              </a:ext>
            </a:extLst>
          </p:cNvPr>
          <p:cNvSpPr/>
          <p:nvPr/>
        </p:nvSpPr>
        <p:spPr>
          <a:xfrm>
            <a:off x="411163" y="1344613"/>
            <a:ext cx="2743200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1E3A8A"/>
                </a:solidFill>
                <a:latin typeface="Calibri"/>
              </a:rPr>
              <a:t>Researcher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3" name="Text 7">
            <a:extLst>
              <a:ext uri="{FF2B5EF4-FFF2-40B4-BE49-F238E27FC236}">
                <a16:creationId xmlns:a16="http://schemas.microsoft.com/office/drawing/2014/main" id="{683BB9D7-6296-2C93-DE15-91C7958BC0FC}"/>
              </a:ext>
            </a:extLst>
          </p:cNvPr>
          <p:cNvSpPr/>
          <p:nvPr/>
        </p:nvSpPr>
        <p:spPr>
          <a:xfrm>
            <a:off x="411163" y="1581150"/>
            <a:ext cx="2743200" cy="1841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spc="-1" dirty="0" err="1">
                <a:solidFill>
                  <a:srgbClr val="0C4A6E"/>
                </a:solidFill>
                <a:latin typeface="Calibri"/>
              </a:rPr>
              <a:t>AssistantAgent</a:t>
            </a:r>
            <a:endParaRPr lang="en-US" sz="10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4" name="Text 8">
            <a:extLst>
              <a:ext uri="{FF2B5EF4-FFF2-40B4-BE49-F238E27FC236}">
                <a16:creationId xmlns:a16="http://schemas.microsoft.com/office/drawing/2014/main" id="{DEF7254F-B992-6700-71F0-F1634CB39A66}"/>
              </a:ext>
            </a:extLst>
          </p:cNvPr>
          <p:cNvSpPr/>
          <p:nvPr/>
        </p:nvSpPr>
        <p:spPr>
          <a:xfrm>
            <a:off x="520700" y="1855788"/>
            <a:ext cx="2524125" cy="10064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 dirty="0">
                <a:solidFill>
                  <a:srgbClr val="1E3A8A"/>
                </a:solidFill>
                <a:latin typeface="Calibri"/>
              </a:rPr>
              <a:t>Searches the web, reads papers, compiles source material and key findings for the team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5" name="Shape 9">
            <a:extLst>
              <a:ext uri="{FF2B5EF4-FFF2-40B4-BE49-F238E27FC236}">
                <a16:creationId xmlns:a16="http://schemas.microsoft.com/office/drawing/2014/main" id="{44158934-2CBE-4D31-AB34-6933960F4998}"/>
              </a:ext>
            </a:extLst>
          </p:cNvPr>
          <p:cNvSpPr/>
          <p:nvPr/>
        </p:nvSpPr>
        <p:spPr>
          <a:xfrm>
            <a:off x="3336925" y="1325563"/>
            <a:ext cx="274320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6" name="Shape 10">
            <a:extLst>
              <a:ext uri="{FF2B5EF4-FFF2-40B4-BE49-F238E27FC236}">
                <a16:creationId xmlns:a16="http://schemas.microsoft.com/office/drawing/2014/main" id="{D9D92D89-83EF-1DE7-BD98-C90803F51A22}"/>
              </a:ext>
            </a:extLst>
          </p:cNvPr>
          <p:cNvSpPr/>
          <p:nvPr/>
        </p:nvSpPr>
        <p:spPr>
          <a:xfrm>
            <a:off x="3336925" y="1325563"/>
            <a:ext cx="2743200" cy="457200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7" name="Text 11">
            <a:extLst>
              <a:ext uri="{FF2B5EF4-FFF2-40B4-BE49-F238E27FC236}">
                <a16:creationId xmlns:a16="http://schemas.microsoft.com/office/drawing/2014/main" id="{BF069173-B790-D3A7-859E-AD2892060BE8}"/>
              </a:ext>
            </a:extLst>
          </p:cNvPr>
          <p:cNvSpPr/>
          <p:nvPr/>
        </p:nvSpPr>
        <p:spPr>
          <a:xfrm>
            <a:off x="3336925" y="1344613"/>
            <a:ext cx="2743200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chemeClr val="bg1"/>
                </a:solidFill>
                <a:latin typeface="Calibri"/>
              </a:rPr>
              <a:t>Analyst</a:t>
            </a:r>
            <a:endParaRPr lang="en-US" sz="12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08" name="Text 12">
            <a:extLst>
              <a:ext uri="{FF2B5EF4-FFF2-40B4-BE49-F238E27FC236}">
                <a16:creationId xmlns:a16="http://schemas.microsoft.com/office/drawing/2014/main" id="{DB10BB43-50ED-1146-A4CC-F05931B16E17}"/>
              </a:ext>
            </a:extLst>
          </p:cNvPr>
          <p:cNvSpPr/>
          <p:nvPr/>
        </p:nvSpPr>
        <p:spPr>
          <a:xfrm>
            <a:off x="3336925" y="1581150"/>
            <a:ext cx="2743200" cy="1841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 dirty="0" err="1">
                <a:solidFill>
                  <a:schemeClr val="bg1"/>
                </a:solidFill>
                <a:latin typeface="Calibri"/>
              </a:rPr>
              <a:t>AssistantAgent</a:t>
            </a:r>
            <a:endParaRPr lang="en-US" sz="10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09" name="Text 13">
            <a:extLst>
              <a:ext uri="{FF2B5EF4-FFF2-40B4-BE49-F238E27FC236}">
                <a16:creationId xmlns:a16="http://schemas.microsoft.com/office/drawing/2014/main" id="{3A03EAD5-636A-7B8E-EBF2-77ECA3ED9955}"/>
              </a:ext>
            </a:extLst>
          </p:cNvPr>
          <p:cNvSpPr/>
          <p:nvPr/>
        </p:nvSpPr>
        <p:spPr>
          <a:xfrm>
            <a:off x="3448050" y="1855788"/>
            <a:ext cx="2522538" cy="10064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 dirty="0">
                <a:solidFill>
                  <a:srgbClr val="1E3A8A"/>
                </a:solidFill>
                <a:latin typeface="Calibri"/>
              </a:rPr>
              <a:t>Interprets data, identifies patterns and trends, challenges weak claims from researcher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0" name="Shape 14">
            <a:extLst>
              <a:ext uri="{FF2B5EF4-FFF2-40B4-BE49-F238E27FC236}">
                <a16:creationId xmlns:a16="http://schemas.microsoft.com/office/drawing/2014/main" id="{11259D19-CA48-74EA-0A68-599FA2E7A2C5}"/>
              </a:ext>
            </a:extLst>
          </p:cNvPr>
          <p:cNvSpPr/>
          <p:nvPr/>
        </p:nvSpPr>
        <p:spPr>
          <a:xfrm>
            <a:off x="6264275" y="1325563"/>
            <a:ext cx="274320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1" name="Shape 15">
            <a:extLst>
              <a:ext uri="{FF2B5EF4-FFF2-40B4-BE49-F238E27FC236}">
                <a16:creationId xmlns:a16="http://schemas.microsoft.com/office/drawing/2014/main" id="{057B8B88-4CA0-38C2-1146-9B3B46EA9E59}"/>
              </a:ext>
            </a:extLst>
          </p:cNvPr>
          <p:cNvSpPr/>
          <p:nvPr/>
        </p:nvSpPr>
        <p:spPr>
          <a:xfrm>
            <a:off x="6264275" y="1325563"/>
            <a:ext cx="2743200" cy="457200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2" name="Text 16">
            <a:extLst>
              <a:ext uri="{FF2B5EF4-FFF2-40B4-BE49-F238E27FC236}">
                <a16:creationId xmlns:a16="http://schemas.microsoft.com/office/drawing/2014/main" id="{6A3ED74D-684B-A903-8C38-FDF2B415838B}"/>
              </a:ext>
            </a:extLst>
          </p:cNvPr>
          <p:cNvSpPr/>
          <p:nvPr/>
        </p:nvSpPr>
        <p:spPr>
          <a:xfrm>
            <a:off x="6264275" y="1344613"/>
            <a:ext cx="2743200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chemeClr val="bg1"/>
                </a:solidFill>
                <a:latin typeface="Calibri"/>
              </a:rPr>
              <a:t>Fact-Checker</a:t>
            </a:r>
            <a:endParaRPr lang="en-US" sz="12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13" name="Text 17">
            <a:extLst>
              <a:ext uri="{FF2B5EF4-FFF2-40B4-BE49-F238E27FC236}">
                <a16:creationId xmlns:a16="http://schemas.microsoft.com/office/drawing/2014/main" id="{820105ED-5EB2-F0FE-0B6B-B4BD12B88912}"/>
              </a:ext>
            </a:extLst>
          </p:cNvPr>
          <p:cNvSpPr/>
          <p:nvPr/>
        </p:nvSpPr>
        <p:spPr>
          <a:xfrm>
            <a:off x="6264275" y="1581150"/>
            <a:ext cx="2743200" cy="1841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chemeClr val="bg1"/>
                </a:solidFill>
                <a:latin typeface="Calibri"/>
              </a:rPr>
              <a:t>AssistantAgent</a:t>
            </a:r>
          </a:p>
        </p:txBody>
      </p:sp>
      <p:sp>
        <p:nvSpPr>
          <p:cNvPr id="514" name="Text 18">
            <a:extLst>
              <a:ext uri="{FF2B5EF4-FFF2-40B4-BE49-F238E27FC236}">
                <a16:creationId xmlns:a16="http://schemas.microsoft.com/office/drawing/2014/main" id="{54F5DDE6-B4DE-4071-3090-05F9930BBD2C}"/>
              </a:ext>
            </a:extLst>
          </p:cNvPr>
          <p:cNvSpPr/>
          <p:nvPr/>
        </p:nvSpPr>
        <p:spPr>
          <a:xfrm>
            <a:off x="6373813" y="1855788"/>
            <a:ext cx="2522537" cy="10064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Verifies all claims against authoritative sources, flags inaccuracies and hallucinations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5" name="Shape 19">
            <a:extLst>
              <a:ext uri="{FF2B5EF4-FFF2-40B4-BE49-F238E27FC236}">
                <a16:creationId xmlns:a16="http://schemas.microsoft.com/office/drawing/2014/main" id="{D6B8B0F5-CB65-BA8C-0D25-2420765BCEF9}"/>
              </a:ext>
            </a:extLst>
          </p:cNvPr>
          <p:cNvSpPr/>
          <p:nvPr/>
        </p:nvSpPr>
        <p:spPr>
          <a:xfrm>
            <a:off x="411163" y="3154363"/>
            <a:ext cx="2743200" cy="1463675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6" name="Shape 20">
            <a:extLst>
              <a:ext uri="{FF2B5EF4-FFF2-40B4-BE49-F238E27FC236}">
                <a16:creationId xmlns:a16="http://schemas.microsoft.com/office/drawing/2014/main" id="{4F286944-71F0-CD65-1CC2-1A6193F4ED13}"/>
              </a:ext>
            </a:extLst>
          </p:cNvPr>
          <p:cNvSpPr/>
          <p:nvPr/>
        </p:nvSpPr>
        <p:spPr>
          <a:xfrm>
            <a:off x="411163" y="3154363"/>
            <a:ext cx="2743200" cy="457200"/>
          </a:xfrm>
          <a:prstGeom prst="rect">
            <a:avLst/>
          </a:prstGeom>
          <a:solidFill>
            <a:srgbClr val="E65100"/>
          </a:solidFill>
          <a:ln w="12600">
            <a:solidFill>
              <a:srgbClr val="E651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7" name="Text 21">
            <a:extLst>
              <a:ext uri="{FF2B5EF4-FFF2-40B4-BE49-F238E27FC236}">
                <a16:creationId xmlns:a16="http://schemas.microsoft.com/office/drawing/2014/main" id="{08A23C10-06A4-FA7D-6425-EF8BB83C4680}"/>
              </a:ext>
            </a:extLst>
          </p:cNvPr>
          <p:cNvSpPr/>
          <p:nvPr/>
        </p:nvSpPr>
        <p:spPr>
          <a:xfrm>
            <a:off x="411163" y="3173413"/>
            <a:ext cx="2743200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chemeClr val="bg1"/>
                </a:solidFill>
                <a:latin typeface="Calibri"/>
              </a:rPr>
              <a:t>Writer</a:t>
            </a:r>
            <a:endParaRPr lang="en-US" sz="12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18" name="Text 22">
            <a:extLst>
              <a:ext uri="{FF2B5EF4-FFF2-40B4-BE49-F238E27FC236}">
                <a16:creationId xmlns:a16="http://schemas.microsoft.com/office/drawing/2014/main" id="{C2EAC95D-15AD-0DDC-7082-D76FF1FFD1FC}"/>
              </a:ext>
            </a:extLst>
          </p:cNvPr>
          <p:cNvSpPr/>
          <p:nvPr/>
        </p:nvSpPr>
        <p:spPr>
          <a:xfrm>
            <a:off x="411163" y="3409950"/>
            <a:ext cx="2743200" cy="1841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chemeClr val="bg1"/>
                </a:solidFill>
                <a:latin typeface="Calibri"/>
              </a:rPr>
              <a:t>AssistantAgent</a:t>
            </a:r>
          </a:p>
        </p:txBody>
      </p:sp>
      <p:sp>
        <p:nvSpPr>
          <p:cNvPr id="519" name="Text 23">
            <a:extLst>
              <a:ext uri="{FF2B5EF4-FFF2-40B4-BE49-F238E27FC236}">
                <a16:creationId xmlns:a16="http://schemas.microsoft.com/office/drawing/2014/main" id="{602270FA-C5DC-84A5-1560-5618E6E5DF6D}"/>
              </a:ext>
            </a:extLst>
          </p:cNvPr>
          <p:cNvSpPr/>
          <p:nvPr/>
        </p:nvSpPr>
        <p:spPr>
          <a:xfrm>
            <a:off x="520700" y="3684588"/>
            <a:ext cx="2524125" cy="10064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Structures findings into a coherent, well-cited report with executive summary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0" name="Shape 24">
            <a:extLst>
              <a:ext uri="{FF2B5EF4-FFF2-40B4-BE49-F238E27FC236}">
                <a16:creationId xmlns:a16="http://schemas.microsoft.com/office/drawing/2014/main" id="{63668F6E-9E4B-A848-2708-1A1617EDC4C1}"/>
              </a:ext>
            </a:extLst>
          </p:cNvPr>
          <p:cNvSpPr/>
          <p:nvPr/>
        </p:nvSpPr>
        <p:spPr>
          <a:xfrm>
            <a:off x="3336925" y="3154363"/>
            <a:ext cx="2743200" cy="1463675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1" name="Shape 25">
            <a:extLst>
              <a:ext uri="{FF2B5EF4-FFF2-40B4-BE49-F238E27FC236}">
                <a16:creationId xmlns:a16="http://schemas.microsoft.com/office/drawing/2014/main" id="{E4B4C8B0-EC6B-6142-A38E-A532B9080D6F}"/>
              </a:ext>
            </a:extLst>
          </p:cNvPr>
          <p:cNvSpPr/>
          <p:nvPr/>
        </p:nvSpPr>
        <p:spPr>
          <a:xfrm>
            <a:off x="3336925" y="3154363"/>
            <a:ext cx="2743200" cy="457200"/>
          </a:xfrm>
          <a:prstGeom prst="rect">
            <a:avLst/>
          </a:prstGeom>
          <a:solidFill>
            <a:srgbClr val="37474F"/>
          </a:solidFill>
          <a:ln w="12600">
            <a:solidFill>
              <a:srgbClr val="37474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2" name="Text 26">
            <a:extLst>
              <a:ext uri="{FF2B5EF4-FFF2-40B4-BE49-F238E27FC236}">
                <a16:creationId xmlns:a16="http://schemas.microsoft.com/office/drawing/2014/main" id="{72493374-BB98-BFA4-CC49-E5A916122270}"/>
              </a:ext>
            </a:extLst>
          </p:cNvPr>
          <p:cNvSpPr/>
          <p:nvPr/>
        </p:nvSpPr>
        <p:spPr>
          <a:xfrm>
            <a:off x="3336925" y="3173413"/>
            <a:ext cx="2743200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chemeClr val="bg1"/>
                </a:solidFill>
                <a:latin typeface="Calibri"/>
              </a:rPr>
              <a:t>Critic</a:t>
            </a:r>
            <a:endParaRPr lang="en-US" sz="12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23" name="Text 27">
            <a:extLst>
              <a:ext uri="{FF2B5EF4-FFF2-40B4-BE49-F238E27FC236}">
                <a16:creationId xmlns:a16="http://schemas.microsoft.com/office/drawing/2014/main" id="{9E9A9CC8-8C93-EB34-09DF-7082155BF7DF}"/>
              </a:ext>
            </a:extLst>
          </p:cNvPr>
          <p:cNvSpPr/>
          <p:nvPr/>
        </p:nvSpPr>
        <p:spPr>
          <a:xfrm>
            <a:off x="3336925" y="3409950"/>
            <a:ext cx="2743200" cy="1841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chemeClr val="bg1"/>
                </a:solidFill>
                <a:latin typeface="Calibri"/>
              </a:rPr>
              <a:t>AssistantAgent</a:t>
            </a:r>
          </a:p>
        </p:txBody>
      </p:sp>
      <p:sp>
        <p:nvSpPr>
          <p:cNvPr id="524" name="Text 28">
            <a:extLst>
              <a:ext uri="{FF2B5EF4-FFF2-40B4-BE49-F238E27FC236}">
                <a16:creationId xmlns:a16="http://schemas.microsoft.com/office/drawing/2014/main" id="{88543F74-91DA-BD00-1292-7972F189ABDE}"/>
              </a:ext>
            </a:extLst>
          </p:cNvPr>
          <p:cNvSpPr/>
          <p:nvPr/>
        </p:nvSpPr>
        <p:spPr>
          <a:xfrm>
            <a:off x="3448050" y="3684588"/>
            <a:ext cx="2522538" cy="10064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Reviews the draft for clarity, completeness, bias. Requests revisions before sign-off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5" name="Shape 29">
            <a:extLst>
              <a:ext uri="{FF2B5EF4-FFF2-40B4-BE49-F238E27FC236}">
                <a16:creationId xmlns:a16="http://schemas.microsoft.com/office/drawing/2014/main" id="{361EE70A-5B00-4008-8987-F140D6E6BE78}"/>
              </a:ext>
            </a:extLst>
          </p:cNvPr>
          <p:cNvSpPr/>
          <p:nvPr/>
        </p:nvSpPr>
        <p:spPr>
          <a:xfrm>
            <a:off x="6264275" y="3154363"/>
            <a:ext cx="2743200" cy="1463675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6" name="Shape 30">
            <a:extLst>
              <a:ext uri="{FF2B5EF4-FFF2-40B4-BE49-F238E27FC236}">
                <a16:creationId xmlns:a16="http://schemas.microsoft.com/office/drawing/2014/main" id="{E5931240-EBCF-82BA-9231-1F403F08C648}"/>
              </a:ext>
            </a:extLst>
          </p:cNvPr>
          <p:cNvSpPr/>
          <p:nvPr/>
        </p:nvSpPr>
        <p:spPr>
          <a:xfrm>
            <a:off x="6264275" y="3154363"/>
            <a:ext cx="2743200" cy="457200"/>
          </a:xfrm>
          <a:prstGeom prst="rect">
            <a:avLst/>
          </a:prstGeom>
          <a:solidFill>
            <a:srgbClr val="B71C1C"/>
          </a:solidFill>
          <a:ln w="12600">
            <a:solidFill>
              <a:srgbClr val="B71C1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7" name="Text 31">
            <a:extLst>
              <a:ext uri="{FF2B5EF4-FFF2-40B4-BE49-F238E27FC236}">
                <a16:creationId xmlns:a16="http://schemas.microsoft.com/office/drawing/2014/main" id="{9BFC8A18-764C-1817-501D-2D61ED1A352C}"/>
              </a:ext>
            </a:extLst>
          </p:cNvPr>
          <p:cNvSpPr/>
          <p:nvPr/>
        </p:nvSpPr>
        <p:spPr>
          <a:xfrm>
            <a:off x="6264275" y="3173413"/>
            <a:ext cx="2743200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chemeClr val="bg1"/>
                </a:solidFill>
                <a:latin typeface="Calibri"/>
              </a:rPr>
              <a:t>User Proxy</a:t>
            </a:r>
            <a:endParaRPr lang="en-US" sz="12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28" name="Text 32">
            <a:extLst>
              <a:ext uri="{FF2B5EF4-FFF2-40B4-BE49-F238E27FC236}">
                <a16:creationId xmlns:a16="http://schemas.microsoft.com/office/drawing/2014/main" id="{25A7FB64-0BD6-ECC9-D202-555BF33C7F03}"/>
              </a:ext>
            </a:extLst>
          </p:cNvPr>
          <p:cNvSpPr/>
          <p:nvPr/>
        </p:nvSpPr>
        <p:spPr>
          <a:xfrm>
            <a:off x="6264275" y="3409950"/>
            <a:ext cx="2743200" cy="1841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chemeClr val="bg1"/>
                </a:solidFill>
                <a:latin typeface="Calibri"/>
              </a:rPr>
              <a:t>UserProxyAgent</a:t>
            </a:r>
          </a:p>
        </p:txBody>
      </p:sp>
      <p:sp>
        <p:nvSpPr>
          <p:cNvPr id="529" name="Text 33">
            <a:extLst>
              <a:ext uri="{FF2B5EF4-FFF2-40B4-BE49-F238E27FC236}">
                <a16:creationId xmlns:a16="http://schemas.microsoft.com/office/drawing/2014/main" id="{1B3AF584-654F-D837-D920-7647C2B37E14}"/>
              </a:ext>
            </a:extLst>
          </p:cNvPr>
          <p:cNvSpPr/>
          <p:nvPr/>
        </p:nvSpPr>
        <p:spPr>
          <a:xfrm>
            <a:off x="6373813" y="3684588"/>
            <a:ext cx="2522537" cy="10064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Kicks off workflow, auto-runs code blocks, injects TERMINATE when report is approved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0" name="Shape 34">
            <a:extLst>
              <a:ext uri="{FF2B5EF4-FFF2-40B4-BE49-F238E27FC236}">
                <a16:creationId xmlns:a16="http://schemas.microsoft.com/office/drawing/2014/main" id="{047C4F64-CEEE-BB27-8564-F3CFD207A375}"/>
              </a:ext>
            </a:extLst>
          </p:cNvPr>
          <p:cNvSpPr/>
          <p:nvPr/>
        </p:nvSpPr>
        <p:spPr>
          <a:xfrm>
            <a:off x="411163" y="4741863"/>
            <a:ext cx="8321675" cy="201612"/>
          </a:xfrm>
          <a:prstGeom prst="rect">
            <a:avLst/>
          </a:prstGeom>
          <a:solidFill>
            <a:srgbClr val="F0F9FF"/>
          </a:solidFill>
          <a:ln w="12600">
            <a:solidFill>
              <a:srgbClr val="BAE6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1" name="Text 35">
            <a:extLst>
              <a:ext uri="{FF2B5EF4-FFF2-40B4-BE49-F238E27FC236}">
                <a16:creationId xmlns:a16="http://schemas.microsoft.com/office/drawing/2014/main" id="{1E5EF82D-6548-72CA-A739-B40504C2C610}"/>
              </a:ext>
            </a:extLst>
          </p:cNvPr>
          <p:cNvSpPr/>
          <p:nvPr/>
        </p:nvSpPr>
        <p:spPr>
          <a:xfrm>
            <a:off x="411163" y="4741863"/>
            <a:ext cx="8321675" cy="2016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Result: Verified, multi-perspective research report produced autonomously — human approves at the end</a:t>
            </a:r>
            <a:endParaRPr lang="en-US" sz="1100" spc="-1" dirty="0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pic>
        <p:nvPicPr>
          <p:cNvPr id="38950" name="Picture 1">
            <a:extLst>
              <a:ext uri="{FF2B5EF4-FFF2-40B4-BE49-F238E27FC236}">
                <a16:creationId xmlns:a16="http://schemas.microsoft.com/office/drawing/2014/main" id="{8DA20EFB-53F4-4E03-4563-807802DC1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1288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" grpId="0" animBg="1"/>
      <p:bldP spid="501" grpId="0" animBg="1"/>
      <p:bldP spid="502" grpId="0"/>
      <p:bldP spid="503" grpId="0"/>
      <p:bldP spid="504" grpId="0"/>
      <p:bldP spid="505" grpId="0" animBg="1"/>
      <p:bldP spid="506" grpId="0" animBg="1"/>
      <p:bldP spid="507" grpId="0"/>
      <p:bldP spid="508" grpId="0"/>
      <p:bldP spid="509" grpId="0"/>
      <p:bldP spid="510" grpId="0" animBg="1"/>
      <p:bldP spid="511" grpId="0" animBg="1"/>
      <p:bldP spid="512" grpId="0"/>
      <p:bldP spid="513" grpId="0"/>
      <p:bldP spid="514" grpId="0"/>
      <p:bldP spid="515" grpId="0" animBg="1"/>
      <p:bldP spid="516" grpId="0" animBg="1"/>
      <p:bldP spid="517" grpId="0"/>
      <p:bldP spid="518" grpId="0"/>
      <p:bldP spid="519" grpId="0"/>
      <p:bldP spid="520" grpId="0" animBg="1"/>
      <p:bldP spid="521" grpId="0" animBg="1"/>
      <p:bldP spid="522" grpId="0"/>
      <p:bldP spid="523" grpId="0"/>
      <p:bldP spid="524" grpId="0"/>
      <p:bldP spid="525" grpId="0" animBg="1"/>
      <p:bldP spid="526" grpId="0" animBg="1"/>
      <p:bldP spid="527" grpId="0"/>
      <p:bldP spid="528" grpId="0"/>
      <p:bldP spid="5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0">
            <a:extLst>
              <a:ext uri="{FF2B5EF4-FFF2-40B4-BE49-F238E27FC236}">
                <a16:creationId xmlns:a16="http://schemas.microsoft.com/office/drawing/2014/main" id="{C2F6241F-FD4B-1BE2-AE23-8EE9E7E825CE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4" name="Text 1">
            <a:extLst>
              <a:ext uri="{FF2B5EF4-FFF2-40B4-BE49-F238E27FC236}">
                <a16:creationId xmlns:a16="http://schemas.microsoft.com/office/drawing/2014/main" id="{47141DEB-F1C1-6D7F-0BED-9D29B3568824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>
                <a:solidFill>
                  <a:srgbClr val="1E3A8A"/>
                </a:solidFill>
                <a:latin typeface="Calibri"/>
              </a:rPr>
              <a:t>AUTOGEN</a:t>
            </a:r>
            <a:endParaRPr lang="en-US" sz="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5" name="Text 2">
            <a:extLst>
              <a:ext uri="{FF2B5EF4-FFF2-40B4-BE49-F238E27FC236}">
                <a16:creationId xmlns:a16="http://schemas.microsoft.com/office/drawing/2014/main" id="{EBC6F190-4A78-B526-633B-A884191B476F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200" b="1" spc="-1" dirty="0" err="1">
                <a:solidFill>
                  <a:srgbClr val="1E3A8A"/>
                </a:solidFill>
                <a:latin typeface="Calibri"/>
              </a:rPr>
              <a:t>AutoGen</a:t>
            </a:r>
            <a:r>
              <a:rPr lang="en-US" sz="2200" b="1" spc="-1" dirty="0">
                <a:solidFill>
                  <a:srgbClr val="1E3A8A"/>
                </a:solidFill>
                <a:latin typeface="Calibri"/>
              </a:rPr>
              <a:t> - Code Pattern</a:t>
            </a:r>
            <a:endParaRPr lang="en-US" sz="2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6" name="Text 3">
            <a:extLst>
              <a:ext uri="{FF2B5EF4-FFF2-40B4-BE49-F238E27FC236}">
                <a16:creationId xmlns:a16="http://schemas.microsoft.com/office/drawing/2014/main" id="{D5723565-DCC7-B24B-7CEA-CAA4EDFEC49B}"/>
              </a:ext>
            </a:extLst>
          </p:cNvPr>
          <p:cNvSpPr/>
          <p:nvPr/>
        </p:nvSpPr>
        <p:spPr>
          <a:xfrm>
            <a:off x="457200" y="960438"/>
            <a:ext cx="8229600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spc="-1" dirty="0">
                <a:solidFill>
                  <a:srgbClr val="1E3A8A"/>
                </a:solidFill>
                <a:latin typeface="Calibri"/>
              </a:rPr>
              <a:t>Set up a multi-agent </a:t>
            </a:r>
            <a:r>
              <a:rPr lang="en-US" sz="1300" spc="-1" dirty="0" err="1">
                <a:solidFill>
                  <a:srgbClr val="1E3A8A"/>
                </a:solidFill>
                <a:latin typeface="Calibri"/>
              </a:rPr>
              <a:t>GroupChat</a:t>
            </a:r>
            <a:r>
              <a:rPr lang="en-US" sz="1300" spc="-1" dirty="0">
                <a:solidFill>
                  <a:srgbClr val="1E3A8A"/>
                </a:solidFill>
                <a:latin typeface="Calibri"/>
              </a:rPr>
              <a:t> in under 20 lines of Python:</a:t>
            </a:r>
            <a:endParaRPr lang="en-US" sz="13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7" name="Shape 4">
            <a:extLst>
              <a:ext uri="{FF2B5EF4-FFF2-40B4-BE49-F238E27FC236}">
                <a16:creationId xmlns:a16="http://schemas.microsoft.com/office/drawing/2014/main" id="{3E462BEB-C389-2BF2-E64E-BC5DFF26A7D5}"/>
              </a:ext>
            </a:extLst>
          </p:cNvPr>
          <p:cNvSpPr/>
          <p:nvPr/>
        </p:nvSpPr>
        <p:spPr>
          <a:xfrm>
            <a:off x="411163" y="1262063"/>
            <a:ext cx="5303837" cy="3657600"/>
          </a:xfrm>
          <a:prstGeom prst="rect">
            <a:avLst/>
          </a:prstGeom>
          <a:solidFill>
            <a:srgbClr val="DBEAFE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8" name="Text 5">
            <a:extLst>
              <a:ext uri="{FF2B5EF4-FFF2-40B4-BE49-F238E27FC236}">
                <a16:creationId xmlns:a16="http://schemas.microsoft.com/office/drawing/2014/main" id="{DD8D4362-A8A4-15A3-97A5-56B0B7447FBD}"/>
              </a:ext>
            </a:extLst>
          </p:cNvPr>
          <p:cNvSpPr/>
          <p:nvPr/>
        </p:nvSpPr>
        <p:spPr>
          <a:xfrm>
            <a:off x="503238" y="1325563"/>
            <a:ext cx="5119687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spc="-1">
                <a:solidFill>
                  <a:srgbClr val="888888"/>
                </a:solidFill>
                <a:latin typeface="Courier New"/>
                <a:ea typeface="Courier New"/>
              </a:rPr>
              <a:t># Python</a:t>
            </a:r>
            <a:endParaRPr lang="en-US" sz="10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9" name="Text 6">
            <a:extLst>
              <a:ext uri="{FF2B5EF4-FFF2-40B4-BE49-F238E27FC236}">
                <a16:creationId xmlns:a16="http://schemas.microsoft.com/office/drawing/2014/main" id="{DCBB879E-C0FF-7C2B-0174-29D0E176972A}"/>
              </a:ext>
            </a:extLst>
          </p:cNvPr>
          <p:cNvSpPr/>
          <p:nvPr/>
        </p:nvSpPr>
        <p:spPr>
          <a:xfrm>
            <a:off x="503238" y="1573213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import autogen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0" name="Text 7">
            <a:extLst>
              <a:ext uri="{FF2B5EF4-FFF2-40B4-BE49-F238E27FC236}">
                <a16:creationId xmlns:a16="http://schemas.microsoft.com/office/drawing/2014/main" id="{09DB05AD-23B8-EBAF-D91C-16AD0D81AAA5}"/>
              </a:ext>
            </a:extLst>
          </p:cNvPr>
          <p:cNvSpPr/>
          <p:nvPr/>
        </p:nvSpPr>
        <p:spPr>
          <a:xfrm>
            <a:off x="503238" y="1714500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 dirty="0">
                <a:solidFill>
                  <a:srgbClr val="0C4A6E"/>
                </a:solidFill>
                <a:latin typeface="Courier New"/>
                <a:ea typeface="Courier New"/>
              </a:rPr>
              <a:t>config = {'model':'gpt-4o', '</a:t>
            </a:r>
            <a:r>
              <a:rPr lang="en-US" sz="900" spc="-1" dirty="0" err="1">
                <a:solidFill>
                  <a:srgbClr val="0C4A6E"/>
                </a:solidFill>
                <a:latin typeface="Courier New"/>
                <a:ea typeface="Courier New"/>
              </a:rPr>
              <a:t>api_key</a:t>
            </a:r>
            <a:r>
              <a:rPr lang="en-US" sz="900" spc="-1" dirty="0">
                <a:solidFill>
                  <a:srgbClr val="0C4A6E"/>
                </a:solidFill>
                <a:latin typeface="Courier New"/>
                <a:ea typeface="Courier New"/>
              </a:rPr>
              <a:t>': </a:t>
            </a:r>
            <a:r>
              <a:rPr lang="en-US" sz="900" spc="-1" dirty="0" err="1">
                <a:solidFill>
                  <a:srgbClr val="0C4A6E"/>
                </a:solidFill>
                <a:latin typeface="Courier New"/>
                <a:ea typeface="Courier New"/>
              </a:rPr>
              <a:t>os.environ</a:t>
            </a:r>
            <a:r>
              <a:rPr lang="en-US" sz="900" spc="-1" dirty="0">
                <a:solidFill>
                  <a:srgbClr val="0C4A6E"/>
                </a:solidFill>
                <a:latin typeface="Courier New"/>
                <a:ea typeface="Courier New"/>
              </a:rPr>
              <a:t>['OPENAI_API_KEY']}</a:t>
            </a:r>
            <a:endParaRPr lang="en-US" sz="9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1" name="Text 8">
            <a:extLst>
              <a:ext uri="{FF2B5EF4-FFF2-40B4-BE49-F238E27FC236}">
                <a16:creationId xmlns:a16="http://schemas.microsoft.com/office/drawing/2014/main" id="{103ABEED-910B-8A18-EB00-48FEB7123FEB}"/>
              </a:ext>
            </a:extLst>
          </p:cNvPr>
          <p:cNvSpPr/>
          <p:nvPr/>
        </p:nvSpPr>
        <p:spPr>
          <a:xfrm>
            <a:off x="503238" y="1855788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4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2" name="Text 9">
            <a:extLst>
              <a:ext uri="{FF2B5EF4-FFF2-40B4-BE49-F238E27FC236}">
                <a16:creationId xmlns:a16="http://schemas.microsoft.com/office/drawing/2014/main" id="{623FE805-BC59-5EE7-D830-9D0E0D0DE3B9}"/>
              </a:ext>
            </a:extLst>
          </p:cNvPr>
          <p:cNvSpPr/>
          <p:nvPr/>
        </p:nvSpPr>
        <p:spPr>
          <a:xfrm>
            <a:off x="503238" y="1998663"/>
            <a:ext cx="5119687" cy="153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888888"/>
                </a:solidFill>
                <a:latin typeface="Courier New"/>
                <a:ea typeface="Courier New"/>
              </a:rPr>
              <a:t># 1. Define specialist agents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3" name="Text 10">
            <a:extLst>
              <a:ext uri="{FF2B5EF4-FFF2-40B4-BE49-F238E27FC236}">
                <a16:creationId xmlns:a16="http://schemas.microsoft.com/office/drawing/2014/main" id="{852825AB-9684-AD3F-9446-FF7DD2BC072A}"/>
              </a:ext>
            </a:extLst>
          </p:cNvPr>
          <p:cNvSpPr/>
          <p:nvPr/>
        </p:nvSpPr>
        <p:spPr>
          <a:xfrm>
            <a:off x="503238" y="2139950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researcher = autogen.AssistantAgent('researcher',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4" name="Text 11">
            <a:extLst>
              <a:ext uri="{FF2B5EF4-FFF2-40B4-BE49-F238E27FC236}">
                <a16:creationId xmlns:a16="http://schemas.microsoft.com/office/drawing/2014/main" id="{D945A8C5-C53A-C209-6408-1A410B2E073B}"/>
              </a:ext>
            </a:extLst>
          </p:cNvPr>
          <p:cNvSpPr/>
          <p:nvPr/>
        </p:nvSpPr>
        <p:spPr>
          <a:xfrm>
            <a:off x="503238" y="2281238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  system_message='You are a research expert...',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5" name="Text 12">
            <a:extLst>
              <a:ext uri="{FF2B5EF4-FFF2-40B4-BE49-F238E27FC236}">
                <a16:creationId xmlns:a16="http://schemas.microsoft.com/office/drawing/2014/main" id="{9463DAE3-A3B0-1ADD-DB09-313BA7B75C07}"/>
              </a:ext>
            </a:extLst>
          </p:cNvPr>
          <p:cNvSpPr/>
          <p:nvPr/>
        </p:nvSpPr>
        <p:spPr>
          <a:xfrm>
            <a:off x="503238" y="2422525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  llm_config=config)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6" name="Text 13">
            <a:extLst>
              <a:ext uri="{FF2B5EF4-FFF2-40B4-BE49-F238E27FC236}">
                <a16:creationId xmlns:a16="http://schemas.microsoft.com/office/drawing/2014/main" id="{A95E038E-58A4-8541-682D-B134F92E3210}"/>
              </a:ext>
            </a:extLst>
          </p:cNvPr>
          <p:cNvSpPr/>
          <p:nvPr/>
        </p:nvSpPr>
        <p:spPr>
          <a:xfrm>
            <a:off x="503238" y="2565400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analyst = autogen.AssistantAgent('analyst',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7" name="Text 14">
            <a:extLst>
              <a:ext uri="{FF2B5EF4-FFF2-40B4-BE49-F238E27FC236}">
                <a16:creationId xmlns:a16="http://schemas.microsoft.com/office/drawing/2014/main" id="{5BDD2EBF-B098-1978-66B6-1835018C4478}"/>
              </a:ext>
            </a:extLst>
          </p:cNvPr>
          <p:cNvSpPr/>
          <p:nvPr/>
        </p:nvSpPr>
        <p:spPr>
          <a:xfrm>
            <a:off x="503238" y="2706688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  system_message='You analyse data...', llm_config=config)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8" name="Text 15">
            <a:extLst>
              <a:ext uri="{FF2B5EF4-FFF2-40B4-BE49-F238E27FC236}">
                <a16:creationId xmlns:a16="http://schemas.microsoft.com/office/drawing/2014/main" id="{F79DC811-900B-C873-FB24-A124E659B560}"/>
              </a:ext>
            </a:extLst>
          </p:cNvPr>
          <p:cNvSpPr/>
          <p:nvPr/>
        </p:nvSpPr>
        <p:spPr>
          <a:xfrm>
            <a:off x="503238" y="2847975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writer  = autogen.AssistantAgent('writer',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9" name="Text 16">
            <a:extLst>
              <a:ext uri="{FF2B5EF4-FFF2-40B4-BE49-F238E27FC236}">
                <a16:creationId xmlns:a16="http://schemas.microsoft.com/office/drawing/2014/main" id="{A9B89263-BAC8-47ED-7CF6-1610C7E561CF}"/>
              </a:ext>
            </a:extLst>
          </p:cNvPr>
          <p:cNvSpPr/>
          <p:nvPr/>
        </p:nvSpPr>
        <p:spPr>
          <a:xfrm>
            <a:off x="503238" y="2990850"/>
            <a:ext cx="5119687" cy="1539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  system_message='You write reports...', llm_config=config)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0" name="Text 17">
            <a:extLst>
              <a:ext uri="{FF2B5EF4-FFF2-40B4-BE49-F238E27FC236}">
                <a16:creationId xmlns:a16="http://schemas.microsoft.com/office/drawing/2014/main" id="{2F88EBD5-DD0B-38E1-BE84-05EA774A059D}"/>
              </a:ext>
            </a:extLst>
          </p:cNvPr>
          <p:cNvSpPr/>
          <p:nvPr/>
        </p:nvSpPr>
        <p:spPr>
          <a:xfrm>
            <a:off x="503238" y="3132138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user_proxy = autogen.UserProxyAgent('user',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1" name="Text 18">
            <a:extLst>
              <a:ext uri="{FF2B5EF4-FFF2-40B4-BE49-F238E27FC236}">
                <a16:creationId xmlns:a16="http://schemas.microsoft.com/office/drawing/2014/main" id="{C9BFA63E-001A-21D0-63F9-83486003C2E0}"/>
              </a:ext>
            </a:extLst>
          </p:cNvPr>
          <p:cNvSpPr/>
          <p:nvPr/>
        </p:nvSpPr>
        <p:spPr>
          <a:xfrm>
            <a:off x="503238" y="3273425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  code_execution_config={'work_dir':'output'})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2" name="Text 19">
            <a:extLst>
              <a:ext uri="{FF2B5EF4-FFF2-40B4-BE49-F238E27FC236}">
                <a16:creationId xmlns:a16="http://schemas.microsoft.com/office/drawing/2014/main" id="{262D573C-3F58-1D35-D2FD-3D248CFECBB8}"/>
              </a:ext>
            </a:extLst>
          </p:cNvPr>
          <p:cNvSpPr/>
          <p:nvPr/>
        </p:nvSpPr>
        <p:spPr>
          <a:xfrm>
            <a:off x="503238" y="3414713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4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3" name="Text 20">
            <a:extLst>
              <a:ext uri="{FF2B5EF4-FFF2-40B4-BE49-F238E27FC236}">
                <a16:creationId xmlns:a16="http://schemas.microsoft.com/office/drawing/2014/main" id="{7B030E77-C2A7-474B-61C6-3C8C6FFE384E}"/>
              </a:ext>
            </a:extLst>
          </p:cNvPr>
          <p:cNvSpPr/>
          <p:nvPr/>
        </p:nvSpPr>
        <p:spPr>
          <a:xfrm>
            <a:off x="503238" y="3557588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888888"/>
                </a:solidFill>
                <a:latin typeface="Courier New"/>
                <a:ea typeface="Courier New"/>
              </a:rPr>
              <a:t># 2. Create GroupChat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4" name="Text 21">
            <a:extLst>
              <a:ext uri="{FF2B5EF4-FFF2-40B4-BE49-F238E27FC236}">
                <a16:creationId xmlns:a16="http://schemas.microsoft.com/office/drawing/2014/main" id="{EECF44AB-D032-D792-B54D-EDB551B66486}"/>
              </a:ext>
            </a:extLst>
          </p:cNvPr>
          <p:cNvSpPr/>
          <p:nvPr/>
        </p:nvSpPr>
        <p:spPr>
          <a:xfrm>
            <a:off x="503238" y="3698875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groupchat = autogen.GroupChat(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5" name="Text 22">
            <a:extLst>
              <a:ext uri="{FF2B5EF4-FFF2-40B4-BE49-F238E27FC236}">
                <a16:creationId xmlns:a16="http://schemas.microsoft.com/office/drawing/2014/main" id="{860E618E-4483-C371-0DC9-830DC4134A87}"/>
              </a:ext>
            </a:extLst>
          </p:cNvPr>
          <p:cNvSpPr/>
          <p:nvPr/>
        </p:nvSpPr>
        <p:spPr>
          <a:xfrm>
            <a:off x="503238" y="3840163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  agents=[researcher, analyst, writer, user_proxy], max_round=15)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6" name="Text 23">
            <a:extLst>
              <a:ext uri="{FF2B5EF4-FFF2-40B4-BE49-F238E27FC236}">
                <a16:creationId xmlns:a16="http://schemas.microsoft.com/office/drawing/2014/main" id="{3EA3D65B-623E-2638-174E-E0EF78894D1F}"/>
              </a:ext>
            </a:extLst>
          </p:cNvPr>
          <p:cNvSpPr/>
          <p:nvPr/>
        </p:nvSpPr>
        <p:spPr>
          <a:xfrm>
            <a:off x="503238" y="3981450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manager = autogen.GroupChatManager(groupchat=groupchat,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7" name="Text 24">
            <a:extLst>
              <a:ext uri="{FF2B5EF4-FFF2-40B4-BE49-F238E27FC236}">
                <a16:creationId xmlns:a16="http://schemas.microsoft.com/office/drawing/2014/main" id="{D63913E0-73A5-D9B5-A475-20EDB88CA6D5}"/>
              </a:ext>
            </a:extLst>
          </p:cNvPr>
          <p:cNvSpPr/>
          <p:nvPr/>
        </p:nvSpPr>
        <p:spPr>
          <a:xfrm>
            <a:off x="503238" y="4124325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  llm_config=config)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8" name="Text 25">
            <a:extLst>
              <a:ext uri="{FF2B5EF4-FFF2-40B4-BE49-F238E27FC236}">
                <a16:creationId xmlns:a16="http://schemas.microsoft.com/office/drawing/2014/main" id="{D19E85A4-1784-E655-205F-8921D91BF412}"/>
              </a:ext>
            </a:extLst>
          </p:cNvPr>
          <p:cNvSpPr/>
          <p:nvPr/>
        </p:nvSpPr>
        <p:spPr>
          <a:xfrm>
            <a:off x="503238" y="4265613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4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9" name="Text 26">
            <a:extLst>
              <a:ext uri="{FF2B5EF4-FFF2-40B4-BE49-F238E27FC236}">
                <a16:creationId xmlns:a16="http://schemas.microsoft.com/office/drawing/2014/main" id="{52AFCC3C-B9F0-82FB-10FD-0A901233F80D}"/>
              </a:ext>
            </a:extLst>
          </p:cNvPr>
          <p:cNvSpPr/>
          <p:nvPr/>
        </p:nvSpPr>
        <p:spPr>
          <a:xfrm>
            <a:off x="503238" y="4406900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888888"/>
                </a:solidFill>
                <a:latin typeface="Courier New"/>
                <a:ea typeface="Courier New"/>
              </a:rPr>
              <a:t># 3. Kick off with a task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0" name="Text 27">
            <a:extLst>
              <a:ext uri="{FF2B5EF4-FFF2-40B4-BE49-F238E27FC236}">
                <a16:creationId xmlns:a16="http://schemas.microsoft.com/office/drawing/2014/main" id="{65946528-0C70-6F90-14E3-977C836951F4}"/>
              </a:ext>
            </a:extLst>
          </p:cNvPr>
          <p:cNvSpPr/>
          <p:nvPr/>
        </p:nvSpPr>
        <p:spPr>
          <a:xfrm>
            <a:off x="503238" y="4549775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user_proxy.initiate_chat(manager,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1" name="Text 28">
            <a:extLst>
              <a:ext uri="{FF2B5EF4-FFF2-40B4-BE49-F238E27FC236}">
                <a16:creationId xmlns:a16="http://schemas.microsoft.com/office/drawing/2014/main" id="{5990A6B0-EF83-3347-B3D8-FA45CAA7FD4D}"/>
              </a:ext>
            </a:extLst>
          </p:cNvPr>
          <p:cNvSpPr/>
          <p:nvPr/>
        </p:nvSpPr>
        <p:spPr>
          <a:xfrm>
            <a:off x="503238" y="4691063"/>
            <a:ext cx="5119687" cy="155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ourier New"/>
                <a:ea typeface="Courier New"/>
              </a:rPr>
              <a:t>  message='Research the impact of LLMs on healthcare')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2" name="Shape 29">
            <a:extLst>
              <a:ext uri="{FF2B5EF4-FFF2-40B4-BE49-F238E27FC236}">
                <a16:creationId xmlns:a16="http://schemas.microsoft.com/office/drawing/2014/main" id="{A74B0181-914D-8F62-7EB9-75036BE49151}"/>
              </a:ext>
            </a:extLst>
          </p:cNvPr>
          <p:cNvSpPr/>
          <p:nvPr/>
        </p:nvSpPr>
        <p:spPr>
          <a:xfrm>
            <a:off x="5897563" y="1262063"/>
            <a:ext cx="2835275" cy="566737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3" name="Shape 30">
            <a:extLst>
              <a:ext uri="{FF2B5EF4-FFF2-40B4-BE49-F238E27FC236}">
                <a16:creationId xmlns:a16="http://schemas.microsoft.com/office/drawing/2014/main" id="{B35E30F1-EA79-76CE-7F73-06192AA5B5EC}"/>
              </a:ext>
            </a:extLst>
          </p:cNvPr>
          <p:cNvSpPr/>
          <p:nvPr/>
        </p:nvSpPr>
        <p:spPr>
          <a:xfrm>
            <a:off x="5897563" y="1262063"/>
            <a:ext cx="46037" cy="566737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4" name="Text 31">
            <a:extLst>
              <a:ext uri="{FF2B5EF4-FFF2-40B4-BE49-F238E27FC236}">
                <a16:creationId xmlns:a16="http://schemas.microsoft.com/office/drawing/2014/main" id="{20D40F38-D4DC-F079-A07D-322C919B5428}"/>
              </a:ext>
            </a:extLst>
          </p:cNvPr>
          <p:cNvSpPr/>
          <p:nvPr/>
        </p:nvSpPr>
        <p:spPr>
          <a:xfrm>
            <a:off x="6016625" y="1298575"/>
            <a:ext cx="2651125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 dirty="0" err="1">
                <a:solidFill>
                  <a:srgbClr val="1E3A8A"/>
                </a:solidFill>
                <a:latin typeface="Courier New"/>
                <a:ea typeface="Courier New"/>
              </a:rPr>
              <a:t>AssistantAgent</a:t>
            </a:r>
            <a:endParaRPr lang="en-US" sz="10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5" name="Text 32">
            <a:extLst>
              <a:ext uri="{FF2B5EF4-FFF2-40B4-BE49-F238E27FC236}">
                <a16:creationId xmlns:a16="http://schemas.microsoft.com/office/drawing/2014/main" id="{CFB71F50-18B7-B9A9-B4F2-107AA9C4967C}"/>
              </a:ext>
            </a:extLst>
          </p:cNvPr>
          <p:cNvSpPr/>
          <p:nvPr/>
        </p:nvSpPr>
        <p:spPr>
          <a:xfrm>
            <a:off x="6016625" y="1527175"/>
            <a:ext cx="2651125" cy="2016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rgbClr val="1E3A8A"/>
                </a:solidFill>
                <a:latin typeface="Calibri"/>
              </a:rPr>
              <a:t>LLM-powered agent with a role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6" name="Shape 33">
            <a:extLst>
              <a:ext uri="{FF2B5EF4-FFF2-40B4-BE49-F238E27FC236}">
                <a16:creationId xmlns:a16="http://schemas.microsoft.com/office/drawing/2014/main" id="{47AD7CB6-B708-C745-2FD9-F79B4F0B144D}"/>
              </a:ext>
            </a:extLst>
          </p:cNvPr>
          <p:cNvSpPr/>
          <p:nvPr/>
        </p:nvSpPr>
        <p:spPr>
          <a:xfrm>
            <a:off x="5897563" y="1874838"/>
            <a:ext cx="2835275" cy="566737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7" name="Shape 34">
            <a:extLst>
              <a:ext uri="{FF2B5EF4-FFF2-40B4-BE49-F238E27FC236}">
                <a16:creationId xmlns:a16="http://schemas.microsoft.com/office/drawing/2014/main" id="{155ED849-32FB-B83E-19EA-70EAB4449D84}"/>
              </a:ext>
            </a:extLst>
          </p:cNvPr>
          <p:cNvSpPr/>
          <p:nvPr/>
        </p:nvSpPr>
        <p:spPr>
          <a:xfrm>
            <a:off x="5897563" y="1874838"/>
            <a:ext cx="46037" cy="566737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8" name="Text 35">
            <a:extLst>
              <a:ext uri="{FF2B5EF4-FFF2-40B4-BE49-F238E27FC236}">
                <a16:creationId xmlns:a16="http://schemas.microsoft.com/office/drawing/2014/main" id="{9B35F624-DC30-80A8-E304-95FC64B1AD70}"/>
              </a:ext>
            </a:extLst>
          </p:cNvPr>
          <p:cNvSpPr/>
          <p:nvPr/>
        </p:nvSpPr>
        <p:spPr>
          <a:xfrm>
            <a:off x="6016625" y="1911350"/>
            <a:ext cx="2651125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>
                <a:solidFill>
                  <a:srgbClr val="1E3A8A"/>
                </a:solidFill>
                <a:latin typeface="Courier New"/>
                <a:ea typeface="Courier New"/>
              </a:rPr>
              <a:t>UserProxyAgent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9" name="Text 36">
            <a:extLst>
              <a:ext uri="{FF2B5EF4-FFF2-40B4-BE49-F238E27FC236}">
                <a16:creationId xmlns:a16="http://schemas.microsoft.com/office/drawing/2014/main" id="{37C81AD6-5D40-A398-8A4F-A5F52E591983}"/>
              </a:ext>
            </a:extLst>
          </p:cNvPr>
          <p:cNvSpPr/>
          <p:nvPr/>
        </p:nvSpPr>
        <p:spPr>
          <a:xfrm>
            <a:off x="6016625" y="2139950"/>
            <a:ext cx="2651125" cy="2016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rgbClr val="1E3A8A"/>
                </a:solidFill>
                <a:latin typeface="Calibri"/>
              </a:rPr>
              <a:t>Human-side + code executor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0" name="Shape 37">
            <a:extLst>
              <a:ext uri="{FF2B5EF4-FFF2-40B4-BE49-F238E27FC236}">
                <a16:creationId xmlns:a16="http://schemas.microsoft.com/office/drawing/2014/main" id="{948E7D64-11B4-6C6B-3653-4D240EF61FFE}"/>
              </a:ext>
            </a:extLst>
          </p:cNvPr>
          <p:cNvSpPr/>
          <p:nvPr/>
        </p:nvSpPr>
        <p:spPr>
          <a:xfrm>
            <a:off x="5897563" y="2487613"/>
            <a:ext cx="2835275" cy="566737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1" name="Shape 38">
            <a:extLst>
              <a:ext uri="{FF2B5EF4-FFF2-40B4-BE49-F238E27FC236}">
                <a16:creationId xmlns:a16="http://schemas.microsoft.com/office/drawing/2014/main" id="{67C1F8BB-CA00-E6D9-22E4-42190BFF5211}"/>
              </a:ext>
            </a:extLst>
          </p:cNvPr>
          <p:cNvSpPr/>
          <p:nvPr/>
        </p:nvSpPr>
        <p:spPr>
          <a:xfrm>
            <a:off x="5897563" y="2487613"/>
            <a:ext cx="46037" cy="566737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2" name="Text 39">
            <a:extLst>
              <a:ext uri="{FF2B5EF4-FFF2-40B4-BE49-F238E27FC236}">
                <a16:creationId xmlns:a16="http://schemas.microsoft.com/office/drawing/2014/main" id="{B9B798DF-385E-F7BF-5EF5-C56456BA4433}"/>
              </a:ext>
            </a:extLst>
          </p:cNvPr>
          <p:cNvSpPr/>
          <p:nvPr/>
        </p:nvSpPr>
        <p:spPr>
          <a:xfrm>
            <a:off x="6016625" y="2524125"/>
            <a:ext cx="2651125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>
                <a:solidFill>
                  <a:srgbClr val="1E3A8A"/>
                </a:solidFill>
                <a:latin typeface="Courier New"/>
                <a:ea typeface="Courier New"/>
              </a:rPr>
              <a:t>GroupChat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3" name="Text 40">
            <a:extLst>
              <a:ext uri="{FF2B5EF4-FFF2-40B4-BE49-F238E27FC236}">
                <a16:creationId xmlns:a16="http://schemas.microsoft.com/office/drawing/2014/main" id="{86B8447C-0042-3780-5E27-472C75F76C07}"/>
              </a:ext>
            </a:extLst>
          </p:cNvPr>
          <p:cNvSpPr/>
          <p:nvPr/>
        </p:nvSpPr>
        <p:spPr>
          <a:xfrm>
            <a:off x="6016625" y="2752725"/>
            <a:ext cx="2651125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rgbClr val="1E3A8A"/>
                </a:solidFill>
                <a:latin typeface="Calibri"/>
              </a:rPr>
              <a:t>Shared conversation + turn control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4" name="Shape 41">
            <a:extLst>
              <a:ext uri="{FF2B5EF4-FFF2-40B4-BE49-F238E27FC236}">
                <a16:creationId xmlns:a16="http://schemas.microsoft.com/office/drawing/2014/main" id="{51D59C93-91DF-9307-B15A-1E9159750B94}"/>
              </a:ext>
            </a:extLst>
          </p:cNvPr>
          <p:cNvSpPr/>
          <p:nvPr/>
        </p:nvSpPr>
        <p:spPr>
          <a:xfrm>
            <a:off x="5897563" y="3100388"/>
            <a:ext cx="2835275" cy="566737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5" name="Shape 42">
            <a:extLst>
              <a:ext uri="{FF2B5EF4-FFF2-40B4-BE49-F238E27FC236}">
                <a16:creationId xmlns:a16="http://schemas.microsoft.com/office/drawing/2014/main" id="{6038328B-F637-BF37-8F2A-C045E6ED4FBF}"/>
              </a:ext>
            </a:extLst>
          </p:cNvPr>
          <p:cNvSpPr/>
          <p:nvPr/>
        </p:nvSpPr>
        <p:spPr>
          <a:xfrm>
            <a:off x="5897563" y="3100388"/>
            <a:ext cx="46037" cy="566737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6" name="Text 43">
            <a:extLst>
              <a:ext uri="{FF2B5EF4-FFF2-40B4-BE49-F238E27FC236}">
                <a16:creationId xmlns:a16="http://schemas.microsoft.com/office/drawing/2014/main" id="{CAC88A60-8197-7C39-3876-A62D7119CBA9}"/>
              </a:ext>
            </a:extLst>
          </p:cNvPr>
          <p:cNvSpPr/>
          <p:nvPr/>
        </p:nvSpPr>
        <p:spPr>
          <a:xfrm>
            <a:off x="6016625" y="3136900"/>
            <a:ext cx="2651125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>
                <a:solidFill>
                  <a:srgbClr val="1E3A8A"/>
                </a:solidFill>
                <a:latin typeface="Courier New"/>
                <a:ea typeface="Courier New"/>
              </a:rPr>
              <a:t>GroupChatManager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7" name="Text 44">
            <a:extLst>
              <a:ext uri="{FF2B5EF4-FFF2-40B4-BE49-F238E27FC236}">
                <a16:creationId xmlns:a16="http://schemas.microsoft.com/office/drawing/2014/main" id="{B1EEAB1B-D593-B12B-B603-8D1F12FB7FE8}"/>
              </a:ext>
            </a:extLst>
          </p:cNvPr>
          <p:cNvSpPr/>
          <p:nvPr/>
        </p:nvSpPr>
        <p:spPr>
          <a:xfrm>
            <a:off x="6016625" y="3365500"/>
            <a:ext cx="2651125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rgbClr val="1E3A8A"/>
                </a:solidFill>
                <a:latin typeface="Calibri"/>
              </a:rPr>
              <a:t>Orchestrates who speaks next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8" name="Shape 45">
            <a:extLst>
              <a:ext uri="{FF2B5EF4-FFF2-40B4-BE49-F238E27FC236}">
                <a16:creationId xmlns:a16="http://schemas.microsoft.com/office/drawing/2014/main" id="{E0FDCDC1-2297-B91A-BB08-0E62346795FD}"/>
              </a:ext>
            </a:extLst>
          </p:cNvPr>
          <p:cNvSpPr/>
          <p:nvPr/>
        </p:nvSpPr>
        <p:spPr>
          <a:xfrm>
            <a:off x="5897563" y="3713163"/>
            <a:ext cx="2835275" cy="566737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9" name="Shape 46">
            <a:extLst>
              <a:ext uri="{FF2B5EF4-FFF2-40B4-BE49-F238E27FC236}">
                <a16:creationId xmlns:a16="http://schemas.microsoft.com/office/drawing/2014/main" id="{15C3B97B-1C4E-3DF3-F88F-A36065D2ED7F}"/>
              </a:ext>
            </a:extLst>
          </p:cNvPr>
          <p:cNvSpPr/>
          <p:nvPr/>
        </p:nvSpPr>
        <p:spPr>
          <a:xfrm>
            <a:off x="5897563" y="3713163"/>
            <a:ext cx="46037" cy="566737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0" name="Text 47">
            <a:extLst>
              <a:ext uri="{FF2B5EF4-FFF2-40B4-BE49-F238E27FC236}">
                <a16:creationId xmlns:a16="http://schemas.microsoft.com/office/drawing/2014/main" id="{22F87E3F-0B6B-910F-D37E-9B4CFB0EA2FB}"/>
              </a:ext>
            </a:extLst>
          </p:cNvPr>
          <p:cNvSpPr/>
          <p:nvPr/>
        </p:nvSpPr>
        <p:spPr>
          <a:xfrm>
            <a:off x="6016625" y="3749675"/>
            <a:ext cx="2651125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>
                <a:solidFill>
                  <a:srgbClr val="1E3A8A"/>
                </a:solidFill>
                <a:latin typeface="Courier New"/>
                <a:ea typeface="Courier New"/>
              </a:rPr>
              <a:t>initiate_chat()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1" name="Text 48">
            <a:extLst>
              <a:ext uri="{FF2B5EF4-FFF2-40B4-BE49-F238E27FC236}">
                <a16:creationId xmlns:a16="http://schemas.microsoft.com/office/drawing/2014/main" id="{4DD50D62-779E-5980-60C9-B7D398743724}"/>
              </a:ext>
            </a:extLst>
          </p:cNvPr>
          <p:cNvSpPr/>
          <p:nvPr/>
        </p:nvSpPr>
        <p:spPr>
          <a:xfrm>
            <a:off x="6016625" y="3978275"/>
            <a:ext cx="2651125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rgbClr val="1E3A8A"/>
                </a:solidFill>
                <a:latin typeface="Calibri"/>
              </a:rPr>
              <a:t>Kick off the multi-agent loop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2" name="Shape 49">
            <a:extLst>
              <a:ext uri="{FF2B5EF4-FFF2-40B4-BE49-F238E27FC236}">
                <a16:creationId xmlns:a16="http://schemas.microsoft.com/office/drawing/2014/main" id="{1C683653-877F-CBC8-69C5-A520F3E2587D}"/>
              </a:ext>
            </a:extLst>
          </p:cNvPr>
          <p:cNvSpPr/>
          <p:nvPr/>
        </p:nvSpPr>
        <p:spPr>
          <a:xfrm>
            <a:off x="5897563" y="4324350"/>
            <a:ext cx="2835275" cy="568325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3" name="Shape 50">
            <a:extLst>
              <a:ext uri="{FF2B5EF4-FFF2-40B4-BE49-F238E27FC236}">
                <a16:creationId xmlns:a16="http://schemas.microsoft.com/office/drawing/2014/main" id="{3B7CC513-A9DD-678E-4F48-A77A93E8131E}"/>
              </a:ext>
            </a:extLst>
          </p:cNvPr>
          <p:cNvSpPr/>
          <p:nvPr/>
        </p:nvSpPr>
        <p:spPr>
          <a:xfrm>
            <a:off x="5897563" y="4324350"/>
            <a:ext cx="46037" cy="568325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4" name="Text 51">
            <a:extLst>
              <a:ext uri="{FF2B5EF4-FFF2-40B4-BE49-F238E27FC236}">
                <a16:creationId xmlns:a16="http://schemas.microsoft.com/office/drawing/2014/main" id="{D4A2DE8A-5176-564D-3EEF-1D03F9E06017}"/>
              </a:ext>
            </a:extLst>
          </p:cNvPr>
          <p:cNvSpPr/>
          <p:nvPr/>
        </p:nvSpPr>
        <p:spPr>
          <a:xfrm>
            <a:off x="6016625" y="4362450"/>
            <a:ext cx="2651125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lnSpc>
                <a:spcPct val="0"/>
              </a:lnSpc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>
                <a:solidFill>
                  <a:srgbClr val="1E3A8A"/>
                </a:solidFill>
                <a:latin typeface="Courier New"/>
                <a:ea typeface="Courier New"/>
              </a:rPr>
              <a:t>system_message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5" name="Text 52">
            <a:extLst>
              <a:ext uri="{FF2B5EF4-FFF2-40B4-BE49-F238E27FC236}">
                <a16:creationId xmlns:a16="http://schemas.microsoft.com/office/drawing/2014/main" id="{81103FE1-4E44-9CFF-90F6-0D7EA7C0BE1C}"/>
              </a:ext>
            </a:extLst>
          </p:cNvPr>
          <p:cNvSpPr/>
          <p:nvPr/>
        </p:nvSpPr>
        <p:spPr>
          <a:xfrm>
            <a:off x="6016625" y="4591050"/>
            <a:ext cx="2651125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rgbClr val="1E3A8A"/>
                </a:solidFill>
                <a:latin typeface="Calibri"/>
              </a:rPr>
              <a:t>Defines the agent's expertise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6" name="Shape 53">
            <a:extLst>
              <a:ext uri="{FF2B5EF4-FFF2-40B4-BE49-F238E27FC236}">
                <a16:creationId xmlns:a16="http://schemas.microsoft.com/office/drawing/2014/main" id="{FB4727FC-049E-D4F5-0400-8E0A6F75AA4C}"/>
              </a:ext>
            </a:extLst>
          </p:cNvPr>
          <p:cNvSpPr/>
          <p:nvPr/>
        </p:nvSpPr>
        <p:spPr>
          <a:xfrm>
            <a:off x="411163" y="4873625"/>
            <a:ext cx="8321675" cy="201613"/>
          </a:xfrm>
          <a:prstGeom prst="rect">
            <a:avLst/>
          </a:prstGeom>
          <a:solidFill>
            <a:srgbClr val="F3E5F5"/>
          </a:solidFill>
          <a:ln w="12600">
            <a:solidFill>
              <a:srgbClr val="CE93D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7" name="Text 54">
            <a:extLst>
              <a:ext uri="{FF2B5EF4-FFF2-40B4-BE49-F238E27FC236}">
                <a16:creationId xmlns:a16="http://schemas.microsoft.com/office/drawing/2014/main" id="{D7A8A285-3647-F5E6-1BD0-E4434D23BFB5}"/>
              </a:ext>
            </a:extLst>
          </p:cNvPr>
          <p:cNvSpPr/>
          <p:nvPr/>
        </p:nvSpPr>
        <p:spPr>
          <a:xfrm>
            <a:off x="411163" y="4873625"/>
            <a:ext cx="8321675" cy="2016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b="1" spc="-1" dirty="0">
                <a:solidFill>
                  <a:srgbClr val="0E7490"/>
                </a:solidFill>
                <a:latin typeface="Calibri"/>
              </a:rPr>
              <a:t>Agents automatically take turns, code executes, conversation terminates on TERMINATE or </a:t>
            </a:r>
            <a:r>
              <a:rPr lang="en-US" sz="1050" b="1" spc="-1" dirty="0" err="1">
                <a:solidFill>
                  <a:srgbClr val="0E7490"/>
                </a:solidFill>
                <a:latin typeface="Calibri"/>
              </a:rPr>
              <a:t>max_round</a:t>
            </a:r>
            <a:endParaRPr lang="en-US" sz="105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1017" name="Picture 1">
            <a:extLst>
              <a:ext uri="{FF2B5EF4-FFF2-40B4-BE49-F238E27FC236}">
                <a16:creationId xmlns:a16="http://schemas.microsoft.com/office/drawing/2014/main" id="{46896ACF-DE52-4CFF-CC49-DD4749132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7638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" grpId="0" animBg="1"/>
      <p:bldP spid="538" grpId="0"/>
      <p:bldP spid="539" grpId="0"/>
      <p:bldP spid="540" grpId="0"/>
      <p:bldP spid="541" grpId="0"/>
      <p:bldP spid="542" grpId="0"/>
      <p:bldP spid="543" grpId="0"/>
      <p:bldP spid="544" grpId="0"/>
      <p:bldP spid="545" grpId="0"/>
      <p:bldP spid="546" grpId="0"/>
      <p:bldP spid="547" grpId="0"/>
      <p:bldP spid="548" grpId="0"/>
      <p:bldP spid="549" grpId="0"/>
      <p:bldP spid="550" grpId="0"/>
      <p:bldP spid="551" grpId="0"/>
      <p:bldP spid="552" grpId="0"/>
      <p:bldP spid="553" grpId="0"/>
      <p:bldP spid="554" grpId="0"/>
      <p:bldP spid="555" grpId="0"/>
      <p:bldP spid="556" grpId="0"/>
      <p:bldP spid="557" grpId="0"/>
      <p:bldP spid="558" grpId="0"/>
      <p:bldP spid="559" grpId="0"/>
      <p:bldP spid="560" grpId="0"/>
      <p:bldP spid="561" grpId="0"/>
      <p:bldP spid="562" grpId="0" animBg="1"/>
      <p:bldP spid="563" grpId="0" animBg="1"/>
      <p:bldP spid="564" grpId="0"/>
      <p:bldP spid="565" grpId="0"/>
      <p:bldP spid="566" grpId="0" animBg="1"/>
      <p:bldP spid="567" grpId="0" animBg="1"/>
      <p:bldP spid="568" grpId="0"/>
      <p:bldP spid="569" grpId="0"/>
      <p:bldP spid="570" grpId="0" animBg="1"/>
      <p:bldP spid="571" grpId="0" animBg="1"/>
      <p:bldP spid="572" grpId="0"/>
      <p:bldP spid="573" grpId="0"/>
      <p:bldP spid="574" grpId="0" animBg="1"/>
      <p:bldP spid="575" grpId="0" animBg="1"/>
      <p:bldP spid="576" grpId="0"/>
      <p:bldP spid="577" grpId="0"/>
      <p:bldP spid="578" grpId="0" animBg="1"/>
      <p:bldP spid="579" grpId="0" animBg="1"/>
      <p:bldP spid="580" grpId="0"/>
      <p:bldP spid="581" grpId="0"/>
      <p:bldP spid="582" grpId="0" animBg="1"/>
      <p:bldP spid="583" grpId="0" animBg="1"/>
      <p:bldP spid="584" grpId="0"/>
      <p:bldP spid="58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Shape 0">
            <a:extLst>
              <a:ext uri="{FF2B5EF4-FFF2-40B4-BE49-F238E27FC236}">
                <a16:creationId xmlns:a16="http://schemas.microsoft.com/office/drawing/2014/main" id="{E5C28183-25A9-211A-19DD-B0C732462C01}"/>
              </a:ext>
            </a:extLst>
          </p:cNvPr>
          <p:cNvSpPr/>
          <p:nvPr/>
        </p:nvSpPr>
        <p:spPr>
          <a:xfrm>
            <a:off x="0" y="0"/>
            <a:ext cx="9144000" cy="55563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640" rIns="90000" bIns="86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0" name="Text 1">
            <a:extLst>
              <a:ext uri="{FF2B5EF4-FFF2-40B4-BE49-F238E27FC236}">
                <a16:creationId xmlns:a16="http://schemas.microsoft.com/office/drawing/2014/main" id="{14FF3A99-4A9F-F3A1-E5BB-DC05E7D8D7BB}"/>
              </a:ext>
            </a:extLst>
          </p:cNvPr>
          <p:cNvSpPr/>
          <p:nvPr/>
        </p:nvSpPr>
        <p:spPr>
          <a:xfrm>
            <a:off x="457200" y="365125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b="1" spc="-1">
                <a:solidFill>
                  <a:srgbClr val="0EA5E9"/>
                </a:solidFill>
                <a:latin typeface="Calibri"/>
              </a:rPr>
              <a:t>DEMONSTRATION</a:t>
            </a:r>
            <a:endParaRPr lang="en-US" sz="13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1" name="Text 2">
            <a:extLst>
              <a:ext uri="{FF2B5EF4-FFF2-40B4-BE49-F238E27FC236}">
                <a16:creationId xmlns:a16="http://schemas.microsoft.com/office/drawing/2014/main" id="{054BE831-39FF-48DC-37D2-7BA8F1D08A6C}"/>
              </a:ext>
            </a:extLst>
          </p:cNvPr>
          <p:cNvSpPr/>
          <p:nvPr/>
        </p:nvSpPr>
        <p:spPr>
          <a:xfrm>
            <a:off x="457200" y="868363"/>
            <a:ext cx="8229600" cy="5953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1" spc="-1">
                <a:solidFill>
                  <a:srgbClr val="1E3A8A"/>
                </a:solidFill>
                <a:latin typeface="Calibri"/>
              </a:rPr>
              <a:t>AutoGen in Action</a:t>
            </a:r>
            <a:endParaRPr lang="en-US" sz="3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2" name="Text 3">
            <a:extLst>
              <a:ext uri="{FF2B5EF4-FFF2-40B4-BE49-F238E27FC236}">
                <a16:creationId xmlns:a16="http://schemas.microsoft.com/office/drawing/2014/main" id="{A183F2B6-CE6C-98F6-233C-2EE1F53537A5}"/>
              </a:ext>
            </a:extLst>
          </p:cNvPr>
          <p:cNvSpPr/>
          <p:nvPr/>
        </p:nvSpPr>
        <p:spPr>
          <a:xfrm>
            <a:off x="457200" y="1508125"/>
            <a:ext cx="8229600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i="1" spc="-1" dirty="0">
                <a:solidFill>
                  <a:srgbClr val="0C4A6E"/>
                </a:solidFill>
                <a:latin typeface="Calibri"/>
              </a:rPr>
              <a:t>Demo: Build an AI Research Team - Researcher, Analyst, Writer, Critic, </a:t>
            </a:r>
            <a:r>
              <a:rPr lang="en-US" sz="1100" i="1" spc="-1" dirty="0" err="1">
                <a:solidFill>
                  <a:srgbClr val="0C4A6E"/>
                </a:solidFill>
                <a:latin typeface="Calibri"/>
              </a:rPr>
              <a:t>UserProxy</a:t>
            </a:r>
            <a:r>
              <a:rPr lang="en-US" sz="1100" i="1" spc="-1" dirty="0">
                <a:solidFill>
                  <a:srgbClr val="0C4A6E"/>
                </a:solidFill>
                <a:latin typeface="Calibri"/>
              </a:rPr>
              <a:t> in </a:t>
            </a:r>
            <a:r>
              <a:rPr lang="en-US" sz="1100" i="1" spc="-1" dirty="0" err="1">
                <a:solidFill>
                  <a:srgbClr val="0C4A6E"/>
                </a:solidFill>
                <a:latin typeface="Calibri"/>
              </a:rPr>
              <a:t>GroupChat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3" name="Shape 4">
            <a:extLst>
              <a:ext uri="{FF2B5EF4-FFF2-40B4-BE49-F238E27FC236}">
                <a16:creationId xmlns:a16="http://schemas.microsoft.com/office/drawing/2014/main" id="{89793F24-4274-5FFA-8A7E-43F75DBA70D0}"/>
              </a:ext>
            </a:extLst>
          </p:cNvPr>
          <p:cNvSpPr/>
          <p:nvPr/>
        </p:nvSpPr>
        <p:spPr>
          <a:xfrm>
            <a:off x="411163" y="1920875"/>
            <a:ext cx="4114800" cy="822325"/>
          </a:xfrm>
          <a:prstGeom prst="rect">
            <a:avLst/>
          </a:prstGeom>
          <a:solidFill>
            <a:srgbClr val="BFDBFE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4" name="Shape 5">
            <a:extLst>
              <a:ext uri="{FF2B5EF4-FFF2-40B4-BE49-F238E27FC236}">
                <a16:creationId xmlns:a16="http://schemas.microsoft.com/office/drawing/2014/main" id="{833689C0-B9ED-6F78-1F61-61226E6CB318}"/>
              </a:ext>
            </a:extLst>
          </p:cNvPr>
          <p:cNvSpPr/>
          <p:nvPr/>
        </p:nvSpPr>
        <p:spPr>
          <a:xfrm>
            <a:off x="411163" y="1920875"/>
            <a:ext cx="503237" cy="822325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5" name="Text 6">
            <a:extLst>
              <a:ext uri="{FF2B5EF4-FFF2-40B4-BE49-F238E27FC236}">
                <a16:creationId xmlns:a16="http://schemas.microsoft.com/office/drawing/2014/main" id="{D0944963-0FF8-F28D-5C23-6ACF9C7F614C}"/>
              </a:ext>
            </a:extLst>
          </p:cNvPr>
          <p:cNvSpPr/>
          <p:nvPr/>
        </p:nvSpPr>
        <p:spPr>
          <a:xfrm>
            <a:off x="411163" y="1920875"/>
            <a:ext cx="503237" cy="822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 dirty="0">
                <a:solidFill>
                  <a:schemeClr val="bg1"/>
                </a:solidFill>
                <a:latin typeface="Calibri"/>
              </a:rPr>
              <a:t>01</a:t>
            </a:r>
            <a:endParaRPr lang="en-US" sz="16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96" name="Text 7">
            <a:extLst>
              <a:ext uri="{FF2B5EF4-FFF2-40B4-BE49-F238E27FC236}">
                <a16:creationId xmlns:a16="http://schemas.microsoft.com/office/drawing/2014/main" id="{BB1F955D-4BDE-729C-1B4F-60D84C177FCE}"/>
              </a:ext>
            </a:extLst>
          </p:cNvPr>
          <p:cNvSpPr/>
          <p:nvPr/>
        </p:nvSpPr>
        <p:spPr>
          <a:xfrm>
            <a:off x="1006475" y="1993900"/>
            <a:ext cx="3429000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Environment Setup</a:t>
            </a:r>
            <a:endParaRPr lang="en-US" sz="1400" spc="-1" dirty="0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597" name="Text 8">
            <a:extLst>
              <a:ext uri="{FF2B5EF4-FFF2-40B4-BE49-F238E27FC236}">
                <a16:creationId xmlns:a16="http://schemas.microsoft.com/office/drawing/2014/main" id="{56610916-F8A2-F63F-2919-A3E764BA57DE}"/>
              </a:ext>
            </a:extLst>
          </p:cNvPr>
          <p:cNvSpPr/>
          <p:nvPr/>
        </p:nvSpPr>
        <p:spPr>
          <a:xfrm>
            <a:off x="1006475" y="2286000"/>
            <a:ext cx="3429000" cy="3841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spc="-1" dirty="0">
                <a:solidFill>
                  <a:srgbClr val="0C4A6E"/>
                </a:solidFill>
                <a:latin typeface="Calibri"/>
              </a:rPr>
              <a:t>pip install </a:t>
            </a:r>
            <a:r>
              <a:rPr lang="en-US" sz="1050" spc="-1" dirty="0" err="1">
                <a:solidFill>
                  <a:srgbClr val="0C4A6E"/>
                </a:solidFill>
                <a:latin typeface="Calibri"/>
              </a:rPr>
              <a:t>pyautogen</a:t>
            </a:r>
            <a:r>
              <a:rPr lang="en-US" sz="1050" spc="-1" dirty="0">
                <a:solidFill>
                  <a:srgbClr val="0C4A6E"/>
                </a:solidFill>
                <a:latin typeface="Calibri"/>
              </a:rPr>
              <a:t>; configure LLM API keys; set </a:t>
            </a:r>
            <a:r>
              <a:rPr lang="en-US" sz="1050" spc="-1" dirty="0" err="1">
                <a:solidFill>
                  <a:srgbClr val="0C4A6E"/>
                </a:solidFill>
                <a:latin typeface="Calibri"/>
              </a:rPr>
              <a:t>code_execution_config</a:t>
            </a:r>
            <a:endParaRPr lang="en-US" sz="105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8" name="Shape 9">
            <a:extLst>
              <a:ext uri="{FF2B5EF4-FFF2-40B4-BE49-F238E27FC236}">
                <a16:creationId xmlns:a16="http://schemas.microsoft.com/office/drawing/2014/main" id="{CB4D449D-32A1-F56E-6C21-69B7951DC7DC}"/>
              </a:ext>
            </a:extLst>
          </p:cNvPr>
          <p:cNvSpPr/>
          <p:nvPr/>
        </p:nvSpPr>
        <p:spPr>
          <a:xfrm>
            <a:off x="4708525" y="1920875"/>
            <a:ext cx="4114800" cy="822325"/>
          </a:xfrm>
          <a:prstGeom prst="rect">
            <a:avLst/>
          </a:prstGeom>
          <a:solidFill>
            <a:srgbClr val="BFDBFE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9" name="Shape 10">
            <a:extLst>
              <a:ext uri="{FF2B5EF4-FFF2-40B4-BE49-F238E27FC236}">
                <a16:creationId xmlns:a16="http://schemas.microsoft.com/office/drawing/2014/main" id="{05256F0F-B567-E858-08B8-4B0BF775707B}"/>
              </a:ext>
            </a:extLst>
          </p:cNvPr>
          <p:cNvSpPr/>
          <p:nvPr/>
        </p:nvSpPr>
        <p:spPr>
          <a:xfrm>
            <a:off x="4708525" y="1920875"/>
            <a:ext cx="503238" cy="822325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0" name="Text 11">
            <a:extLst>
              <a:ext uri="{FF2B5EF4-FFF2-40B4-BE49-F238E27FC236}">
                <a16:creationId xmlns:a16="http://schemas.microsoft.com/office/drawing/2014/main" id="{66C2CEC9-1511-33E7-A80F-A4033FD72037}"/>
              </a:ext>
            </a:extLst>
          </p:cNvPr>
          <p:cNvSpPr/>
          <p:nvPr/>
        </p:nvSpPr>
        <p:spPr>
          <a:xfrm>
            <a:off x="4708525" y="1920875"/>
            <a:ext cx="503238" cy="822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>
                <a:solidFill>
                  <a:schemeClr val="bg1"/>
                </a:solidFill>
                <a:latin typeface="Calibri"/>
              </a:rPr>
              <a:t>02</a:t>
            </a:r>
            <a:endParaRPr lang="en-US" sz="16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01" name="Text 12">
            <a:extLst>
              <a:ext uri="{FF2B5EF4-FFF2-40B4-BE49-F238E27FC236}">
                <a16:creationId xmlns:a16="http://schemas.microsoft.com/office/drawing/2014/main" id="{FA9B79CC-B18E-9AA4-97F3-E984F4BA92B6}"/>
              </a:ext>
            </a:extLst>
          </p:cNvPr>
          <p:cNvSpPr/>
          <p:nvPr/>
        </p:nvSpPr>
        <p:spPr>
          <a:xfrm>
            <a:off x="5303838" y="1993900"/>
            <a:ext cx="3429000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Define Agent Roles</a:t>
            </a:r>
            <a:endParaRPr lang="en-US" sz="1400" spc="-1" dirty="0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602" name="Text 13">
            <a:extLst>
              <a:ext uri="{FF2B5EF4-FFF2-40B4-BE49-F238E27FC236}">
                <a16:creationId xmlns:a16="http://schemas.microsoft.com/office/drawing/2014/main" id="{37C8CBAC-2A94-7103-68F3-DB1E22F0F605}"/>
              </a:ext>
            </a:extLst>
          </p:cNvPr>
          <p:cNvSpPr/>
          <p:nvPr/>
        </p:nvSpPr>
        <p:spPr>
          <a:xfrm>
            <a:off x="5303838" y="2286000"/>
            <a:ext cx="3429000" cy="3841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spc="-1">
                <a:solidFill>
                  <a:srgbClr val="0C4A6E"/>
                </a:solidFill>
                <a:latin typeface="Calibri"/>
              </a:rPr>
              <a:t>Create AssistantAgents with precise system_message for each specialist role</a:t>
            </a:r>
            <a:endParaRPr lang="en-US" sz="10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3" name="Shape 14">
            <a:extLst>
              <a:ext uri="{FF2B5EF4-FFF2-40B4-BE49-F238E27FC236}">
                <a16:creationId xmlns:a16="http://schemas.microsoft.com/office/drawing/2014/main" id="{043B5D01-3088-EACF-7E9C-BEA68E4DDFDD}"/>
              </a:ext>
            </a:extLst>
          </p:cNvPr>
          <p:cNvSpPr/>
          <p:nvPr/>
        </p:nvSpPr>
        <p:spPr>
          <a:xfrm>
            <a:off x="411163" y="2879725"/>
            <a:ext cx="4114800" cy="823913"/>
          </a:xfrm>
          <a:prstGeom prst="rect">
            <a:avLst/>
          </a:prstGeom>
          <a:solidFill>
            <a:srgbClr val="BFDBFE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4" name="Shape 15">
            <a:extLst>
              <a:ext uri="{FF2B5EF4-FFF2-40B4-BE49-F238E27FC236}">
                <a16:creationId xmlns:a16="http://schemas.microsoft.com/office/drawing/2014/main" id="{7AF00BAB-2BC5-5ACD-AD51-08553427A01D}"/>
              </a:ext>
            </a:extLst>
          </p:cNvPr>
          <p:cNvSpPr/>
          <p:nvPr/>
        </p:nvSpPr>
        <p:spPr>
          <a:xfrm>
            <a:off x="411163" y="2879725"/>
            <a:ext cx="503237" cy="823913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5" name="Text 16">
            <a:extLst>
              <a:ext uri="{FF2B5EF4-FFF2-40B4-BE49-F238E27FC236}">
                <a16:creationId xmlns:a16="http://schemas.microsoft.com/office/drawing/2014/main" id="{C366AE54-D66A-DF1A-F5C6-A7F5103583B8}"/>
              </a:ext>
            </a:extLst>
          </p:cNvPr>
          <p:cNvSpPr/>
          <p:nvPr/>
        </p:nvSpPr>
        <p:spPr>
          <a:xfrm>
            <a:off x="411163" y="2879725"/>
            <a:ext cx="503237" cy="8239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>
                <a:solidFill>
                  <a:schemeClr val="bg1"/>
                </a:solidFill>
                <a:latin typeface="Calibri"/>
              </a:rPr>
              <a:t>03</a:t>
            </a:r>
            <a:endParaRPr lang="en-US" sz="16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06" name="Text 17">
            <a:extLst>
              <a:ext uri="{FF2B5EF4-FFF2-40B4-BE49-F238E27FC236}">
                <a16:creationId xmlns:a16="http://schemas.microsoft.com/office/drawing/2014/main" id="{93DE539E-ECF2-74A3-830B-DD83DBC82176}"/>
              </a:ext>
            </a:extLst>
          </p:cNvPr>
          <p:cNvSpPr/>
          <p:nvPr/>
        </p:nvSpPr>
        <p:spPr>
          <a:xfrm>
            <a:off x="1006475" y="2952750"/>
            <a:ext cx="3429000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>
                <a:solidFill>
                  <a:schemeClr val="accent2">
                    <a:lumMod val="75000"/>
                  </a:schemeClr>
                </a:solidFill>
                <a:latin typeface="Calibri"/>
              </a:rPr>
              <a:t>Configure GroupChat</a:t>
            </a:r>
            <a:endParaRPr lang="en-US" sz="1400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607" name="Text 18">
            <a:extLst>
              <a:ext uri="{FF2B5EF4-FFF2-40B4-BE49-F238E27FC236}">
                <a16:creationId xmlns:a16="http://schemas.microsoft.com/office/drawing/2014/main" id="{369EB2EA-01C7-3017-519C-9D6497EFDDE6}"/>
              </a:ext>
            </a:extLst>
          </p:cNvPr>
          <p:cNvSpPr/>
          <p:nvPr/>
        </p:nvSpPr>
        <p:spPr>
          <a:xfrm>
            <a:off x="1006475" y="3246438"/>
            <a:ext cx="3429000" cy="3841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spc="-1">
                <a:solidFill>
                  <a:srgbClr val="0C4A6E"/>
                </a:solidFill>
                <a:latin typeface="Calibri"/>
              </a:rPr>
              <a:t>Pass all agents to GroupChat; set max_round=15; assign GroupChatManager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8" name="Shape 19">
            <a:extLst>
              <a:ext uri="{FF2B5EF4-FFF2-40B4-BE49-F238E27FC236}">
                <a16:creationId xmlns:a16="http://schemas.microsoft.com/office/drawing/2014/main" id="{BC8134DF-A4AA-F847-2A16-4E320B884D13}"/>
              </a:ext>
            </a:extLst>
          </p:cNvPr>
          <p:cNvSpPr/>
          <p:nvPr/>
        </p:nvSpPr>
        <p:spPr>
          <a:xfrm>
            <a:off x="4708525" y="2879725"/>
            <a:ext cx="4114800" cy="823913"/>
          </a:xfrm>
          <a:prstGeom prst="rect">
            <a:avLst/>
          </a:prstGeom>
          <a:solidFill>
            <a:srgbClr val="BFDBFE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9" name="Shape 20">
            <a:extLst>
              <a:ext uri="{FF2B5EF4-FFF2-40B4-BE49-F238E27FC236}">
                <a16:creationId xmlns:a16="http://schemas.microsoft.com/office/drawing/2014/main" id="{F6228CF3-1744-0562-31D8-F873F9B242C2}"/>
              </a:ext>
            </a:extLst>
          </p:cNvPr>
          <p:cNvSpPr/>
          <p:nvPr/>
        </p:nvSpPr>
        <p:spPr>
          <a:xfrm>
            <a:off x="4708525" y="2879725"/>
            <a:ext cx="503238" cy="823913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0" name="Text 21">
            <a:extLst>
              <a:ext uri="{FF2B5EF4-FFF2-40B4-BE49-F238E27FC236}">
                <a16:creationId xmlns:a16="http://schemas.microsoft.com/office/drawing/2014/main" id="{E3401581-64FA-8A94-7970-B573DD81BC1B}"/>
              </a:ext>
            </a:extLst>
          </p:cNvPr>
          <p:cNvSpPr/>
          <p:nvPr/>
        </p:nvSpPr>
        <p:spPr>
          <a:xfrm>
            <a:off x="4708525" y="2879725"/>
            <a:ext cx="503238" cy="8239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>
                <a:solidFill>
                  <a:schemeClr val="bg1"/>
                </a:solidFill>
                <a:latin typeface="Calibri"/>
              </a:rPr>
              <a:t>04</a:t>
            </a:r>
            <a:endParaRPr lang="en-US" sz="16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11" name="Text 22">
            <a:extLst>
              <a:ext uri="{FF2B5EF4-FFF2-40B4-BE49-F238E27FC236}">
                <a16:creationId xmlns:a16="http://schemas.microsoft.com/office/drawing/2014/main" id="{01207FAF-A72B-6986-FA3E-70194BF8E5E3}"/>
              </a:ext>
            </a:extLst>
          </p:cNvPr>
          <p:cNvSpPr/>
          <p:nvPr/>
        </p:nvSpPr>
        <p:spPr>
          <a:xfrm>
            <a:off x="5303838" y="2952750"/>
            <a:ext cx="3429000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>
                <a:solidFill>
                  <a:schemeClr val="accent2">
                    <a:lumMod val="75000"/>
                  </a:schemeClr>
                </a:solidFill>
                <a:latin typeface="Calibri"/>
              </a:rPr>
              <a:t>Initiate Task</a:t>
            </a:r>
            <a:endParaRPr lang="en-US" sz="1400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612" name="Text 23">
            <a:extLst>
              <a:ext uri="{FF2B5EF4-FFF2-40B4-BE49-F238E27FC236}">
                <a16:creationId xmlns:a16="http://schemas.microsoft.com/office/drawing/2014/main" id="{0516B603-3510-403A-08EE-A35898A347F6}"/>
              </a:ext>
            </a:extLst>
          </p:cNvPr>
          <p:cNvSpPr/>
          <p:nvPr/>
        </p:nvSpPr>
        <p:spPr>
          <a:xfrm>
            <a:off x="5303838" y="3246438"/>
            <a:ext cx="3429000" cy="3841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spc="-1" dirty="0" err="1">
                <a:solidFill>
                  <a:srgbClr val="0C4A6E"/>
                </a:solidFill>
                <a:latin typeface="Calibri"/>
              </a:rPr>
              <a:t>user_proxy.initiate_chat</a:t>
            </a:r>
            <a:r>
              <a:rPr lang="en-US" sz="1050" spc="-1" dirty="0">
                <a:solidFill>
                  <a:srgbClr val="0C4A6E"/>
                </a:solidFill>
                <a:latin typeface="Calibri"/>
              </a:rPr>
              <a:t>() with research task - watch agent conversation start</a:t>
            </a:r>
            <a:endParaRPr lang="en-US" sz="105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3" name="Shape 24">
            <a:extLst>
              <a:ext uri="{FF2B5EF4-FFF2-40B4-BE49-F238E27FC236}">
                <a16:creationId xmlns:a16="http://schemas.microsoft.com/office/drawing/2014/main" id="{98091364-F55F-3630-ABD1-95ADC9A8A3F9}"/>
              </a:ext>
            </a:extLst>
          </p:cNvPr>
          <p:cNvSpPr/>
          <p:nvPr/>
        </p:nvSpPr>
        <p:spPr>
          <a:xfrm>
            <a:off x="411163" y="3840163"/>
            <a:ext cx="4114800" cy="823912"/>
          </a:xfrm>
          <a:prstGeom prst="rect">
            <a:avLst/>
          </a:prstGeom>
          <a:solidFill>
            <a:srgbClr val="BFDBFE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4" name="Shape 25">
            <a:extLst>
              <a:ext uri="{FF2B5EF4-FFF2-40B4-BE49-F238E27FC236}">
                <a16:creationId xmlns:a16="http://schemas.microsoft.com/office/drawing/2014/main" id="{BDFB0A76-3262-6D76-18DB-27517EEC4258}"/>
              </a:ext>
            </a:extLst>
          </p:cNvPr>
          <p:cNvSpPr/>
          <p:nvPr/>
        </p:nvSpPr>
        <p:spPr>
          <a:xfrm>
            <a:off x="411163" y="3840163"/>
            <a:ext cx="503237" cy="823912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5" name="Text 26">
            <a:extLst>
              <a:ext uri="{FF2B5EF4-FFF2-40B4-BE49-F238E27FC236}">
                <a16:creationId xmlns:a16="http://schemas.microsoft.com/office/drawing/2014/main" id="{0E8F3CE4-8C99-63F3-E002-0F33890DE9E2}"/>
              </a:ext>
            </a:extLst>
          </p:cNvPr>
          <p:cNvSpPr/>
          <p:nvPr/>
        </p:nvSpPr>
        <p:spPr>
          <a:xfrm>
            <a:off x="411163" y="3840163"/>
            <a:ext cx="503237" cy="823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>
                <a:solidFill>
                  <a:schemeClr val="bg1"/>
                </a:solidFill>
                <a:latin typeface="Calibri"/>
              </a:rPr>
              <a:t>05</a:t>
            </a:r>
            <a:endParaRPr lang="en-US" sz="16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16" name="Text 27">
            <a:extLst>
              <a:ext uri="{FF2B5EF4-FFF2-40B4-BE49-F238E27FC236}">
                <a16:creationId xmlns:a16="http://schemas.microsoft.com/office/drawing/2014/main" id="{483DCD9D-3D12-B7A2-A780-704B3B230FCC}"/>
              </a:ext>
            </a:extLst>
          </p:cNvPr>
          <p:cNvSpPr/>
          <p:nvPr/>
        </p:nvSpPr>
        <p:spPr>
          <a:xfrm>
            <a:off x="1006475" y="3913188"/>
            <a:ext cx="3429000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>
                <a:solidFill>
                  <a:schemeClr val="accent2">
                    <a:lumMod val="75000"/>
                  </a:schemeClr>
                </a:solidFill>
                <a:latin typeface="Calibri"/>
              </a:rPr>
              <a:t>Observe Agent Dialogue</a:t>
            </a:r>
            <a:endParaRPr lang="en-US" sz="1400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617" name="Text 28">
            <a:extLst>
              <a:ext uri="{FF2B5EF4-FFF2-40B4-BE49-F238E27FC236}">
                <a16:creationId xmlns:a16="http://schemas.microsoft.com/office/drawing/2014/main" id="{39D2C27D-1A51-B986-ABCB-24181C124A1A}"/>
              </a:ext>
            </a:extLst>
          </p:cNvPr>
          <p:cNvSpPr/>
          <p:nvPr/>
        </p:nvSpPr>
        <p:spPr>
          <a:xfrm>
            <a:off x="1006475" y="4206875"/>
            <a:ext cx="3429000" cy="3841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spc="-1">
                <a:solidFill>
                  <a:srgbClr val="0C4A6E"/>
                </a:solidFill>
                <a:latin typeface="Calibri"/>
              </a:rPr>
              <a:t>Live view of researcher → analyst → writer → critic turn-taking in terminal</a:t>
            </a:r>
            <a:endParaRPr lang="en-US" sz="10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8" name="Shape 29">
            <a:extLst>
              <a:ext uri="{FF2B5EF4-FFF2-40B4-BE49-F238E27FC236}">
                <a16:creationId xmlns:a16="http://schemas.microsoft.com/office/drawing/2014/main" id="{A66A3809-AB22-9DB5-6A3C-2C4BB58C82C7}"/>
              </a:ext>
            </a:extLst>
          </p:cNvPr>
          <p:cNvSpPr/>
          <p:nvPr/>
        </p:nvSpPr>
        <p:spPr>
          <a:xfrm>
            <a:off x="4708525" y="3840163"/>
            <a:ext cx="4114800" cy="823912"/>
          </a:xfrm>
          <a:prstGeom prst="rect">
            <a:avLst/>
          </a:prstGeom>
          <a:solidFill>
            <a:srgbClr val="BFDBFE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9" name="Shape 30">
            <a:extLst>
              <a:ext uri="{FF2B5EF4-FFF2-40B4-BE49-F238E27FC236}">
                <a16:creationId xmlns:a16="http://schemas.microsoft.com/office/drawing/2014/main" id="{0D7EDFCB-8799-EC4D-BDDD-61715769D989}"/>
              </a:ext>
            </a:extLst>
          </p:cNvPr>
          <p:cNvSpPr/>
          <p:nvPr/>
        </p:nvSpPr>
        <p:spPr>
          <a:xfrm>
            <a:off x="4708525" y="3840163"/>
            <a:ext cx="503238" cy="823912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0" name="Text 31">
            <a:extLst>
              <a:ext uri="{FF2B5EF4-FFF2-40B4-BE49-F238E27FC236}">
                <a16:creationId xmlns:a16="http://schemas.microsoft.com/office/drawing/2014/main" id="{77453355-82E2-CC88-970E-4F8CAE4A0D51}"/>
              </a:ext>
            </a:extLst>
          </p:cNvPr>
          <p:cNvSpPr/>
          <p:nvPr/>
        </p:nvSpPr>
        <p:spPr>
          <a:xfrm>
            <a:off x="4708525" y="3840163"/>
            <a:ext cx="503238" cy="823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>
                <a:solidFill>
                  <a:schemeClr val="bg1"/>
                </a:solidFill>
                <a:latin typeface="Calibri"/>
              </a:rPr>
              <a:t>06</a:t>
            </a:r>
            <a:endParaRPr lang="en-US" sz="16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21" name="Text 32">
            <a:extLst>
              <a:ext uri="{FF2B5EF4-FFF2-40B4-BE49-F238E27FC236}">
                <a16:creationId xmlns:a16="http://schemas.microsoft.com/office/drawing/2014/main" id="{FFCF2360-23B5-687A-9691-E3411EC24206}"/>
              </a:ext>
            </a:extLst>
          </p:cNvPr>
          <p:cNvSpPr/>
          <p:nvPr/>
        </p:nvSpPr>
        <p:spPr>
          <a:xfrm>
            <a:off x="5303838" y="3913188"/>
            <a:ext cx="3429000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>
                <a:solidFill>
                  <a:schemeClr val="accent2">
                    <a:lumMod val="75000"/>
                  </a:schemeClr>
                </a:solidFill>
                <a:latin typeface="Calibri"/>
              </a:rPr>
              <a:t>Code Execution</a:t>
            </a:r>
            <a:endParaRPr lang="en-US" sz="1400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622" name="Text 33">
            <a:extLst>
              <a:ext uri="{FF2B5EF4-FFF2-40B4-BE49-F238E27FC236}">
                <a16:creationId xmlns:a16="http://schemas.microsoft.com/office/drawing/2014/main" id="{BB3B8205-4807-4B6F-6EEA-E7D063C35D40}"/>
              </a:ext>
            </a:extLst>
          </p:cNvPr>
          <p:cNvSpPr/>
          <p:nvPr/>
        </p:nvSpPr>
        <p:spPr>
          <a:xfrm>
            <a:off x="5303838" y="4206875"/>
            <a:ext cx="3429000" cy="3841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50" spc="-1" dirty="0" err="1">
                <a:solidFill>
                  <a:srgbClr val="0C4A6E"/>
                </a:solidFill>
                <a:latin typeface="Calibri"/>
              </a:rPr>
              <a:t>UserProxy</a:t>
            </a:r>
            <a:r>
              <a:rPr lang="en-US" sz="1050" spc="-1" dirty="0">
                <a:solidFill>
                  <a:srgbClr val="0C4A6E"/>
                </a:solidFill>
                <a:latin typeface="Calibri"/>
              </a:rPr>
              <a:t> auto-runs Python blocks agents write - output feeds back into chat</a:t>
            </a:r>
            <a:endParaRPr lang="en-US" sz="105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3044" name="Picture 1">
            <a:extLst>
              <a:ext uri="{FF2B5EF4-FFF2-40B4-BE49-F238E27FC236}">
                <a16:creationId xmlns:a16="http://schemas.microsoft.com/office/drawing/2014/main" id="{8A329F4B-406D-6033-1CAD-1E3FD2496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93675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Shape 0">
            <a:extLst>
              <a:ext uri="{FF2B5EF4-FFF2-40B4-BE49-F238E27FC236}">
                <a16:creationId xmlns:a16="http://schemas.microsoft.com/office/drawing/2014/main" id="{22D08A3D-B442-1F40-378B-779DB1DAD61B}"/>
              </a:ext>
            </a:extLst>
          </p:cNvPr>
          <p:cNvSpPr/>
          <p:nvPr/>
        </p:nvSpPr>
        <p:spPr>
          <a:xfrm>
            <a:off x="0" y="0"/>
            <a:ext cx="9144000" cy="55563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640" rIns="90000" bIns="86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5" name="Text 1">
            <a:extLst>
              <a:ext uri="{FF2B5EF4-FFF2-40B4-BE49-F238E27FC236}">
                <a16:creationId xmlns:a16="http://schemas.microsoft.com/office/drawing/2014/main" id="{9D988368-5274-659E-2C64-AD928665E3B3}"/>
              </a:ext>
            </a:extLst>
          </p:cNvPr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>
                <a:solidFill>
                  <a:srgbClr val="0EA5E9"/>
                </a:solidFill>
                <a:latin typeface="Calibri"/>
              </a:rPr>
              <a:t>SECTION 4</a:t>
            </a:r>
            <a:endParaRPr lang="en-US" sz="14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6" name="Text 2">
            <a:extLst>
              <a:ext uri="{FF2B5EF4-FFF2-40B4-BE49-F238E27FC236}">
                <a16:creationId xmlns:a16="http://schemas.microsoft.com/office/drawing/2014/main" id="{969DD08D-09F8-0531-7CC6-AD4F3527B9BE}"/>
              </a:ext>
            </a:extLst>
          </p:cNvPr>
          <p:cNvSpPr/>
          <p:nvPr/>
        </p:nvSpPr>
        <p:spPr>
          <a:xfrm>
            <a:off x="457200" y="1874838"/>
            <a:ext cx="8229600" cy="822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800" b="1" spc="-1">
                <a:solidFill>
                  <a:srgbClr val="1E3A8A"/>
                </a:solidFill>
                <a:latin typeface="Calibri"/>
              </a:rPr>
              <a:t>LangGraph vs AutoGen</a:t>
            </a:r>
            <a:endParaRPr lang="en-US" sz="3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7" name="Text 3">
            <a:extLst>
              <a:ext uri="{FF2B5EF4-FFF2-40B4-BE49-F238E27FC236}">
                <a16:creationId xmlns:a16="http://schemas.microsoft.com/office/drawing/2014/main" id="{2F5F213E-8B16-82DA-4ED4-2DC600B1FE98}"/>
              </a:ext>
            </a:extLst>
          </p:cNvPr>
          <p:cNvSpPr/>
          <p:nvPr/>
        </p:nvSpPr>
        <p:spPr>
          <a:xfrm>
            <a:off x="457200" y="2789238"/>
            <a:ext cx="8229600" cy="365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i="1" spc="-1">
                <a:solidFill>
                  <a:srgbClr val="0C4A6E"/>
                </a:solidFill>
                <a:latin typeface="Calibri"/>
              </a:rPr>
              <a:t>When to use which - the decision guide</a:t>
            </a:r>
            <a:endParaRPr lang="en-US" sz="1600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5062" name="Picture 1">
            <a:extLst>
              <a:ext uri="{FF2B5EF4-FFF2-40B4-BE49-F238E27FC236}">
                <a16:creationId xmlns:a16="http://schemas.microsoft.com/office/drawing/2014/main" id="{E160E956-5554-63C5-6763-9D0048674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93675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Shape 0">
            <a:extLst>
              <a:ext uri="{FF2B5EF4-FFF2-40B4-BE49-F238E27FC236}">
                <a16:creationId xmlns:a16="http://schemas.microsoft.com/office/drawing/2014/main" id="{4EDD7736-6CBB-31E6-CD41-E4968042BC28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0" name="Text 1">
            <a:extLst>
              <a:ext uri="{FF2B5EF4-FFF2-40B4-BE49-F238E27FC236}">
                <a16:creationId xmlns:a16="http://schemas.microsoft.com/office/drawing/2014/main" id="{E284E124-AEC0-1846-2840-53C63B44D4BB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>
                <a:solidFill>
                  <a:srgbClr val="1E3A8A"/>
                </a:solidFill>
                <a:latin typeface="Calibri"/>
              </a:rPr>
              <a:t>SECTION 4</a:t>
            </a:r>
            <a:endParaRPr lang="en-US" sz="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1" name="Text 2">
            <a:extLst>
              <a:ext uri="{FF2B5EF4-FFF2-40B4-BE49-F238E27FC236}">
                <a16:creationId xmlns:a16="http://schemas.microsoft.com/office/drawing/2014/main" id="{409566BA-B7D5-B867-EB59-CF26EA7641B9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200" b="1" spc="-1">
                <a:solidFill>
                  <a:srgbClr val="1E3A8A"/>
                </a:solidFill>
                <a:latin typeface="Calibri"/>
              </a:rPr>
              <a:t>LangGraph vs AutoGen</a:t>
            </a:r>
            <a:endParaRPr lang="en-US" sz="2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2" name="Shape 3">
            <a:extLst>
              <a:ext uri="{FF2B5EF4-FFF2-40B4-BE49-F238E27FC236}">
                <a16:creationId xmlns:a16="http://schemas.microsoft.com/office/drawing/2014/main" id="{D8D030F3-BC93-D9F0-B316-E86559B3D941}"/>
              </a:ext>
            </a:extLst>
          </p:cNvPr>
          <p:cNvSpPr/>
          <p:nvPr/>
        </p:nvSpPr>
        <p:spPr>
          <a:xfrm>
            <a:off x="365125" y="987425"/>
            <a:ext cx="2927350" cy="311150"/>
          </a:xfrm>
          <a:prstGeom prst="rect">
            <a:avLst/>
          </a:prstGeom>
          <a:solidFill>
            <a:srgbClr val="E0F2FE"/>
          </a:solidFill>
          <a:ln w="12600">
            <a:solidFill>
              <a:srgbClr val="E0F2FE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3" name="Shape 4">
            <a:extLst>
              <a:ext uri="{FF2B5EF4-FFF2-40B4-BE49-F238E27FC236}">
                <a16:creationId xmlns:a16="http://schemas.microsoft.com/office/drawing/2014/main" id="{8C4E8254-4F90-0948-72A1-5C73C1C4C474}"/>
              </a:ext>
            </a:extLst>
          </p:cNvPr>
          <p:cNvSpPr/>
          <p:nvPr/>
        </p:nvSpPr>
        <p:spPr>
          <a:xfrm>
            <a:off x="3336925" y="987425"/>
            <a:ext cx="2652713" cy="311150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4" name="Shape 5">
            <a:extLst>
              <a:ext uri="{FF2B5EF4-FFF2-40B4-BE49-F238E27FC236}">
                <a16:creationId xmlns:a16="http://schemas.microsoft.com/office/drawing/2014/main" id="{4FC62BFA-6469-79CA-9873-E72C5F06A3C7}"/>
              </a:ext>
            </a:extLst>
          </p:cNvPr>
          <p:cNvSpPr/>
          <p:nvPr/>
        </p:nvSpPr>
        <p:spPr>
          <a:xfrm>
            <a:off x="6035675" y="987425"/>
            <a:ext cx="2697163" cy="311150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5" name="Text 6">
            <a:extLst>
              <a:ext uri="{FF2B5EF4-FFF2-40B4-BE49-F238E27FC236}">
                <a16:creationId xmlns:a16="http://schemas.microsoft.com/office/drawing/2014/main" id="{6717C6E5-86AB-4B00-3176-D8F4707041E8}"/>
              </a:ext>
            </a:extLst>
          </p:cNvPr>
          <p:cNvSpPr/>
          <p:nvPr/>
        </p:nvSpPr>
        <p:spPr>
          <a:xfrm>
            <a:off x="365125" y="987425"/>
            <a:ext cx="2927350" cy="3111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>
                <a:solidFill>
                  <a:srgbClr val="1E3A8A"/>
                </a:solidFill>
                <a:latin typeface="Calibri"/>
              </a:rPr>
              <a:t>Dimension</a:t>
            </a:r>
            <a:endParaRPr lang="en-US" sz="14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6" name="Text 7">
            <a:extLst>
              <a:ext uri="{FF2B5EF4-FFF2-40B4-BE49-F238E27FC236}">
                <a16:creationId xmlns:a16="http://schemas.microsoft.com/office/drawing/2014/main" id="{FAC1EACA-B454-DBEB-5CA7-F244BAF4D8CB}"/>
              </a:ext>
            </a:extLst>
          </p:cNvPr>
          <p:cNvSpPr/>
          <p:nvPr/>
        </p:nvSpPr>
        <p:spPr>
          <a:xfrm>
            <a:off x="3336925" y="987425"/>
            <a:ext cx="2652713" cy="3111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 dirty="0" err="1">
                <a:solidFill>
                  <a:schemeClr val="accent2">
                    <a:lumMod val="75000"/>
                  </a:schemeClr>
                </a:solidFill>
                <a:latin typeface="Calibri"/>
              </a:rPr>
              <a:t>LangGraph</a:t>
            </a:r>
            <a:endParaRPr lang="en-US" sz="1400" spc="-1" dirty="0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637" name="Text 8">
            <a:extLst>
              <a:ext uri="{FF2B5EF4-FFF2-40B4-BE49-F238E27FC236}">
                <a16:creationId xmlns:a16="http://schemas.microsoft.com/office/drawing/2014/main" id="{3BD4ADA8-FADD-2462-E88C-E0DB405355BC}"/>
              </a:ext>
            </a:extLst>
          </p:cNvPr>
          <p:cNvSpPr/>
          <p:nvPr/>
        </p:nvSpPr>
        <p:spPr>
          <a:xfrm>
            <a:off x="6035675" y="987425"/>
            <a:ext cx="2697163" cy="3111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 dirty="0" err="1">
                <a:solidFill>
                  <a:schemeClr val="bg1"/>
                </a:solidFill>
                <a:latin typeface="Calibri"/>
              </a:rPr>
              <a:t>AutoGen</a:t>
            </a:r>
            <a:endParaRPr lang="en-US" sz="14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38" name="Shape 9">
            <a:extLst>
              <a:ext uri="{FF2B5EF4-FFF2-40B4-BE49-F238E27FC236}">
                <a16:creationId xmlns:a16="http://schemas.microsoft.com/office/drawing/2014/main" id="{A7B904C9-1999-0529-5C44-15E373568A5B}"/>
              </a:ext>
            </a:extLst>
          </p:cNvPr>
          <p:cNvSpPr/>
          <p:nvPr/>
        </p:nvSpPr>
        <p:spPr>
          <a:xfrm>
            <a:off x="365125" y="1325563"/>
            <a:ext cx="2927350" cy="347662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9" name="Shape 10">
            <a:extLst>
              <a:ext uri="{FF2B5EF4-FFF2-40B4-BE49-F238E27FC236}">
                <a16:creationId xmlns:a16="http://schemas.microsoft.com/office/drawing/2014/main" id="{06879DC7-D04A-BD85-1E01-8725D72E5499}"/>
              </a:ext>
            </a:extLst>
          </p:cNvPr>
          <p:cNvSpPr/>
          <p:nvPr/>
        </p:nvSpPr>
        <p:spPr>
          <a:xfrm>
            <a:off x="3336925" y="1325563"/>
            <a:ext cx="2652713" cy="347662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0" name="Shape 11">
            <a:extLst>
              <a:ext uri="{FF2B5EF4-FFF2-40B4-BE49-F238E27FC236}">
                <a16:creationId xmlns:a16="http://schemas.microsoft.com/office/drawing/2014/main" id="{6C0EC9EF-3ED9-2EFA-BC39-31BA1AD66A37}"/>
              </a:ext>
            </a:extLst>
          </p:cNvPr>
          <p:cNvSpPr/>
          <p:nvPr/>
        </p:nvSpPr>
        <p:spPr>
          <a:xfrm>
            <a:off x="6035675" y="1325563"/>
            <a:ext cx="2697163" cy="347662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1" name="Text 12">
            <a:extLst>
              <a:ext uri="{FF2B5EF4-FFF2-40B4-BE49-F238E27FC236}">
                <a16:creationId xmlns:a16="http://schemas.microsoft.com/office/drawing/2014/main" id="{5BD5CCAF-CA4C-97F0-4068-0E34DE6E9D55}"/>
              </a:ext>
            </a:extLst>
          </p:cNvPr>
          <p:cNvSpPr/>
          <p:nvPr/>
        </p:nvSpPr>
        <p:spPr>
          <a:xfrm>
            <a:off x="457200" y="1362075"/>
            <a:ext cx="2743200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1E3A8A"/>
                </a:solidFill>
                <a:latin typeface="Calibri"/>
              </a:rPr>
              <a:t>Paradigm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2" name="Text 13">
            <a:extLst>
              <a:ext uri="{FF2B5EF4-FFF2-40B4-BE49-F238E27FC236}">
                <a16:creationId xmlns:a16="http://schemas.microsoft.com/office/drawing/2014/main" id="{DF5A4645-C94F-3CE8-703B-3CC01BEF2FCF}"/>
              </a:ext>
            </a:extLst>
          </p:cNvPr>
          <p:cNvSpPr/>
          <p:nvPr/>
        </p:nvSpPr>
        <p:spPr>
          <a:xfrm>
            <a:off x="3402013" y="1362075"/>
            <a:ext cx="2522537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Graph-based state machine</a:t>
            </a:r>
          </a:p>
        </p:txBody>
      </p:sp>
      <p:sp>
        <p:nvSpPr>
          <p:cNvPr id="643" name="Text 14">
            <a:extLst>
              <a:ext uri="{FF2B5EF4-FFF2-40B4-BE49-F238E27FC236}">
                <a16:creationId xmlns:a16="http://schemas.microsoft.com/office/drawing/2014/main" id="{EC19287F-9269-3BE2-952B-8B280AD70EC0}"/>
              </a:ext>
            </a:extLst>
          </p:cNvPr>
          <p:cNvSpPr/>
          <p:nvPr/>
        </p:nvSpPr>
        <p:spPr>
          <a:xfrm>
            <a:off x="6099175" y="1362075"/>
            <a:ext cx="2568575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rgbClr val="0E7490"/>
                </a:solidFill>
                <a:latin typeface="Calibri"/>
              </a:rPr>
              <a:t>Conversational message passing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4" name="Shape 15">
            <a:extLst>
              <a:ext uri="{FF2B5EF4-FFF2-40B4-BE49-F238E27FC236}">
                <a16:creationId xmlns:a16="http://schemas.microsoft.com/office/drawing/2014/main" id="{27128094-D254-B9A3-EC13-763F466989F6}"/>
              </a:ext>
            </a:extLst>
          </p:cNvPr>
          <p:cNvSpPr/>
          <p:nvPr/>
        </p:nvSpPr>
        <p:spPr>
          <a:xfrm>
            <a:off x="365125" y="1692275"/>
            <a:ext cx="2927350" cy="346075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5" name="Shape 16">
            <a:extLst>
              <a:ext uri="{FF2B5EF4-FFF2-40B4-BE49-F238E27FC236}">
                <a16:creationId xmlns:a16="http://schemas.microsoft.com/office/drawing/2014/main" id="{BF7B6F93-4FF0-2D27-570B-16C0981A81EA}"/>
              </a:ext>
            </a:extLst>
          </p:cNvPr>
          <p:cNvSpPr/>
          <p:nvPr/>
        </p:nvSpPr>
        <p:spPr>
          <a:xfrm>
            <a:off x="3336925" y="1692275"/>
            <a:ext cx="2652713" cy="346075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6" name="Shape 17">
            <a:extLst>
              <a:ext uri="{FF2B5EF4-FFF2-40B4-BE49-F238E27FC236}">
                <a16:creationId xmlns:a16="http://schemas.microsoft.com/office/drawing/2014/main" id="{4956076D-8EC2-5770-A603-22610F4F49EA}"/>
              </a:ext>
            </a:extLst>
          </p:cNvPr>
          <p:cNvSpPr/>
          <p:nvPr/>
        </p:nvSpPr>
        <p:spPr>
          <a:xfrm>
            <a:off x="6035675" y="1692275"/>
            <a:ext cx="2697163" cy="346075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7" name="Text 18">
            <a:extLst>
              <a:ext uri="{FF2B5EF4-FFF2-40B4-BE49-F238E27FC236}">
                <a16:creationId xmlns:a16="http://schemas.microsoft.com/office/drawing/2014/main" id="{F8064864-B00E-AED4-F5A5-88D4F40389D3}"/>
              </a:ext>
            </a:extLst>
          </p:cNvPr>
          <p:cNvSpPr/>
          <p:nvPr/>
        </p:nvSpPr>
        <p:spPr>
          <a:xfrm>
            <a:off x="457200" y="1728788"/>
            <a:ext cx="2743200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1E3A8A"/>
                </a:solidFill>
                <a:latin typeface="Calibri"/>
              </a:rPr>
              <a:t>Control Flow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8" name="Text 19">
            <a:extLst>
              <a:ext uri="{FF2B5EF4-FFF2-40B4-BE49-F238E27FC236}">
                <a16:creationId xmlns:a16="http://schemas.microsoft.com/office/drawing/2014/main" id="{FC3B2EE1-BBFF-D9F4-2F6F-7D0C4A6D19E8}"/>
              </a:ext>
            </a:extLst>
          </p:cNvPr>
          <p:cNvSpPr/>
          <p:nvPr/>
        </p:nvSpPr>
        <p:spPr>
          <a:xfrm>
            <a:off x="3402013" y="1728788"/>
            <a:ext cx="2522537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chemeClr val="accent2">
                    <a:lumMod val="75000"/>
                  </a:schemeClr>
                </a:solidFill>
                <a:latin typeface="Calibri"/>
              </a:rPr>
              <a:t>Explicit nodes &amp; edges</a:t>
            </a:r>
          </a:p>
        </p:txBody>
      </p:sp>
      <p:sp>
        <p:nvSpPr>
          <p:cNvPr id="649" name="Text 20">
            <a:extLst>
              <a:ext uri="{FF2B5EF4-FFF2-40B4-BE49-F238E27FC236}">
                <a16:creationId xmlns:a16="http://schemas.microsoft.com/office/drawing/2014/main" id="{AA5C14D7-BF2B-11A6-CB12-BAAAD4C47EF3}"/>
              </a:ext>
            </a:extLst>
          </p:cNvPr>
          <p:cNvSpPr/>
          <p:nvPr/>
        </p:nvSpPr>
        <p:spPr>
          <a:xfrm>
            <a:off x="6099175" y="1728788"/>
            <a:ext cx="2568575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rgbClr val="0E7490"/>
                </a:solidFill>
                <a:latin typeface="Calibri"/>
              </a:rPr>
              <a:t>Dynamic agent dialogue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0" name="Shape 21">
            <a:extLst>
              <a:ext uri="{FF2B5EF4-FFF2-40B4-BE49-F238E27FC236}">
                <a16:creationId xmlns:a16="http://schemas.microsoft.com/office/drawing/2014/main" id="{4E17372C-037C-96F2-9471-67AFFDB0B90C}"/>
              </a:ext>
            </a:extLst>
          </p:cNvPr>
          <p:cNvSpPr/>
          <p:nvPr/>
        </p:nvSpPr>
        <p:spPr>
          <a:xfrm>
            <a:off x="365125" y="2057400"/>
            <a:ext cx="2927350" cy="347663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1" name="Shape 22">
            <a:extLst>
              <a:ext uri="{FF2B5EF4-FFF2-40B4-BE49-F238E27FC236}">
                <a16:creationId xmlns:a16="http://schemas.microsoft.com/office/drawing/2014/main" id="{68E9A2E0-36A2-D8DA-FE52-91A28CB617A3}"/>
              </a:ext>
            </a:extLst>
          </p:cNvPr>
          <p:cNvSpPr/>
          <p:nvPr/>
        </p:nvSpPr>
        <p:spPr>
          <a:xfrm>
            <a:off x="3336925" y="2057400"/>
            <a:ext cx="2652713" cy="347663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2" name="Shape 23">
            <a:extLst>
              <a:ext uri="{FF2B5EF4-FFF2-40B4-BE49-F238E27FC236}">
                <a16:creationId xmlns:a16="http://schemas.microsoft.com/office/drawing/2014/main" id="{34124820-756C-1945-3D5C-EF6396B0E4E9}"/>
              </a:ext>
            </a:extLst>
          </p:cNvPr>
          <p:cNvSpPr/>
          <p:nvPr/>
        </p:nvSpPr>
        <p:spPr>
          <a:xfrm>
            <a:off x="6035675" y="2057400"/>
            <a:ext cx="2697163" cy="347663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3" name="Text 24">
            <a:extLst>
              <a:ext uri="{FF2B5EF4-FFF2-40B4-BE49-F238E27FC236}">
                <a16:creationId xmlns:a16="http://schemas.microsoft.com/office/drawing/2014/main" id="{289DBF3C-43D3-9B89-9474-73E8BF2F0E83}"/>
              </a:ext>
            </a:extLst>
          </p:cNvPr>
          <p:cNvSpPr/>
          <p:nvPr/>
        </p:nvSpPr>
        <p:spPr>
          <a:xfrm>
            <a:off x="457200" y="2093913"/>
            <a:ext cx="2743200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1E3A8A"/>
                </a:solidFill>
                <a:latin typeface="Calibri"/>
              </a:rPr>
              <a:t>State Management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4" name="Text 25">
            <a:extLst>
              <a:ext uri="{FF2B5EF4-FFF2-40B4-BE49-F238E27FC236}">
                <a16:creationId xmlns:a16="http://schemas.microsoft.com/office/drawing/2014/main" id="{6AFED874-DCBA-9D32-D8BB-2942239DFEBB}"/>
              </a:ext>
            </a:extLst>
          </p:cNvPr>
          <p:cNvSpPr/>
          <p:nvPr/>
        </p:nvSpPr>
        <p:spPr>
          <a:xfrm>
            <a:off x="3402013" y="2093913"/>
            <a:ext cx="2522537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chemeClr val="accent2">
                    <a:lumMod val="75000"/>
                  </a:schemeClr>
                </a:solidFill>
                <a:latin typeface="Calibri"/>
              </a:rPr>
              <a:t>Built-in TypedDict state graph</a:t>
            </a:r>
          </a:p>
        </p:txBody>
      </p:sp>
      <p:sp>
        <p:nvSpPr>
          <p:cNvPr id="655" name="Text 26">
            <a:extLst>
              <a:ext uri="{FF2B5EF4-FFF2-40B4-BE49-F238E27FC236}">
                <a16:creationId xmlns:a16="http://schemas.microsoft.com/office/drawing/2014/main" id="{AEF22C24-CC45-4B21-C0E4-5FB655050793}"/>
              </a:ext>
            </a:extLst>
          </p:cNvPr>
          <p:cNvSpPr/>
          <p:nvPr/>
        </p:nvSpPr>
        <p:spPr>
          <a:xfrm>
            <a:off x="6099175" y="2093913"/>
            <a:ext cx="2568575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rgbClr val="0E7490"/>
                </a:solidFill>
                <a:latin typeface="Calibri"/>
              </a:rPr>
              <a:t>Message history is the state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6" name="Shape 27">
            <a:extLst>
              <a:ext uri="{FF2B5EF4-FFF2-40B4-BE49-F238E27FC236}">
                <a16:creationId xmlns:a16="http://schemas.microsoft.com/office/drawing/2014/main" id="{EB41A323-DCD0-B9FF-DC3C-C34EEDD7B0E7}"/>
              </a:ext>
            </a:extLst>
          </p:cNvPr>
          <p:cNvSpPr/>
          <p:nvPr/>
        </p:nvSpPr>
        <p:spPr>
          <a:xfrm>
            <a:off x="365125" y="2422525"/>
            <a:ext cx="2927350" cy="347663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7" name="Shape 28">
            <a:extLst>
              <a:ext uri="{FF2B5EF4-FFF2-40B4-BE49-F238E27FC236}">
                <a16:creationId xmlns:a16="http://schemas.microsoft.com/office/drawing/2014/main" id="{A5736848-A06D-553A-C6FD-E2E0B63D48B4}"/>
              </a:ext>
            </a:extLst>
          </p:cNvPr>
          <p:cNvSpPr/>
          <p:nvPr/>
        </p:nvSpPr>
        <p:spPr>
          <a:xfrm>
            <a:off x="3336925" y="2422525"/>
            <a:ext cx="2652713" cy="347663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8" name="Shape 29">
            <a:extLst>
              <a:ext uri="{FF2B5EF4-FFF2-40B4-BE49-F238E27FC236}">
                <a16:creationId xmlns:a16="http://schemas.microsoft.com/office/drawing/2014/main" id="{FF755807-1389-658D-F0A5-03A2D4844289}"/>
              </a:ext>
            </a:extLst>
          </p:cNvPr>
          <p:cNvSpPr/>
          <p:nvPr/>
        </p:nvSpPr>
        <p:spPr>
          <a:xfrm>
            <a:off x="6035675" y="2422525"/>
            <a:ext cx="2697163" cy="347663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9" name="Text 30">
            <a:extLst>
              <a:ext uri="{FF2B5EF4-FFF2-40B4-BE49-F238E27FC236}">
                <a16:creationId xmlns:a16="http://schemas.microsoft.com/office/drawing/2014/main" id="{E292B983-A10D-3F81-E144-C9DF00A89A1C}"/>
              </a:ext>
            </a:extLst>
          </p:cNvPr>
          <p:cNvSpPr/>
          <p:nvPr/>
        </p:nvSpPr>
        <p:spPr>
          <a:xfrm>
            <a:off x="457200" y="2459038"/>
            <a:ext cx="2743200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1E3A8A"/>
                </a:solidFill>
                <a:latin typeface="Calibri"/>
              </a:rPr>
              <a:t>Code Execution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0" name="Text 31">
            <a:extLst>
              <a:ext uri="{FF2B5EF4-FFF2-40B4-BE49-F238E27FC236}">
                <a16:creationId xmlns:a16="http://schemas.microsoft.com/office/drawing/2014/main" id="{2952F944-F5E9-B5D6-23C1-983D140F17EC}"/>
              </a:ext>
            </a:extLst>
          </p:cNvPr>
          <p:cNvSpPr/>
          <p:nvPr/>
        </p:nvSpPr>
        <p:spPr>
          <a:xfrm>
            <a:off x="3402013" y="2459038"/>
            <a:ext cx="2522537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chemeClr val="accent2">
                    <a:lumMod val="75000"/>
                  </a:schemeClr>
                </a:solidFill>
                <a:latin typeface="Calibri"/>
              </a:rPr>
              <a:t>External tool nodes required</a:t>
            </a:r>
          </a:p>
        </p:txBody>
      </p:sp>
      <p:sp>
        <p:nvSpPr>
          <p:cNvPr id="661" name="Text 32">
            <a:extLst>
              <a:ext uri="{FF2B5EF4-FFF2-40B4-BE49-F238E27FC236}">
                <a16:creationId xmlns:a16="http://schemas.microsoft.com/office/drawing/2014/main" id="{2173FE80-28FA-B31A-4CF7-38F0F1B8B7EA}"/>
              </a:ext>
            </a:extLst>
          </p:cNvPr>
          <p:cNvSpPr/>
          <p:nvPr/>
        </p:nvSpPr>
        <p:spPr>
          <a:xfrm>
            <a:off x="6099175" y="2459038"/>
            <a:ext cx="2568575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rgbClr val="0E7490"/>
                </a:solidFill>
                <a:latin typeface="Calibri"/>
              </a:rPr>
              <a:t>Built-in UserProxyAgent sandbox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2" name="Shape 33">
            <a:extLst>
              <a:ext uri="{FF2B5EF4-FFF2-40B4-BE49-F238E27FC236}">
                <a16:creationId xmlns:a16="http://schemas.microsoft.com/office/drawing/2014/main" id="{A8266109-755D-3E90-1B78-08BF7AC97860}"/>
              </a:ext>
            </a:extLst>
          </p:cNvPr>
          <p:cNvSpPr/>
          <p:nvPr/>
        </p:nvSpPr>
        <p:spPr>
          <a:xfrm>
            <a:off x="365125" y="2789238"/>
            <a:ext cx="2927350" cy="347662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3" name="Shape 34">
            <a:extLst>
              <a:ext uri="{FF2B5EF4-FFF2-40B4-BE49-F238E27FC236}">
                <a16:creationId xmlns:a16="http://schemas.microsoft.com/office/drawing/2014/main" id="{6A7B33D0-B609-AC00-6DD2-A4BE92E45C1D}"/>
              </a:ext>
            </a:extLst>
          </p:cNvPr>
          <p:cNvSpPr/>
          <p:nvPr/>
        </p:nvSpPr>
        <p:spPr>
          <a:xfrm>
            <a:off x="3336925" y="2789238"/>
            <a:ext cx="2652713" cy="347662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4" name="Shape 35">
            <a:extLst>
              <a:ext uri="{FF2B5EF4-FFF2-40B4-BE49-F238E27FC236}">
                <a16:creationId xmlns:a16="http://schemas.microsoft.com/office/drawing/2014/main" id="{2AC34F72-AFF4-E1C7-31D9-53B3D7EBEB14}"/>
              </a:ext>
            </a:extLst>
          </p:cNvPr>
          <p:cNvSpPr/>
          <p:nvPr/>
        </p:nvSpPr>
        <p:spPr>
          <a:xfrm>
            <a:off x="6035675" y="2789238"/>
            <a:ext cx="2697163" cy="347662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5" name="Text 36">
            <a:extLst>
              <a:ext uri="{FF2B5EF4-FFF2-40B4-BE49-F238E27FC236}">
                <a16:creationId xmlns:a16="http://schemas.microsoft.com/office/drawing/2014/main" id="{53015FCC-5EC6-1E11-9096-D84BCB3FA123}"/>
              </a:ext>
            </a:extLst>
          </p:cNvPr>
          <p:cNvSpPr/>
          <p:nvPr/>
        </p:nvSpPr>
        <p:spPr>
          <a:xfrm>
            <a:off x="457200" y="2825750"/>
            <a:ext cx="2743200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1E3A8A"/>
                </a:solidFill>
                <a:latin typeface="Calibri"/>
              </a:rPr>
              <a:t>Best For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6" name="Text 37">
            <a:extLst>
              <a:ext uri="{FF2B5EF4-FFF2-40B4-BE49-F238E27FC236}">
                <a16:creationId xmlns:a16="http://schemas.microsoft.com/office/drawing/2014/main" id="{8FE847DB-5BA3-5DA9-3F3E-D7F2695676AE}"/>
              </a:ext>
            </a:extLst>
          </p:cNvPr>
          <p:cNvSpPr/>
          <p:nvPr/>
        </p:nvSpPr>
        <p:spPr>
          <a:xfrm>
            <a:off x="3402013" y="2825750"/>
            <a:ext cx="2522537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chemeClr val="accent2">
                    <a:lumMod val="75000"/>
                  </a:schemeClr>
                </a:solidFill>
                <a:latin typeface="Calibri"/>
              </a:rPr>
              <a:t>Structured, deterministic tasks</a:t>
            </a:r>
          </a:p>
        </p:txBody>
      </p:sp>
      <p:sp>
        <p:nvSpPr>
          <p:cNvPr id="667" name="Text 38">
            <a:extLst>
              <a:ext uri="{FF2B5EF4-FFF2-40B4-BE49-F238E27FC236}">
                <a16:creationId xmlns:a16="http://schemas.microsoft.com/office/drawing/2014/main" id="{3B029825-763B-54C2-FC45-3F1C859D28AB}"/>
              </a:ext>
            </a:extLst>
          </p:cNvPr>
          <p:cNvSpPr/>
          <p:nvPr/>
        </p:nvSpPr>
        <p:spPr>
          <a:xfrm>
            <a:off x="6099175" y="2825750"/>
            <a:ext cx="2568575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rgbClr val="0E7490"/>
                </a:solidFill>
                <a:latin typeface="Calibri"/>
              </a:rPr>
              <a:t>Open-ended collaborative tasks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8" name="Shape 39">
            <a:extLst>
              <a:ext uri="{FF2B5EF4-FFF2-40B4-BE49-F238E27FC236}">
                <a16:creationId xmlns:a16="http://schemas.microsoft.com/office/drawing/2014/main" id="{451DE4B5-7B88-B369-AA85-3B690FA39B83}"/>
              </a:ext>
            </a:extLst>
          </p:cNvPr>
          <p:cNvSpPr/>
          <p:nvPr/>
        </p:nvSpPr>
        <p:spPr>
          <a:xfrm>
            <a:off x="365125" y="3154363"/>
            <a:ext cx="2927350" cy="347662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9" name="Shape 40">
            <a:extLst>
              <a:ext uri="{FF2B5EF4-FFF2-40B4-BE49-F238E27FC236}">
                <a16:creationId xmlns:a16="http://schemas.microsoft.com/office/drawing/2014/main" id="{A4DC965B-CD2D-DBED-96C0-D798B2C3115A}"/>
              </a:ext>
            </a:extLst>
          </p:cNvPr>
          <p:cNvSpPr/>
          <p:nvPr/>
        </p:nvSpPr>
        <p:spPr>
          <a:xfrm>
            <a:off x="3336925" y="3154363"/>
            <a:ext cx="2652713" cy="347662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0" name="Shape 41">
            <a:extLst>
              <a:ext uri="{FF2B5EF4-FFF2-40B4-BE49-F238E27FC236}">
                <a16:creationId xmlns:a16="http://schemas.microsoft.com/office/drawing/2014/main" id="{842BCECC-9CAB-5532-1D67-102D342F5D0D}"/>
              </a:ext>
            </a:extLst>
          </p:cNvPr>
          <p:cNvSpPr/>
          <p:nvPr/>
        </p:nvSpPr>
        <p:spPr>
          <a:xfrm>
            <a:off x="6035675" y="3154363"/>
            <a:ext cx="2697163" cy="347662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1" name="Text 42">
            <a:extLst>
              <a:ext uri="{FF2B5EF4-FFF2-40B4-BE49-F238E27FC236}">
                <a16:creationId xmlns:a16="http://schemas.microsoft.com/office/drawing/2014/main" id="{B7C299B0-2C5C-72E4-1482-36EFBDDFDB63}"/>
              </a:ext>
            </a:extLst>
          </p:cNvPr>
          <p:cNvSpPr/>
          <p:nvPr/>
        </p:nvSpPr>
        <p:spPr>
          <a:xfrm>
            <a:off x="457200" y="3190875"/>
            <a:ext cx="2743200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1E3A8A"/>
                </a:solidFill>
                <a:latin typeface="Calibri"/>
              </a:rPr>
              <a:t>Human-in-Loop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2" name="Text 43">
            <a:extLst>
              <a:ext uri="{FF2B5EF4-FFF2-40B4-BE49-F238E27FC236}">
                <a16:creationId xmlns:a16="http://schemas.microsoft.com/office/drawing/2014/main" id="{6EB1056E-381B-254F-A30D-ACEFE9A0BC73}"/>
              </a:ext>
            </a:extLst>
          </p:cNvPr>
          <p:cNvSpPr/>
          <p:nvPr/>
        </p:nvSpPr>
        <p:spPr>
          <a:xfrm>
            <a:off x="3402013" y="3190875"/>
            <a:ext cx="2522537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chemeClr val="accent2">
                    <a:lumMod val="75000"/>
                  </a:schemeClr>
                </a:solidFill>
                <a:latin typeface="Calibri"/>
              </a:rPr>
              <a:t>Native: pause/resume graph</a:t>
            </a:r>
          </a:p>
        </p:txBody>
      </p:sp>
      <p:sp>
        <p:nvSpPr>
          <p:cNvPr id="673" name="Text 44">
            <a:extLst>
              <a:ext uri="{FF2B5EF4-FFF2-40B4-BE49-F238E27FC236}">
                <a16:creationId xmlns:a16="http://schemas.microsoft.com/office/drawing/2014/main" id="{2DF5C6FD-AD3B-F7E0-51C7-86202BA23D2F}"/>
              </a:ext>
            </a:extLst>
          </p:cNvPr>
          <p:cNvSpPr/>
          <p:nvPr/>
        </p:nvSpPr>
        <p:spPr>
          <a:xfrm>
            <a:off x="6099175" y="3190875"/>
            <a:ext cx="2568575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rgbClr val="0E7490"/>
                </a:solidFill>
                <a:latin typeface="Calibri"/>
              </a:rPr>
              <a:t>Via UserProxy human-input mode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4" name="Shape 45">
            <a:extLst>
              <a:ext uri="{FF2B5EF4-FFF2-40B4-BE49-F238E27FC236}">
                <a16:creationId xmlns:a16="http://schemas.microsoft.com/office/drawing/2014/main" id="{4FB4AB7E-A701-8DFA-A7CA-15B8688D5015}"/>
              </a:ext>
            </a:extLst>
          </p:cNvPr>
          <p:cNvSpPr/>
          <p:nvPr/>
        </p:nvSpPr>
        <p:spPr>
          <a:xfrm>
            <a:off x="365125" y="3521075"/>
            <a:ext cx="2927350" cy="346075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5" name="Shape 46">
            <a:extLst>
              <a:ext uri="{FF2B5EF4-FFF2-40B4-BE49-F238E27FC236}">
                <a16:creationId xmlns:a16="http://schemas.microsoft.com/office/drawing/2014/main" id="{F8C4779D-2BC5-896A-16E3-2FB2CBCD7C03}"/>
              </a:ext>
            </a:extLst>
          </p:cNvPr>
          <p:cNvSpPr/>
          <p:nvPr/>
        </p:nvSpPr>
        <p:spPr>
          <a:xfrm>
            <a:off x="3336925" y="3521075"/>
            <a:ext cx="2652713" cy="346075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6" name="Shape 47">
            <a:extLst>
              <a:ext uri="{FF2B5EF4-FFF2-40B4-BE49-F238E27FC236}">
                <a16:creationId xmlns:a16="http://schemas.microsoft.com/office/drawing/2014/main" id="{00945222-9DE0-F553-B1AA-22A224986D3F}"/>
              </a:ext>
            </a:extLst>
          </p:cNvPr>
          <p:cNvSpPr/>
          <p:nvPr/>
        </p:nvSpPr>
        <p:spPr>
          <a:xfrm>
            <a:off x="6035675" y="3521075"/>
            <a:ext cx="2697163" cy="346075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7" name="Text 48">
            <a:extLst>
              <a:ext uri="{FF2B5EF4-FFF2-40B4-BE49-F238E27FC236}">
                <a16:creationId xmlns:a16="http://schemas.microsoft.com/office/drawing/2014/main" id="{451F1857-A46C-5F80-F66A-85B4342B8D4C}"/>
              </a:ext>
            </a:extLst>
          </p:cNvPr>
          <p:cNvSpPr/>
          <p:nvPr/>
        </p:nvSpPr>
        <p:spPr>
          <a:xfrm>
            <a:off x="457200" y="3557588"/>
            <a:ext cx="2743200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1E3A8A"/>
                </a:solidFill>
                <a:latin typeface="Calibri"/>
              </a:rPr>
              <a:t>Observability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8" name="Text 49">
            <a:extLst>
              <a:ext uri="{FF2B5EF4-FFF2-40B4-BE49-F238E27FC236}">
                <a16:creationId xmlns:a16="http://schemas.microsoft.com/office/drawing/2014/main" id="{7625B3A6-2AFB-F193-0900-932C4350736E}"/>
              </a:ext>
            </a:extLst>
          </p:cNvPr>
          <p:cNvSpPr/>
          <p:nvPr/>
        </p:nvSpPr>
        <p:spPr>
          <a:xfrm>
            <a:off x="3402013" y="3557588"/>
            <a:ext cx="2522537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chemeClr val="accent2">
                    <a:lumMod val="75000"/>
                  </a:schemeClr>
                </a:solidFill>
                <a:latin typeface="Calibri"/>
              </a:rPr>
              <a:t>LangSmith tracing &amp; debugging</a:t>
            </a:r>
          </a:p>
        </p:txBody>
      </p:sp>
      <p:sp>
        <p:nvSpPr>
          <p:cNvPr id="679" name="Text 50">
            <a:extLst>
              <a:ext uri="{FF2B5EF4-FFF2-40B4-BE49-F238E27FC236}">
                <a16:creationId xmlns:a16="http://schemas.microsoft.com/office/drawing/2014/main" id="{2F8E2504-6C8A-A062-298C-5A1C8338D268}"/>
              </a:ext>
            </a:extLst>
          </p:cNvPr>
          <p:cNvSpPr/>
          <p:nvPr/>
        </p:nvSpPr>
        <p:spPr>
          <a:xfrm>
            <a:off x="6099175" y="3557588"/>
            <a:ext cx="2568575" cy="2730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rgbClr val="0E7490"/>
                </a:solidFill>
                <a:latin typeface="Calibri"/>
              </a:rPr>
              <a:t>AutoGen Studio visual GUI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0" name="Shape 51">
            <a:extLst>
              <a:ext uri="{FF2B5EF4-FFF2-40B4-BE49-F238E27FC236}">
                <a16:creationId xmlns:a16="http://schemas.microsoft.com/office/drawing/2014/main" id="{301F899B-2A42-A63A-6D29-0BBBE8F54E07}"/>
              </a:ext>
            </a:extLst>
          </p:cNvPr>
          <p:cNvSpPr/>
          <p:nvPr/>
        </p:nvSpPr>
        <p:spPr>
          <a:xfrm>
            <a:off x="365125" y="3886200"/>
            <a:ext cx="2927350" cy="347663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1" name="Shape 52">
            <a:extLst>
              <a:ext uri="{FF2B5EF4-FFF2-40B4-BE49-F238E27FC236}">
                <a16:creationId xmlns:a16="http://schemas.microsoft.com/office/drawing/2014/main" id="{C0824535-5762-C34B-B4CA-D206D7032319}"/>
              </a:ext>
            </a:extLst>
          </p:cNvPr>
          <p:cNvSpPr/>
          <p:nvPr/>
        </p:nvSpPr>
        <p:spPr>
          <a:xfrm>
            <a:off x="3336925" y="3886200"/>
            <a:ext cx="2652713" cy="347663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2" name="Shape 53">
            <a:extLst>
              <a:ext uri="{FF2B5EF4-FFF2-40B4-BE49-F238E27FC236}">
                <a16:creationId xmlns:a16="http://schemas.microsoft.com/office/drawing/2014/main" id="{DD6D03F9-CBBE-25A2-BEFD-B0D28386DDA1}"/>
              </a:ext>
            </a:extLst>
          </p:cNvPr>
          <p:cNvSpPr/>
          <p:nvPr/>
        </p:nvSpPr>
        <p:spPr>
          <a:xfrm>
            <a:off x="6035675" y="3886200"/>
            <a:ext cx="2697163" cy="347663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3" name="Text 54">
            <a:extLst>
              <a:ext uri="{FF2B5EF4-FFF2-40B4-BE49-F238E27FC236}">
                <a16:creationId xmlns:a16="http://schemas.microsoft.com/office/drawing/2014/main" id="{D4D1ABDD-3197-5F44-1136-C8B457252C6C}"/>
              </a:ext>
            </a:extLst>
          </p:cNvPr>
          <p:cNvSpPr/>
          <p:nvPr/>
        </p:nvSpPr>
        <p:spPr>
          <a:xfrm>
            <a:off x="457200" y="3922713"/>
            <a:ext cx="2743200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1E3A8A"/>
                </a:solidFill>
                <a:latin typeface="Calibri"/>
              </a:rPr>
              <a:t>Learning Curve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4" name="Text 55">
            <a:extLst>
              <a:ext uri="{FF2B5EF4-FFF2-40B4-BE49-F238E27FC236}">
                <a16:creationId xmlns:a16="http://schemas.microsoft.com/office/drawing/2014/main" id="{DE850475-331F-8765-1527-24D50AF51D7D}"/>
              </a:ext>
            </a:extLst>
          </p:cNvPr>
          <p:cNvSpPr/>
          <p:nvPr/>
        </p:nvSpPr>
        <p:spPr>
          <a:xfrm>
            <a:off x="3402013" y="3922713"/>
            <a:ext cx="2522537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Medium: graph/state concepts</a:t>
            </a:r>
          </a:p>
        </p:txBody>
      </p:sp>
      <p:sp>
        <p:nvSpPr>
          <p:cNvPr id="685" name="Text 56">
            <a:extLst>
              <a:ext uri="{FF2B5EF4-FFF2-40B4-BE49-F238E27FC236}">
                <a16:creationId xmlns:a16="http://schemas.microsoft.com/office/drawing/2014/main" id="{F3547898-FF05-8B8B-6D86-823024C00ACF}"/>
              </a:ext>
            </a:extLst>
          </p:cNvPr>
          <p:cNvSpPr/>
          <p:nvPr/>
        </p:nvSpPr>
        <p:spPr>
          <a:xfrm>
            <a:off x="6099175" y="3922713"/>
            <a:ext cx="2568575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rgbClr val="0E7490"/>
                </a:solidFill>
                <a:latin typeface="Calibri"/>
              </a:rPr>
              <a:t>Low: just Python classes &amp; roles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6" name="Shape 57">
            <a:extLst>
              <a:ext uri="{FF2B5EF4-FFF2-40B4-BE49-F238E27FC236}">
                <a16:creationId xmlns:a16="http://schemas.microsoft.com/office/drawing/2014/main" id="{32B45B77-308A-6D8C-82D3-1BB0551897BF}"/>
              </a:ext>
            </a:extLst>
          </p:cNvPr>
          <p:cNvSpPr/>
          <p:nvPr/>
        </p:nvSpPr>
        <p:spPr>
          <a:xfrm>
            <a:off x="365125" y="4251325"/>
            <a:ext cx="2927350" cy="347663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7" name="Shape 58">
            <a:extLst>
              <a:ext uri="{FF2B5EF4-FFF2-40B4-BE49-F238E27FC236}">
                <a16:creationId xmlns:a16="http://schemas.microsoft.com/office/drawing/2014/main" id="{A1A24EF6-FD9E-4A81-32A2-DB532A171F78}"/>
              </a:ext>
            </a:extLst>
          </p:cNvPr>
          <p:cNvSpPr/>
          <p:nvPr/>
        </p:nvSpPr>
        <p:spPr>
          <a:xfrm>
            <a:off x="3336925" y="4251325"/>
            <a:ext cx="2652713" cy="347663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8" name="Shape 59">
            <a:extLst>
              <a:ext uri="{FF2B5EF4-FFF2-40B4-BE49-F238E27FC236}">
                <a16:creationId xmlns:a16="http://schemas.microsoft.com/office/drawing/2014/main" id="{2E797853-4C30-F537-9C84-6BA38CF9D327}"/>
              </a:ext>
            </a:extLst>
          </p:cNvPr>
          <p:cNvSpPr/>
          <p:nvPr/>
        </p:nvSpPr>
        <p:spPr>
          <a:xfrm>
            <a:off x="6035675" y="4251325"/>
            <a:ext cx="2697163" cy="347663"/>
          </a:xfrm>
          <a:prstGeom prst="rect">
            <a:avLst/>
          </a:prstGeom>
          <a:solidFill>
            <a:srgbClr val="FFFF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9" name="Text 60">
            <a:extLst>
              <a:ext uri="{FF2B5EF4-FFF2-40B4-BE49-F238E27FC236}">
                <a16:creationId xmlns:a16="http://schemas.microsoft.com/office/drawing/2014/main" id="{E5D7023C-466F-1839-FB07-003BC2C71842}"/>
              </a:ext>
            </a:extLst>
          </p:cNvPr>
          <p:cNvSpPr/>
          <p:nvPr/>
        </p:nvSpPr>
        <p:spPr>
          <a:xfrm>
            <a:off x="457200" y="4287838"/>
            <a:ext cx="2743200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1E3A8A"/>
                </a:solidFill>
                <a:latin typeface="Calibri"/>
              </a:rPr>
              <a:t>Cycles/Loops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0" name="Text 61">
            <a:extLst>
              <a:ext uri="{FF2B5EF4-FFF2-40B4-BE49-F238E27FC236}">
                <a16:creationId xmlns:a16="http://schemas.microsoft.com/office/drawing/2014/main" id="{8DE58874-B6C1-5964-FACE-C36F3F924AEB}"/>
              </a:ext>
            </a:extLst>
          </p:cNvPr>
          <p:cNvSpPr/>
          <p:nvPr/>
        </p:nvSpPr>
        <p:spPr>
          <a:xfrm>
            <a:off x="3402013" y="4287838"/>
            <a:ext cx="2522537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chemeClr val="accent2">
                    <a:lumMod val="75000"/>
                  </a:schemeClr>
                </a:solidFill>
                <a:latin typeface="Calibri"/>
              </a:rPr>
              <a:t>Native: conditional edges loop</a:t>
            </a:r>
          </a:p>
        </p:txBody>
      </p:sp>
      <p:sp>
        <p:nvSpPr>
          <p:cNvPr id="691" name="Text 62">
            <a:extLst>
              <a:ext uri="{FF2B5EF4-FFF2-40B4-BE49-F238E27FC236}">
                <a16:creationId xmlns:a16="http://schemas.microsoft.com/office/drawing/2014/main" id="{86F4E1DC-9915-34D1-8C47-E9466BEFF7EB}"/>
              </a:ext>
            </a:extLst>
          </p:cNvPr>
          <p:cNvSpPr/>
          <p:nvPr/>
        </p:nvSpPr>
        <p:spPr>
          <a:xfrm>
            <a:off x="6099175" y="4287838"/>
            <a:ext cx="2568575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 dirty="0">
                <a:solidFill>
                  <a:srgbClr val="0E7490"/>
                </a:solidFill>
                <a:latin typeface="Calibri"/>
              </a:rPr>
              <a:t>Via </a:t>
            </a:r>
            <a:r>
              <a:rPr lang="en-US" sz="1200" spc="-1" dirty="0" err="1">
                <a:solidFill>
                  <a:srgbClr val="0E7490"/>
                </a:solidFill>
                <a:latin typeface="Calibri"/>
              </a:rPr>
              <a:t>max_round</a:t>
            </a:r>
            <a:r>
              <a:rPr lang="en-US" sz="1200" spc="-1" dirty="0">
                <a:solidFill>
                  <a:srgbClr val="0E7490"/>
                </a:solidFill>
                <a:latin typeface="Calibri"/>
              </a:rPr>
              <a:t> &amp; conversation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2" name="Shape 63">
            <a:extLst>
              <a:ext uri="{FF2B5EF4-FFF2-40B4-BE49-F238E27FC236}">
                <a16:creationId xmlns:a16="http://schemas.microsoft.com/office/drawing/2014/main" id="{143CAC1E-B53B-FCE2-285E-CF2486539CA2}"/>
              </a:ext>
            </a:extLst>
          </p:cNvPr>
          <p:cNvSpPr/>
          <p:nvPr/>
        </p:nvSpPr>
        <p:spPr>
          <a:xfrm>
            <a:off x="365125" y="4618038"/>
            <a:ext cx="2927350" cy="347662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3" name="Shape 64">
            <a:extLst>
              <a:ext uri="{FF2B5EF4-FFF2-40B4-BE49-F238E27FC236}">
                <a16:creationId xmlns:a16="http://schemas.microsoft.com/office/drawing/2014/main" id="{4507DCFC-D9B9-81AB-40EE-BE15E8F9FF74}"/>
              </a:ext>
            </a:extLst>
          </p:cNvPr>
          <p:cNvSpPr/>
          <p:nvPr/>
        </p:nvSpPr>
        <p:spPr>
          <a:xfrm>
            <a:off x="3336925" y="4618038"/>
            <a:ext cx="2652713" cy="347662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4" name="Shape 65">
            <a:extLst>
              <a:ext uri="{FF2B5EF4-FFF2-40B4-BE49-F238E27FC236}">
                <a16:creationId xmlns:a16="http://schemas.microsoft.com/office/drawing/2014/main" id="{E68E3D6C-9967-E050-1085-08A18404CFEB}"/>
              </a:ext>
            </a:extLst>
          </p:cNvPr>
          <p:cNvSpPr/>
          <p:nvPr/>
        </p:nvSpPr>
        <p:spPr>
          <a:xfrm>
            <a:off x="6035675" y="4618038"/>
            <a:ext cx="2697163" cy="347662"/>
          </a:xfrm>
          <a:prstGeom prst="rect">
            <a:avLst/>
          </a:prstGeom>
          <a:solidFill>
            <a:srgbClr val="F0F9FF"/>
          </a:solidFill>
          <a:ln w="6480">
            <a:solidFill>
              <a:srgbClr val="F0F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5" name="Text 66">
            <a:extLst>
              <a:ext uri="{FF2B5EF4-FFF2-40B4-BE49-F238E27FC236}">
                <a16:creationId xmlns:a16="http://schemas.microsoft.com/office/drawing/2014/main" id="{EB831AD8-79F1-5F28-C4AD-9C22308D735A}"/>
              </a:ext>
            </a:extLst>
          </p:cNvPr>
          <p:cNvSpPr/>
          <p:nvPr/>
        </p:nvSpPr>
        <p:spPr>
          <a:xfrm>
            <a:off x="457200" y="4654550"/>
            <a:ext cx="2743200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1E3A8A"/>
                </a:solidFill>
                <a:latin typeface="Calibri"/>
              </a:rPr>
              <a:t>Team Size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6" name="Text 67">
            <a:extLst>
              <a:ext uri="{FF2B5EF4-FFF2-40B4-BE49-F238E27FC236}">
                <a16:creationId xmlns:a16="http://schemas.microsoft.com/office/drawing/2014/main" id="{46976798-4D6E-86E0-92FB-D02E193B23A6}"/>
              </a:ext>
            </a:extLst>
          </p:cNvPr>
          <p:cNvSpPr/>
          <p:nvPr/>
        </p:nvSpPr>
        <p:spPr>
          <a:xfrm>
            <a:off x="3402013" y="4654550"/>
            <a:ext cx="2522537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Fixed nodes at compile time</a:t>
            </a:r>
          </a:p>
        </p:txBody>
      </p:sp>
      <p:sp>
        <p:nvSpPr>
          <p:cNvPr id="697" name="Text 68">
            <a:extLst>
              <a:ext uri="{FF2B5EF4-FFF2-40B4-BE49-F238E27FC236}">
                <a16:creationId xmlns:a16="http://schemas.microsoft.com/office/drawing/2014/main" id="{82A4D491-BCA2-F42F-E924-98682C8E1004}"/>
              </a:ext>
            </a:extLst>
          </p:cNvPr>
          <p:cNvSpPr/>
          <p:nvPr/>
        </p:nvSpPr>
        <p:spPr>
          <a:xfrm>
            <a:off x="6099175" y="4654550"/>
            <a:ext cx="2568575" cy="274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rgbClr val="0E7490"/>
                </a:solidFill>
                <a:latin typeface="Calibri"/>
              </a:rPr>
              <a:t>Dynamic: add agents at runtime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7175" name="Picture 1">
            <a:extLst>
              <a:ext uri="{FF2B5EF4-FFF2-40B4-BE49-F238E27FC236}">
                <a16:creationId xmlns:a16="http://schemas.microsoft.com/office/drawing/2014/main" id="{D1AF81B4-3314-E163-5B06-E34D6C523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14300"/>
            <a:ext cx="2117725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1" grpId="0"/>
      <p:bldP spid="642" grpId="0"/>
      <p:bldP spid="643" grpId="0"/>
      <p:bldP spid="647" grpId="0"/>
      <p:bldP spid="648" grpId="0"/>
      <p:bldP spid="649" grpId="0"/>
      <p:bldP spid="653" grpId="0"/>
      <p:bldP spid="654" grpId="0"/>
      <p:bldP spid="655" grpId="0"/>
      <p:bldP spid="659" grpId="0"/>
      <p:bldP spid="660" grpId="0"/>
      <p:bldP spid="661" grpId="0"/>
      <p:bldP spid="665" grpId="0"/>
      <p:bldP spid="666" grpId="0"/>
      <p:bldP spid="667" grpId="0"/>
      <p:bldP spid="671" grpId="0"/>
      <p:bldP spid="672" grpId="0"/>
      <p:bldP spid="673" grpId="0"/>
      <p:bldP spid="677" grpId="0"/>
      <p:bldP spid="678" grpId="0"/>
      <p:bldP spid="679" grpId="0"/>
      <p:bldP spid="683" grpId="0"/>
      <p:bldP spid="684" grpId="0"/>
      <p:bldP spid="685" grpId="0"/>
      <p:bldP spid="689" grpId="0"/>
      <p:bldP spid="690" grpId="0"/>
      <p:bldP spid="691" grpId="0"/>
      <p:bldP spid="695" grpId="0"/>
      <p:bldP spid="696" grpId="0"/>
      <p:bldP spid="69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Shape 0">
            <a:extLst>
              <a:ext uri="{FF2B5EF4-FFF2-40B4-BE49-F238E27FC236}">
                <a16:creationId xmlns:a16="http://schemas.microsoft.com/office/drawing/2014/main" id="{0078D8C1-98FC-54EC-2B73-B2172A9D024B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0" name="Text 1">
            <a:extLst>
              <a:ext uri="{FF2B5EF4-FFF2-40B4-BE49-F238E27FC236}">
                <a16:creationId xmlns:a16="http://schemas.microsoft.com/office/drawing/2014/main" id="{91951CA4-3E5E-0ACD-22A3-C289C7A956BE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>
                <a:solidFill>
                  <a:srgbClr val="1E3A8A"/>
                </a:solidFill>
                <a:latin typeface="Calibri"/>
              </a:rPr>
              <a:t>SECTION 4</a:t>
            </a:r>
            <a:endParaRPr lang="en-US" sz="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1" name="Text 2">
            <a:extLst>
              <a:ext uri="{FF2B5EF4-FFF2-40B4-BE49-F238E27FC236}">
                <a16:creationId xmlns:a16="http://schemas.microsoft.com/office/drawing/2014/main" id="{BAC32695-E943-9B16-F36F-E929F48BAD32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200" b="1" spc="-1">
                <a:solidFill>
                  <a:srgbClr val="1E3A8A"/>
                </a:solidFill>
                <a:latin typeface="Calibri"/>
              </a:rPr>
              <a:t>When to Use Which - Decision Guide</a:t>
            </a:r>
            <a:endParaRPr lang="en-US" sz="2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2" name="Shape 3">
            <a:extLst>
              <a:ext uri="{FF2B5EF4-FFF2-40B4-BE49-F238E27FC236}">
                <a16:creationId xmlns:a16="http://schemas.microsoft.com/office/drawing/2014/main" id="{98E6599C-356F-FA08-4A53-0A4455303ADF}"/>
              </a:ext>
            </a:extLst>
          </p:cNvPr>
          <p:cNvSpPr/>
          <p:nvPr/>
        </p:nvSpPr>
        <p:spPr>
          <a:xfrm>
            <a:off x="365125" y="1050925"/>
            <a:ext cx="4024313" cy="384175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3" name="Text 4">
            <a:extLst>
              <a:ext uri="{FF2B5EF4-FFF2-40B4-BE49-F238E27FC236}">
                <a16:creationId xmlns:a16="http://schemas.microsoft.com/office/drawing/2014/main" id="{7B512371-AA5B-3354-DA8C-76AB8B0C7D61}"/>
              </a:ext>
            </a:extLst>
          </p:cNvPr>
          <p:cNvSpPr/>
          <p:nvPr/>
        </p:nvSpPr>
        <p:spPr>
          <a:xfrm>
            <a:off x="365125" y="1050925"/>
            <a:ext cx="4024313" cy="3841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 dirty="0">
                <a:solidFill>
                  <a:srgbClr val="1E3A8A"/>
                </a:solidFill>
                <a:latin typeface="Calibri"/>
              </a:rPr>
              <a:t>Choose </a:t>
            </a:r>
            <a:r>
              <a:rPr lang="en-US" sz="1400" b="1" spc="-1" dirty="0" err="1">
                <a:solidFill>
                  <a:srgbClr val="1E3A8A"/>
                </a:solidFill>
                <a:latin typeface="Calibri"/>
              </a:rPr>
              <a:t>LangGraph</a:t>
            </a:r>
            <a:r>
              <a:rPr lang="en-US" sz="1400" b="1" spc="-1" dirty="0">
                <a:solidFill>
                  <a:srgbClr val="1E3A8A"/>
                </a:solidFill>
                <a:latin typeface="Calibri"/>
              </a:rPr>
              <a:t> when…</a:t>
            </a:r>
            <a:endParaRPr lang="en-US" sz="14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4" name="Shape 5">
            <a:extLst>
              <a:ext uri="{FF2B5EF4-FFF2-40B4-BE49-F238E27FC236}">
                <a16:creationId xmlns:a16="http://schemas.microsoft.com/office/drawing/2014/main" id="{E33CEE1F-BD04-712D-6770-A199B8D12694}"/>
              </a:ext>
            </a:extLst>
          </p:cNvPr>
          <p:cNvSpPr/>
          <p:nvPr/>
        </p:nvSpPr>
        <p:spPr>
          <a:xfrm>
            <a:off x="365125" y="1463675"/>
            <a:ext cx="4024313" cy="428625"/>
          </a:xfrm>
          <a:prstGeom prst="rect">
            <a:avLst/>
          </a:prstGeom>
          <a:solidFill>
            <a:srgbClr val="F0F9FF"/>
          </a:solidFill>
          <a:ln w="6480">
            <a:solidFill>
              <a:srgbClr val="BAE6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5" name="Text 6">
            <a:extLst>
              <a:ext uri="{FF2B5EF4-FFF2-40B4-BE49-F238E27FC236}">
                <a16:creationId xmlns:a16="http://schemas.microsoft.com/office/drawing/2014/main" id="{C88D1612-AA59-B223-ED17-7AF09FE30B84}"/>
              </a:ext>
            </a:extLst>
          </p:cNvPr>
          <p:cNvSpPr/>
          <p:nvPr/>
        </p:nvSpPr>
        <p:spPr>
          <a:xfrm>
            <a:off x="503238" y="1500188"/>
            <a:ext cx="3748087" cy="3476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38BDF8"/>
                </a:solidFill>
                <a:latin typeface="Calibri"/>
              </a:rPr>
              <a:t>✓  </a:t>
            </a:r>
            <a:r>
              <a:rPr lang="en-US" sz="1200" spc="-1" dirty="0">
                <a:solidFill>
                  <a:srgbClr val="1E3A8A"/>
                </a:solidFill>
                <a:latin typeface="Calibri"/>
              </a:rPr>
              <a:t>Workflow has fixed, well-defined steps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6" name="Shape 7">
            <a:extLst>
              <a:ext uri="{FF2B5EF4-FFF2-40B4-BE49-F238E27FC236}">
                <a16:creationId xmlns:a16="http://schemas.microsoft.com/office/drawing/2014/main" id="{9EB158F4-17DF-153F-D593-17C00D292E4B}"/>
              </a:ext>
            </a:extLst>
          </p:cNvPr>
          <p:cNvSpPr/>
          <p:nvPr/>
        </p:nvSpPr>
        <p:spPr>
          <a:xfrm>
            <a:off x="365125" y="1928813"/>
            <a:ext cx="4024313" cy="430212"/>
          </a:xfrm>
          <a:prstGeom prst="rect">
            <a:avLst/>
          </a:prstGeom>
          <a:solidFill>
            <a:srgbClr val="FFFFFF"/>
          </a:solidFill>
          <a:ln w="6480">
            <a:solidFill>
              <a:srgbClr val="BAE6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7" name="Text 8">
            <a:extLst>
              <a:ext uri="{FF2B5EF4-FFF2-40B4-BE49-F238E27FC236}">
                <a16:creationId xmlns:a16="http://schemas.microsoft.com/office/drawing/2014/main" id="{D3D5F3B2-198B-42FE-68EA-082425FBF4CE}"/>
              </a:ext>
            </a:extLst>
          </p:cNvPr>
          <p:cNvSpPr/>
          <p:nvPr/>
        </p:nvSpPr>
        <p:spPr>
          <a:xfrm>
            <a:off x="503238" y="1965325"/>
            <a:ext cx="3748087" cy="3476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38BDF8"/>
                </a:solidFill>
                <a:latin typeface="Calibri"/>
              </a:rPr>
              <a:t>✓  </a:t>
            </a:r>
            <a:r>
              <a:rPr lang="en-US" sz="1200" spc="-1">
                <a:solidFill>
                  <a:srgbClr val="1E3A8A"/>
                </a:solidFill>
                <a:latin typeface="Calibri"/>
              </a:rPr>
              <a:t>You need auditability of every decision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8" name="Shape 9">
            <a:extLst>
              <a:ext uri="{FF2B5EF4-FFF2-40B4-BE49-F238E27FC236}">
                <a16:creationId xmlns:a16="http://schemas.microsoft.com/office/drawing/2014/main" id="{569C88FA-9D8A-7F1A-B1EC-B2114AD62F91}"/>
              </a:ext>
            </a:extLst>
          </p:cNvPr>
          <p:cNvSpPr/>
          <p:nvPr/>
        </p:nvSpPr>
        <p:spPr>
          <a:xfrm>
            <a:off x="365125" y="2395538"/>
            <a:ext cx="4024313" cy="430212"/>
          </a:xfrm>
          <a:prstGeom prst="rect">
            <a:avLst/>
          </a:prstGeom>
          <a:solidFill>
            <a:srgbClr val="F0F9FF"/>
          </a:solidFill>
          <a:ln w="6480">
            <a:solidFill>
              <a:srgbClr val="BAE6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9" name="Text 10">
            <a:extLst>
              <a:ext uri="{FF2B5EF4-FFF2-40B4-BE49-F238E27FC236}">
                <a16:creationId xmlns:a16="http://schemas.microsoft.com/office/drawing/2014/main" id="{D1D2544B-355D-368C-4C12-FCAC60EFD91A}"/>
              </a:ext>
            </a:extLst>
          </p:cNvPr>
          <p:cNvSpPr/>
          <p:nvPr/>
        </p:nvSpPr>
        <p:spPr>
          <a:xfrm>
            <a:off x="503238" y="2432050"/>
            <a:ext cx="3748087" cy="3476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38BDF8"/>
                </a:solidFill>
                <a:latin typeface="Calibri"/>
              </a:rPr>
              <a:t>✓  </a:t>
            </a:r>
            <a:r>
              <a:rPr lang="en-US" sz="1200" spc="-1">
                <a:solidFill>
                  <a:srgbClr val="1E3A8A"/>
                </a:solidFill>
                <a:latin typeface="Calibri"/>
              </a:rPr>
              <a:t>Compliance requires deterministic paths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0" name="Shape 11">
            <a:extLst>
              <a:ext uri="{FF2B5EF4-FFF2-40B4-BE49-F238E27FC236}">
                <a16:creationId xmlns:a16="http://schemas.microsoft.com/office/drawing/2014/main" id="{873F27C8-72AC-1B55-3276-744245A6294A}"/>
              </a:ext>
            </a:extLst>
          </p:cNvPr>
          <p:cNvSpPr/>
          <p:nvPr/>
        </p:nvSpPr>
        <p:spPr>
          <a:xfrm>
            <a:off x="365125" y="2862263"/>
            <a:ext cx="4024313" cy="430212"/>
          </a:xfrm>
          <a:prstGeom prst="rect">
            <a:avLst/>
          </a:prstGeom>
          <a:solidFill>
            <a:srgbClr val="FFFFFF"/>
          </a:solidFill>
          <a:ln w="6480">
            <a:solidFill>
              <a:srgbClr val="BAE6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1" name="Text 12">
            <a:extLst>
              <a:ext uri="{FF2B5EF4-FFF2-40B4-BE49-F238E27FC236}">
                <a16:creationId xmlns:a16="http://schemas.microsoft.com/office/drawing/2014/main" id="{D60EB0E8-BA31-A89E-94FC-28E0EC62DC43}"/>
              </a:ext>
            </a:extLst>
          </p:cNvPr>
          <p:cNvSpPr/>
          <p:nvPr/>
        </p:nvSpPr>
        <p:spPr>
          <a:xfrm>
            <a:off x="503238" y="2898775"/>
            <a:ext cx="3748087" cy="3476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38BDF8"/>
                </a:solidFill>
                <a:latin typeface="Calibri"/>
              </a:rPr>
              <a:t>✓  </a:t>
            </a:r>
            <a:r>
              <a:rPr lang="en-US" sz="1200" spc="-1">
                <a:solidFill>
                  <a:srgbClr val="1E3A8A"/>
                </a:solidFill>
                <a:latin typeface="Calibri"/>
              </a:rPr>
              <a:t>Human approval gates are required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2" name="Shape 13">
            <a:extLst>
              <a:ext uri="{FF2B5EF4-FFF2-40B4-BE49-F238E27FC236}">
                <a16:creationId xmlns:a16="http://schemas.microsoft.com/office/drawing/2014/main" id="{2D813C88-6B85-ACD4-85A3-FD2ED40C2DD6}"/>
              </a:ext>
            </a:extLst>
          </p:cNvPr>
          <p:cNvSpPr/>
          <p:nvPr/>
        </p:nvSpPr>
        <p:spPr>
          <a:xfrm>
            <a:off x="365125" y="3328988"/>
            <a:ext cx="4024313" cy="428625"/>
          </a:xfrm>
          <a:prstGeom prst="rect">
            <a:avLst/>
          </a:prstGeom>
          <a:solidFill>
            <a:srgbClr val="F0F9FF"/>
          </a:solidFill>
          <a:ln w="6480">
            <a:solidFill>
              <a:srgbClr val="BAE6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3" name="Text 14">
            <a:extLst>
              <a:ext uri="{FF2B5EF4-FFF2-40B4-BE49-F238E27FC236}">
                <a16:creationId xmlns:a16="http://schemas.microsoft.com/office/drawing/2014/main" id="{749D24F6-2742-93F4-DE18-0878E7BE61C1}"/>
              </a:ext>
            </a:extLst>
          </p:cNvPr>
          <p:cNvSpPr/>
          <p:nvPr/>
        </p:nvSpPr>
        <p:spPr>
          <a:xfrm>
            <a:off x="503238" y="3365500"/>
            <a:ext cx="3748087" cy="3476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38BDF8"/>
                </a:solidFill>
                <a:latin typeface="Calibri"/>
              </a:rPr>
              <a:t>✓  </a:t>
            </a:r>
            <a:r>
              <a:rPr lang="en-US" sz="1200" spc="-1">
                <a:solidFill>
                  <a:srgbClr val="1E3A8A"/>
                </a:solidFill>
                <a:latin typeface="Calibri"/>
              </a:rPr>
              <a:t>Agents need retry &amp; reflection loops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4" name="Shape 15">
            <a:extLst>
              <a:ext uri="{FF2B5EF4-FFF2-40B4-BE49-F238E27FC236}">
                <a16:creationId xmlns:a16="http://schemas.microsoft.com/office/drawing/2014/main" id="{D309385A-9C1F-FA21-12A9-D61C9CBC1D25}"/>
              </a:ext>
            </a:extLst>
          </p:cNvPr>
          <p:cNvSpPr/>
          <p:nvPr/>
        </p:nvSpPr>
        <p:spPr>
          <a:xfrm>
            <a:off x="365125" y="3794125"/>
            <a:ext cx="4024313" cy="430213"/>
          </a:xfrm>
          <a:prstGeom prst="rect">
            <a:avLst/>
          </a:prstGeom>
          <a:solidFill>
            <a:srgbClr val="FFFFFF"/>
          </a:solidFill>
          <a:ln w="6480">
            <a:solidFill>
              <a:srgbClr val="BAE6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5" name="Text 16">
            <a:extLst>
              <a:ext uri="{FF2B5EF4-FFF2-40B4-BE49-F238E27FC236}">
                <a16:creationId xmlns:a16="http://schemas.microsoft.com/office/drawing/2014/main" id="{DEE42D99-BC7B-892D-11D1-DCFE9DB39D6A}"/>
              </a:ext>
            </a:extLst>
          </p:cNvPr>
          <p:cNvSpPr/>
          <p:nvPr/>
        </p:nvSpPr>
        <p:spPr>
          <a:xfrm>
            <a:off x="503238" y="3830638"/>
            <a:ext cx="3748087" cy="3476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38BDF8"/>
                </a:solidFill>
                <a:latin typeface="Calibri"/>
              </a:rPr>
              <a:t>✓  </a:t>
            </a:r>
            <a:r>
              <a:rPr lang="en-US" sz="1200" spc="-1">
                <a:solidFill>
                  <a:srgbClr val="1E3A8A"/>
                </a:solidFill>
                <a:latin typeface="Calibri"/>
              </a:rPr>
              <a:t>You want to version-control the flow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6" name="Shape 17">
            <a:extLst>
              <a:ext uri="{FF2B5EF4-FFF2-40B4-BE49-F238E27FC236}">
                <a16:creationId xmlns:a16="http://schemas.microsoft.com/office/drawing/2014/main" id="{6C8F4575-49E7-6148-23DA-2C8B73588C8A}"/>
              </a:ext>
            </a:extLst>
          </p:cNvPr>
          <p:cNvSpPr/>
          <p:nvPr/>
        </p:nvSpPr>
        <p:spPr>
          <a:xfrm>
            <a:off x="365125" y="4260850"/>
            <a:ext cx="4024313" cy="430213"/>
          </a:xfrm>
          <a:prstGeom prst="rect">
            <a:avLst/>
          </a:prstGeom>
          <a:solidFill>
            <a:srgbClr val="F0F9FF"/>
          </a:solidFill>
          <a:ln w="6480">
            <a:solidFill>
              <a:srgbClr val="BAE6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7" name="Text 18">
            <a:extLst>
              <a:ext uri="{FF2B5EF4-FFF2-40B4-BE49-F238E27FC236}">
                <a16:creationId xmlns:a16="http://schemas.microsoft.com/office/drawing/2014/main" id="{4F1430F2-11AA-2146-4DA5-D243C3805BD3}"/>
              </a:ext>
            </a:extLst>
          </p:cNvPr>
          <p:cNvSpPr/>
          <p:nvPr/>
        </p:nvSpPr>
        <p:spPr>
          <a:xfrm>
            <a:off x="503238" y="4297363"/>
            <a:ext cx="3748087" cy="3476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38BDF8"/>
                </a:solidFill>
                <a:latin typeface="Calibri"/>
              </a:rPr>
              <a:t>✓  </a:t>
            </a:r>
            <a:r>
              <a:rPr lang="en-US" sz="1200" spc="-1">
                <a:solidFill>
                  <a:srgbClr val="1E3A8A"/>
                </a:solidFill>
                <a:latin typeface="Calibri"/>
              </a:rPr>
              <a:t>Pipeline must be testable and debuggable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8" name="Shape 19">
            <a:extLst>
              <a:ext uri="{FF2B5EF4-FFF2-40B4-BE49-F238E27FC236}">
                <a16:creationId xmlns:a16="http://schemas.microsoft.com/office/drawing/2014/main" id="{58E85BD6-5959-A79E-CB19-556F3A4CEAC1}"/>
              </a:ext>
            </a:extLst>
          </p:cNvPr>
          <p:cNvSpPr/>
          <p:nvPr/>
        </p:nvSpPr>
        <p:spPr>
          <a:xfrm>
            <a:off x="4754563" y="1050925"/>
            <a:ext cx="4024312" cy="3841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9" name="Text 20">
            <a:extLst>
              <a:ext uri="{FF2B5EF4-FFF2-40B4-BE49-F238E27FC236}">
                <a16:creationId xmlns:a16="http://schemas.microsoft.com/office/drawing/2014/main" id="{A0996F82-A1E7-AC84-67F6-17F4E4E414AD}"/>
              </a:ext>
            </a:extLst>
          </p:cNvPr>
          <p:cNvSpPr/>
          <p:nvPr/>
        </p:nvSpPr>
        <p:spPr>
          <a:xfrm>
            <a:off x="4754563" y="1050925"/>
            <a:ext cx="4024312" cy="3841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 dirty="0">
                <a:solidFill>
                  <a:srgbClr val="1E3A8A"/>
                </a:solidFill>
                <a:latin typeface="Calibri"/>
              </a:rPr>
              <a:t>Choose </a:t>
            </a:r>
            <a:r>
              <a:rPr lang="en-US" sz="1400" b="1" spc="-1" dirty="0" err="1">
                <a:solidFill>
                  <a:srgbClr val="1E3A8A"/>
                </a:solidFill>
                <a:latin typeface="Calibri"/>
              </a:rPr>
              <a:t>AutoGen</a:t>
            </a:r>
            <a:r>
              <a:rPr lang="en-US" sz="1400" b="1" spc="-1" dirty="0">
                <a:solidFill>
                  <a:srgbClr val="1E3A8A"/>
                </a:solidFill>
                <a:latin typeface="Calibri"/>
              </a:rPr>
              <a:t> when…</a:t>
            </a:r>
            <a:endParaRPr lang="en-US" sz="14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0" name="Shape 21">
            <a:extLst>
              <a:ext uri="{FF2B5EF4-FFF2-40B4-BE49-F238E27FC236}">
                <a16:creationId xmlns:a16="http://schemas.microsoft.com/office/drawing/2014/main" id="{79FDCA1F-EF38-CE67-8F5A-6B2415BA1BC4}"/>
              </a:ext>
            </a:extLst>
          </p:cNvPr>
          <p:cNvSpPr/>
          <p:nvPr/>
        </p:nvSpPr>
        <p:spPr>
          <a:xfrm>
            <a:off x="4754563" y="1463675"/>
            <a:ext cx="4024312" cy="428625"/>
          </a:xfrm>
          <a:prstGeom prst="rect">
            <a:avLst/>
          </a:prstGeom>
          <a:solidFill>
            <a:srgbClr val="F3E5F5"/>
          </a:solidFill>
          <a:ln w="6480">
            <a:solidFill>
              <a:srgbClr val="CE93D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1" name="Text 22">
            <a:extLst>
              <a:ext uri="{FF2B5EF4-FFF2-40B4-BE49-F238E27FC236}">
                <a16:creationId xmlns:a16="http://schemas.microsoft.com/office/drawing/2014/main" id="{75153896-4B5C-ADA8-E410-156D64539B41}"/>
              </a:ext>
            </a:extLst>
          </p:cNvPr>
          <p:cNvSpPr/>
          <p:nvPr/>
        </p:nvSpPr>
        <p:spPr>
          <a:xfrm>
            <a:off x="4892675" y="1500188"/>
            <a:ext cx="3748088" cy="3476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0E7490"/>
                </a:solidFill>
                <a:latin typeface="Calibri"/>
              </a:rPr>
              <a:t>✓  </a:t>
            </a:r>
            <a:r>
              <a:rPr lang="en-US" sz="1200" spc="-1">
                <a:solidFill>
                  <a:srgbClr val="1E3A8A"/>
                </a:solidFill>
                <a:latin typeface="Calibri"/>
              </a:rPr>
              <a:t>Problem is open-ended or exploratory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2" name="Shape 23">
            <a:extLst>
              <a:ext uri="{FF2B5EF4-FFF2-40B4-BE49-F238E27FC236}">
                <a16:creationId xmlns:a16="http://schemas.microsoft.com/office/drawing/2014/main" id="{D9E97873-7EA9-765C-BB89-C6B20E6816B6}"/>
              </a:ext>
            </a:extLst>
          </p:cNvPr>
          <p:cNvSpPr/>
          <p:nvPr/>
        </p:nvSpPr>
        <p:spPr>
          <a:xfrm>
            <a:off x="4754563" y="1928813"/>
            <a:ext cx="4024312" cy="430212"/>
          </a:xfrm>
          <a:prstGeom prst="rect">
            <a:avLst/>
          </a:prstGeom>
          <a:solidFill>
            <a:srgbClr val="FFFFFF"/>
          </a:solidFill>
          <a:ln w="6480">
            <a:solidFill>
              <a:srgbClr val="CE93D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3" name="Text 24">
            <a:extLst>
              <a:ext uri="{FF2B5EF4-FFF2-40B4-BE49-F238E27FC236}">
                <a16:creationId xmlns:a16="http://schemas.microsoft.com/office/drawing/2014/main" id="{EC54A7AC-4719-863F-4288-8380DBF51DFE}"/>
              </a:ext>
            </a:extLst>
          </p:cNvPr>
          <p:cNvSpPr/>
          <p:nvPr/>
        </p:nvSpPr>
        <p:spPr>
          <a:xfrm>
            <a:off x="4892675" y="1965325"/>
            <a:ext cx="3748088" cy="3476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0E7490"/>
                </a:solidFill>
                <a:latin typeface="Calibri"/>
              </a:rPr>
              <a:t>✓  </a:t>
            </a:r>
            <a:r>
              <a:rPr lang="en-US" sz="1200" spc="-1">
                <a:solidFill>
                  <a:srgbClr val="1E3A8A"/>
                </a:solidFill>
                <a:latin typeface="Calibri"/>
              </a:rPr>
              <a:t>Agents need to debate &amp; reach consensus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4" name="Shape 25">
            <a:extLst>
              <a:ext uri="{FF2B5EF4-FFF2-40B4-BE49-F238E27FC236}">
                <a16:creationId xmlns:a16="http://schemas.microsoft.com/office/drawing/2014/main" id="{34FA3F1A-1D74-E5F2-22F3-150907887E2B}"/>
              </a:ext>
            </a:extLst>
          </p:cNvPr>
          <p:cNvSpPr/>
          <p:nvPr/>
        </p:nvSpPr>
        <p:spPr>
          <a:xfrm>
            <a:off x="4754563" y="2395538"/>
            <a:ext cx="4024312" cy="430212"/>
          </a:xfrm>
          <a:prstGeom prst="rect">
            <a:avLst/>
          </a:prstGeom>
          <a:solidFill>
            <a:srgbClr val="F3E5F5"/>
          </a:solidFill>
          <a:ln w="6480">
            <a:solidFill>
              <a:srgbClr val="CE93D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5" name="Text 26">
            <a:extLst>
              <a:ext uri="{FF2B5EF4-FFF2-40B4-BE49-F238E27FC236}">
                <a16:creationId xmlns:a16="http://schemas.microsoft.com/office/drawing/2014/main" id="{410C5FA0-B3AB-0FA5-2A76-C5DA920BE2EC}"/>
              </a:ext>
            </a:extLst>
          </p:cNvPr>
          <p:cNvSpPr/>
          <p:nvPr/>
        </p:nvSpPr>
        <p:spPr>
          <a:xfrm>
            <a:off x="4892675" y="2432050"/>
            <a:ext cx="3748088" cy="3476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0E7490"/>
                </a:solidFill>
                <a:latin typeface="Calibri"/>
              </a:rPr>
              <a:t>✓  </a:t>
            </a:r>
            <a:r>
              <a:rPr lang="en-US" sz="1200" spc="-1">
                <a:solidFill>
                  <a:srgbClr val="1E3A8A"/>
                </a:solidFill>
                <a:latin typeface="Calibri"/>
              </a:rPr>
              <a:t>Code generation + execution is the core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6" name="Shape 27">
            <a:extLst>
              <a:ext uri="{FF2B5EF4-FFF2-40B4-BE49-F238E27FC236}">
                <a16:creationId xmlns:a16="http://schemas.microsoft.com/office/drawing/2014/main" id="{CEC38BDC-F749-ED1A-EFC6-F1613898456F}"/>
              </a:ext>
            </a:extLst>
          </p:cNvPr>
          <p:cNvSpPr/>
          <p:nvPr/>
        </p:nvSpPr>
        <p:spPr>
          <a:xfrm>
            <a:off x="4754563" y="2862263"/>
            <a:ext cx="4024312" cy="430212"/>
          </a:xfrm>
          <a:prstGeom prst="rect">
            <a:avLst/>
          </a:prstGeom>
          <a:solidFill>
            <a:srgbClr val="FFFFFF"/>
          </a:solidFill>
          <a:ln w="6480">
            <a:solidFill>
              <a:srgbClr val="CE93D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7" name="Text 28">
            <a:extLst>
              <a:ext uri="{FF2B5EF4-FFF2-40B4-BE49-F238E27FC236}">
                <a16:creationId xmlns:a16="http://schemas.microsoft.com/office/drawing/2014/main" id="{833F471A-577E-5686-2F03-C08947A60B4A}"/>
              </a:ext>
            </a:extLst>
          </p:cNvPr>
          <p:cNvSpPr/>
          <p:nvPr/>
        </p:nvSpPr>
        <p:spPr>
          <a:xfrm>
            <a:off x="4892675" y="2898775"/>
            <a:ext cx="3748088" cy="3476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0E7490"/>
                </a:solidFill>
                <a:latin typeface="Calibri"/>
              </a:rPr>
              <a:t>✓  </a:t>
            </a:r>
            <a:r>
              <a:rPr lang="en-US" sz="1200" spc="-1">
                <a:solidFill>
                  <a:srgbClr val="1E3A8A"/>
                </a:solidFill>
                <a:latin typeface="Calibri"/>
              </a:rPr>
              <a:t>You want rapid team prototyping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8" name="Shape 29">
            <a:extLst>
              <a:ext uri="{FF2B5EF4-FFF2-40B4-BE49-F238E27FC236}">
                <a16:creationId xmlns:a16="http://schemas.microsoft.com/office/drawing/2014/main" id="{51A08730-324B-0205-D48D-A7DB97181CDA}"/>
              </a:ext>
            </a:extLst>
          </p:cNvPr>
          <p:cNvSpPr/>
          <p:nvPr/>
        </p:nvSpPr>
        <p:spPr>
          <a:xfrm>
            <a:off x="4754563" y="3328988"/>
            <a:ext cx="4024312" cy="428625"/>
          </a:xfrm>
          <a:prstGeom prst="rect">
            <a:avLst/>
          </a:prstGeom>
          <a:solidFill>
            <a:srgbClr val="F3E5F5"/>
          </a:solidFill>
          <a:ln w="6480">
            <a:solidFill>
              <a:srgbClr val="CE93D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9" name="Text 30">
            <a:extLst>
              <a:ext uri="{FF2B5EF4-FFF2-40B4-BE49-F238E27FC236}">
                <a16:creationId xmlns:a16="http://schemas.microsoft.com/office/drawing/2014/main" id="{B9245FD0-07C4-6A76-67B1-D25F18B22B07}"/>
              </a:ext>
            </a:extLst>
          </p:cNvPr>
          <p:cNvSpPr/>
          <p:nvPr/>
        </p:nvSpPr>
        <p:spPr>
          <a:xfrm>
            <a:off x="4892675" y="3365500"/>
            <a:ext cx="3748088" cy="3476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0E7490"/>
                </a:solidFill>
                <a:latin typeface="Calibri"/>
              </a:rPr>
              <a:t>✓  </a:t>
            </a:r>
            <a:r>
              <a:rPr lang="en-US" sz="1200" spc="-1">
                <a:solidFill>
                  <a:srgbClr val="1E3A8A"/>
                </a:solidFill>
                <a:latin typeface="Calibri"/>
              </a:rPr>
              <a:t>Tasks benefit from diverse AI perspectives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0" name="Shape 31">
            <a:extLst>
              <a:ext uri="{FF2B5EF4-FFF2-40B4-BE49-F238E27FC236}">
                <a16:creationId xmlns:a16="http://schemas.microsoft.com/office/drawing/2014/main" id="{33277503-F5D3-A110-4566-D2C38C9D8F14}"/>
              </a:ext>
            </a:extLst>
          </p:cNvPr>
          <p:cNvSpPr/>
          <p:nvPr/>
        </p:nvSpPr>
        <p:spPr>
          <a:xfrm>
            <a:off x="4754563" y="3794125"/>
            <a:ext cx="4024312" cy="430213"/>
          </a:xfrm>
          <a:prstGeom prst="rect">
            <a:avLst/>
          </a:prstGeom>
          <a:solidFill>
            <a:srgbClr val="FFFFFF"/>
          </a:solidFill>
          <a:ln w="6480">
            <a:solidFill>
              <a:srgbClr val="CE93D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1" name="Text 32">
            <a:extLst>
              <a:ext uri="{FF2B5EF4-FFF2-40B4-BE49-F238E27FC236}">
                <a16:creationId xmlns:a16="http://schemas.microsoft.com/office/drawing/2014/main" id="{8BD945F3-04BD-8740-38AC-085C2A88CF35}"/>
              </a:ext>
            </a:extLst>
          </p:cNvPr>
          <p:cNvSpPr/>
          <p:nvPr/>
        </p:nvSpPr>
        <p:spPr>
          <a:xfrm>
            <a:off x="4892675" y="3830638"/>
            <a:ext cx="3748088" cy="3476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0E7490"/>
                </a:solidFill>
                <a:latin typeface="Calibri"/>
              </a:rPr>
              <a:t>✓  </a:t>
            </a:r>
            <a:r>
              <a:rPr lang="en-US" sz="1200" spc="-1">
                <a:solidFill>
                  <a:srgbClr val="1E3A8A"/>
                </a:solidFill>
                <a:latin typeface="Calibri"/>
              </a:rPr>
              <a:t>Research, writing, analysis workflows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2" name="Shape 33">
            <a:extLst>
              <a:ext uri="{FF2B5EF4-FFF2-40B4-BE49-F238E27FC236}">
                <a16:creationId xmlns:a16="http://schemas.microsoft.com/office/drawing/2014/main" id="{FEF43EB2-5134-A628-96B2-89C087F16608}"/>
              </a:ext>
            </a:extLst>
          </p:cNvPr>
          <p:cNvSpPr/>
          <p:nvPr/>
        </p:nvSpPr>
        <p:spPr>
          <a:xfrm>
            <a:off x="4754563" y="4260850"/>
            <a:ext cx="4024312" cy="430213"/>
          </a:xfrm>
          <a:prstGeom prst="rect">
            <a:avLst/>
          </a:prstGeom>
          <a:solidFill>
            <a:srgbClr val="F3E5F5"/>
          </a:solidFill>
          <a:ln w="6480">
            <a:solidFill>
              <a:srgbClr val="CE93D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3" name="Text 34">
            <a:extLst>
              <a:ext uri="{FF2B5EF4-FFF2-40B4-BE49-F238E27FC236}">
                <a16:creationId xmlns:a16="http://schemas.microsoft.com/office/drawing/2014/main" id="{F8700BA8-1882-162F-7A9C-CA47E2E622BE}"/>
              </a:ext>
            </a:extLst>
          </p:cNvPr>
          <p:cNvSpPr/>
          <p:nvPr/>
        </p:nvSpPr>
        <p:spPr>
          <a:xfrm>
            <a:off x="4892675" y="4297363"/>
            <a:ext cx="3748088" cy="3476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0E7490"/>
                </a:solidFill>
                <a:latin typeface="Calibri"/>
              </a:rPr>
              <a:t>✓  </a:t>
            </a:r>
            <a:r>
              <a:rPr lang="en-US" sz="1200" spc="-1" dirty="0">
                <a:solidFill>
                  <a:srgbClr val="1E3A8A"/>
                </a:solidFill>
                <a:latin typeface="Calibri"/>
              </a:rPr>
              <a:t>Dynamic task scope - unknown at start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9189" name="Picture 1">
            <a:extLst>
              <a:ext uri="{FF2B5EF4-FFF2-40B4-BE49-F238E27FC236}">
                <a16:creationId xmlns:a16="http://schemas.microsoft.com/office/drawing/2014/main" id="{3E73B0DD-5B5D-8513-9456-667A7F747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7638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2" grpId="0" animBg="1"/>
      <p:bldP spid="703" grpId="0"/>
      <p:bldP spid="704" grpId="0" animBg="1"/>
      <p:bldP spid="705" grpId="0"/>
      <p:bldP spid="706" grpId="0" animBg="1"/>
      <p:bldP spid="707" grpId="0"/>
      <p:bldP spid="708" grpId="0" animBg="1"/>
      <p:bldP spid="709" grpId="0"/>
      <p:bldP spid="710" grpId="0" animBg="1"/>
      <p:bldP spid="711" grpId="0"/>
      <p:bldP spid="712" grpId="0" animBg="1"/>
      <p:bldP spid="713" grpId="0"/>
      <p:bldP spid="714" grpId="0" animBg="1"/>
      <p:bldP spid="715" grpId="0"/>
      <p:bldP spid="716" grpId="0" animBg="1"/>
      <p:bldP spid="717" grpId="0"/>
      <p:bldP spid="718" grpId="0" animBg="1"/>
      <p:bldP spid="719" grpId="0"/>
      <p:bldP spid="720" grpId="0" animBg="1"/>
      <p:bldP spid="721" grpId="0"/>
      <p:bldP spid="722" grpId="0" animBg="1"/>
      <p:bldP spid="723" grpId="0"/>
      <p:bldP spid="724" grpId="0" animBg="1"/>
      <p:bldP spid="725" grpId="0"/>
      <p:bldP spid="726" grpId="0" animBg="1"/>
      <p:bldP spid="727" grpId="0"/>
      <p:bldP spid="728" grpId="0" animBg="1"/>
      <p:bldP spid="729" grpId="0"/>
      <p:bldP spid="730" grpId="0" animBg="1"/>
      <p:bldP spid="731" grpId="0"/>
      <p:bldP spid="732" grpId="0" animBg="1"/>
      <p:bldP spid="73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Shape 0">
            <a:extLst>
              <a:ext uri="{FF2B5EF4-FFF2-40B4-BE49-F238E27FC236}">
                <a16:creationId xmlns:a16="http://schemas.microsoft.com/office/drawing/2014/main" id="{1F6838AF-60E6-D70D-7692-FB7E951122FE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6" name="Text 1">
            <a:extLst>
              <a:ext uri="{FF2B5EF4-FFF2-40B4-BE49-F238E27FC236}">
                <a16:creationId xmlns:a16="http://schemas.microsoft.com/office/drawing/2014/main" id="{00BEB3E8-D98A-3AF5-6A24-53AB33F5B1C5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>
                <a:solidFill>
                  <a:srgbClr val="1E3A8A"/>
                </a:solidFill>
                <a:latin typeface="Calibri"/>
              </a:rPr>
              <a:t>SECTION 4</a:t>
            </a:r>
            <a:endParaRPr lang="en-US" sz="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7" name="Text 2">
            <a:extLst>
              <a:ext uri="{FF2B5EF4-FFF2-40B4-BE49-F238E27FC236}">
                <a16:creationId xmlns:a16="http://schemas.microsoft.com/office/drawing/2014/main" id="{88644BF3-BB23-B771-E2EE-753E51347B69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000" b="1" spc="-1">
                <a:solidFill>
                  <a:srgbClr val="1E3A8A"/>
                </a:solidFill>
                <a:latin typeface="Calibri"/>
              </a:rPr>
              <a:t>Using LangGraph + AutoGen Together</a:t>
            </a:r>
            <a:endParaRPr lang="en-US" sz="2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8" name="Text 3">
            <a:extLst>
              <a:ext uri="{FF2B5EF4-FFF2-40B4-BE49-F238E27FC236}">
                <a16:creationId xmlns:a16="http://schemas.microsoft.com/office/drawing/2014/main" id="{0E5C3116-93F2-0690-EDC6-3097C82C72A0}"/>
              </a:ext>
            </a:extLst>
          </p:cNvPr>
          <p:cNvSpPr/>
          <p:nvPr/>
        </p:nvSpPr>
        <p:spPr>
          <a:xfrm>
            <a:off x="457200" y="960438"/>
            <a:ext cx="8229600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spc="-1" dirty="0">
                <a:solidFill>
                  <a:srgbClr val="1E3A8A"/>
                </a:solidFill>
                <a:latin typeface="Calibri"/>
              </a:rPr>
              <a:t>The two frameworks are complementary: </a:t>
            </a:r>
            <a:r>
              <a:rPr lang="en-US" sz="1300" spc="-1" dirty="0" err="1">
                <a:solidFill>
                  <a:srgbClr val="1E3A8A"/>
                </a:solidFill>
                <a:latin typeface="Calibri"/>
              </a:rPr>
              <a:t>LangGraph</a:t>
            </a:r>
            <a:r>
              <a:rPr lang="en-US" sz="1300" spc="-1" dirty="0">
                <a:solidFill>
                  <a:srgbClr val="1E3A8A"/>
                </a:solidFill>
                <a:latin typeface="Calibri"/>
              </a:rPr>
              <a:t> orchestrates the flow, </a:t>
            </a:r>
            <a:r>
              <a:rPr lang="en-US" sz="1300" spc="-1" dirty="0" err="1">
                <a:solidFill>
                  <a:srgbClr val="1E3A8A"/>
                </a:solidFill>
                <a:latin typeface="Calibri"/>
              </a:rPr>
              <a:t>AutoGen</a:t>
            </a:r>
            <a:r>
              <a:rPr lang="en-US" sz="1300" spc="-1" dirty="0">
                <a:solidFill>
                  <a:srgbClr val="1E3A8A"/>
                </a:solidFill>
                <a:latin typeface="Calibri"/>
              </a:rPr>
              <a:t> executes the conversation.</a:t>
            </a:r>
            <a:endParaRPr lang="en-US" sz="13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9" name="Shape 4">
            <a:extLst>
              <a:ext uri="{FF2B5EF4-FFF2-40B4-BE49-F238E27FC236}">
                <a16:creationId xmlns:a16="http://schemas.microsoft.com/office/drawing/2014/main" id="{128856B4-17A3-2349-28A6-577792BB7D5E}"/>
              </a:ext>
            </a:extLst>
          </p:cNvPr>
          <p:cNvSpPr/>
          <p:nvPr/>
        </p:nvSpPr>
        <p:spPr>
          <a:xfrm>
            <a:off x="365125" y="1262063"/>
            <a:ext cx="8413750" cy="328612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0" name="Text 5">
            <a:extLst>
              <a:ext uri="{FF2B5EF4-FFF2-40B4-BE49-F238E27FC236}">
                <a16:creationId xmlns:a16="http://schemas.microsoft.com/office/drawing/2014/main" id="{46ACC41E-5484-DF51-D118-894DE966C93E}"/>
              </a:ext>
            </a:extLst>
          </p:cNvPr>
          <p:cNvSpPr/>
          <p:nvPr/>
        </p:nvSpPr>
        <p:spPr>
          <a:xfrm>
            <a:off x="365125" y="1262063"/>
            <a:ext cx="8413750" cy="3286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 dirty="0" err="1">
                <a:solidFill>
                  <a:srgbClr val="1E3A8A"/>
                </a:solidFill>
                <a:latin typeface="Calibri"/>
              </a:rPr>
              <a:t>LangGraph</a:t>
            </a:r>
            <a:r>
              <a:rPr lang="en-US" sz="1400" b="1" spc="-1" dirty="0">
                <a:solidFill>
                  <a:srgbClr val="1E3A8A"/>
                </a:solidFill>
                <a:latin typeface="Calibri"/>
              </a:rPr>
              <a:t> Orchestrator</a:t>
            </a:r>
            <a:endParaRPr lang="en-US" sz="14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1" name="Shape 6">
            <a:extLst>
              <a:ext uri="{FF2B5EF4-FFF2-40B4-BE49-F238E27FC236}">
                <a16:creationId xmlns:a16="http://schemas.microsoft.com/office/drawing/2014/main" id="{502A235B-B76E-0741-2AF3-318268E6799C}"/>
              </a:ext>
            </a:extLst>
          </p:cNvPr>
          <p:cNvSpPr/>
          <p:nvPr/>
        </p:nvSpPr>
        <p:spPr>
          <a:xfrm>
            <a:off x="466725" y="1724025"/>
            <a:ext cx="1439863" cy="1004888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miter/>
          </a:ln>
          <a:effectLst>
            <a:outerShdw dist="25455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2" name="Text 7">
            <a:extLst>
              <a:ext uri="{FF2B5EF4-FFF2-40B4-BE49-F238E27FC236}">
                <a16:creationId xmlns:a16="http://schemas.microsoft.com/office/drawing/2014/main" id="{AFC01DAC-F2C1-48A3-CCB4-2A41D08704D5}"/>
              </a:ext>
            </a:extLst>
          </p:cNvPr>
          <p:cNvSpPr/>
          <p:nvPr/>
        </p:nvSpPr>
        <p:spPr>
          <a:xfrm>
            <a:off x="466725" y="1768475"/>
            <a:ext cx="1439863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 dirty="0">
                <a:solidFill>
                  <a:schemeClr val="bg1"/>
                </a:solidFill>
                <a:latin typeface="Calibri"/>
              </a:rPr>
              <a:t>Research</a:t>
            </a:r>
            <a:endParaRPr lang="en-US" sz="1150" spc="-1" dirty="0">
              <a:solidFill>
                <a:schemeClr val="bg1"/>
              </a:solidFill>
              <a:latin typeface="Calibri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 dirty="0">
                <a:solidFill>
                  <a:schemeClr val="bg1"/>
                </a:solidFill>
                <a:latin typeface="Calibri"/>
              </a:rPr>
              <a:t>Node</a:t>
            </a:r>
            <a:endParaRPr lang="en-US" sz="115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43" name="Text 8">
            <a:extLst>
              <a:ext uri="{FF2B5EF4-FFF2-40B4-BE49-F238E27FC236}">
                <a16:creationId xmlns:a16="http://schemas.microsoft.com/office/drawing/2014/main" id="{890B9DD9-43D1-8A5F-0913-2A73B1A65134}"/>
              </a:ext>
            </a:extLst>
          </p:cNvPr>
          <p:cNvSpPr/>
          <p:nvPr/>
        </p:nvSpPr>
        <p:spPr>
          <a:xfrm>
            <a:off x="466725" y="2244725"/>
            <a:ext cx="1439863" cy="4111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 dirty="0" err="1">
                <a:solidFill>
                  <a:schemeClr val="bg1"/>
                </a:solidFill>
                <a:latin typeface="Calibri"/>
              </a:rPr>
              <a:t>AutoGen</a:t>
            </a:r>
            <a:endParaRPr lang="en-US" sz="1000" spc="-1" dirty="0">
              <a:solidFill>
                <a:schemeClr val="bg1"/>
              </a:solidFill>
              <a:latin typeface="Calibri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 dirty="0">
                <a:solidFill>
                  <a:schemeClr val="bg1"/>
                </a:solidFill>
                <a:latin typeface="Calibri"/>
              </a:rPr>
              <a:t>Team</a:t>
            </a:r>
          </a:p>
        </p:txBody>
      </p:sp>
      <p:sp>
        <p:nvSpPr>
          <p:cNvPr id="744" name="Text 9">
            <a:extLst>
              <a:ext uri="{FF2B5EF4-FFF2-40B4-BE49-F238E27FC236}">
                <a16:creationId xmlns:a16="http://schemas.microsoft.com/office/drawing/2014/main" id="{74069745-8B44-AB41-5939-F9B641F930AF}"/>
              </a:ext>
            </a:extLst>
          </p:cNvPr>
          <p:cNvSpPr/>
          <p:nvPr/>
        </p:nvSpPr>
        <p:spPr>
          <a:xfrm>
            <a:off x="1944688" y="2043113"/>
            <a:ext cx="182562" cy="3667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pc="-1">
                <a:solidFill>
                  <a:srgbClr val="0EA5E9"/>
                </a:solidFill>
                <a:latin typeface="Calibri"/>
              </a:rPr>
              <a:t>→</a:t>
            </a: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5" name="Shape 10">
            <a:extLst>
              <a:ext uri="{FF2B5EF4-FFF2-40B4-BE49-F238E27FC236}">
                <a16:creationId xmlns:a16="http://schemas.microsoft.com/office/drawing/2014/main" id="{FA1AD76E-C35D-AFE2-40A4-A02201C4E40C}"/>
              </a:ext>
            </a:extLst>
          </p:cNvPr>
          <p:cNvSpPr/>
          <p:nvPr/>
        </p:nvSpPr>
        <p:spPr>
          <a:xfrm>
            <a:off x="2163763" y="1724025"/>
            <a:ext cx="1439862" cy="1004888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miter/>
          </a:ln>
          <a:effectLst>
            <a:outerShdw dist="25455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6" name="Text 11">
            <a:extLst>
              <a:ext uri="{FF2B5EF4-FFF2-40B4-BE49-F238E27FC236}">
                <a16:creationId xmlns:a16="http://schemas.microsoft.com/office/drawing/2014/main" id="{F458AD64-C49C-8350-30B0-6DC1AFC68A2F}"/>
              </a:ext>
            </a:extLst>
          </p:cNvPr>
          <p:cNvSpPr/>
          <p:nvPr/>
        </p:nvSpPr>
        <p:spPr>
          <a:xfrm>
            <a:off x="2163763" y="1768475"/>
            <a:ext cx="1439862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 dirty="0">
                <a:solidFill>
                  <a:schemeClr val="bg1"/>
                </a:solidFill>
                <a:latin typeface="Calibri"/>
              </a:rPr>
              <a:t>Analysis</a:t>
            </a:r>
            <a:endParaRPr lang="en-US" sz="1150" spc="-1" dirty="0">
              <a:solidFill>
                <a:schemeClr val="bg1"/>
              </a:solidFill>
              <a:latin typeface="Calibri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 dirty="0">
                <a:solidFill>
                  <a:schemeClr val="bg1"/>
                </a:solidFill>
                <a:latin typeface="Calibri"/>
              </a:rPr>
              <a:t>Node</a:t>
            </a:r>
            <a:endParaRPr lang="en-US" sz="115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47" name="Text 12">
            <a:extLst>
              <a:ext uri="{FF2B5EF4-FFF2-40B4-BE49-F238E27FC236}">
                <a16:creationId xmlns:a16="http://schemas.microsoft.com/office/drawing/2014/main" id="{A5439AFD-2649-CFD5-3CD8-EBDB1DBDCC61}"/>
              </a:ext>
            </a:extLst>
          </p:cNvPr>
          <p:cNvSpPr/>
          <p:nvPr/>
        </p:nvSpPr>
        <p:spPr>
          <a:xfrm>
            <a:off x="2163763" y="2244725"/>
            <a:ext cx="1439862" cy="4111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chemeClr val="bg1"/>
                </a:solidFill>
                <a:latin typeface="Calibri"/>
              </a:rPr>
              <a:t>AutoGen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chemeClr val="bg1"/>
                </a:solidFill>
                <a:latin typeface="Calibri"/>
              </a:rPr>
              <a:t>Team</a:t>
            </a:r>
          </a:p>
        </p:txBody>
      </p:sp>
      <p:sp>
        <p:nvSpPr>
          <p:cNvPr id="748" name="Text 13">
            <a:extLst>
              <a:ext uri="{FF2B5EF4-FFF2-40B4-BE49-F238E27FC236}">
                <a16:creationId xmlns:a16="http://schemas.microsoft.com/office/drawing/2014/main" id="{2108D963-55E3-6296-A6FC-FC2EEE29FD70}"/>
              </a:ext>
            </a:extLst>
          </p:cNvPr>
          <p:cNvSpPr/>
          <p:nvPr/>
        </p:nvSpPr>
        <p:spPr>
          <a:xfrm>
            <a:off x="3646488" y="2043113"/>
            <a:ext cx="182562" cy="3667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pc="-1">
                <a:solidFill>
                  <a:srgbClr val="0EA5E9"/>
                </a:solidFill>
                <a:latin typeface="Calibri"/>
              </a:rPr>
              <a:t>→</a:t>
            </a: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9" name="Shape 14">
            <a:extLst>
              <a:ext uri="{FF2B5EF4-FFF2-40B4-BE49-F238E27FC236}">
                <a16:creationId xmlns:a16="http://schemas.microsoft.com/office/drawing/2014/main" id="{40508C5D-2A89-87FD-4E8C-47EBFB5B503D}"/>
              </a:ext>
            </a:extLst>
          </p:cNvPr>
          <p:cNvSpPr/>
          <p:nvPr/>
        </p:nvSpPr>
        <p:spPr>
          <a:xfrm>
            <a:off x="3859213" y="1738313"/>
            <a:ext cx="1439862" cy="1004887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miter/>
          </a:ln>
          <a:effectLst>
            <a:outerShdw dist="25455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0" name="Text 15">
            <a:extLst>
              <a:ext uri="{FF2B5EF4-FFF2-40B4-BE49-F238E27FC236}">
                <a16:creationId xmlns:a16="http://schemas.microsoft.com/office/drawing/2014/main" id="{D449604C-719D-5B37-D437-680F6AB8EA7B}"/>
              </a:ext>
            </a:extLst>
          </p:cNvPr>
          <p:cNvSpPr/>
          <p:nvPr/>
        </p:nvSpPr>
        <p:spPr>
          <a:xfrm>
            <a:off x="3859213" y="1782763"/>
            <a:ext cx="1439862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>
                <a:solidFill>
                  <a:schemeClr val="bg1"/>
                </a:solidFill>
                <a:latin typeface="Calibri"/>
              </a:rPr>
              <a:t>Write</a:t>
            </a:r>
            <a:endParaRPr lang="en-US" sz="1150" spc="-1">
              <a:solidFill>
                <a:schemeClr val="bg1"/>
              </a:solidFill>
              <a:latin typeface="Calibri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>
                <a:solidFill>
                  <a:schemeClr val="bg1"/>
                </a:solidFill>
                <a:latin typeface="Calibri"/>
              </a:rPr>
              <a:t>Node</a:t>
            </a:r>
            <a:endParaRPr lang="en-US" sz="115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51" name="Text 16">
            <a:extLst>
              <a:ext uri="{FF2B5EF4-FFF2-40B4-BE49-F238E27FC236}">
                <a16:creationId xmlns:a16="http://schemas.microsoft.com/office/drawing/2014/main" id="{79015AB4-1EA4-2DAC-0419-91C98FE97BE5}"/>
              </a:ext>
            </a:extLst>
          </p:cNvPr>
          <p:cNvSpPr/>
          <p:nvPr/>
        </p:nvSpPr>
        <p:spPr>
          <a:xfrm>
            <a:off x="3859213" y="2259013"/>
            <a:ext cx="1439862" cy="4111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chemeClr val="bg1"/>
                </a:solidFill>
                <a:latin typeface="Calibri"/>
              </a:rPr>
              <a:t>AutoGen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chemeClr val="bg1"/>
                </a:solidFill>
                <a:latin typeface="Calibri"/>
              </a:rPr>
              <a:t>Team</a:t>
            </a:r>
          </a:p>
        </p:txBody>
      </p:sp>
      <p:sp>
        <p:nvSpPr>
          <p:cNvPr id="752" name="Text 17">
            <a:extLst>
              <a:ext uri="{FF2B5EF4-FFF2-40B4-BE49-F238E27FC236}">
                <a16:creationId xmlns:a16="http://schemas.microsoft.com/office/drawing/2014/main" id="{1C7987E0-5B64-D74E-A7C8-EEC58DB4B33A}"/>
              </a:ext>
            </a:extLst>
          </p:cNvPr>
          <p:cNvSpPr/>
          <p:nvPr/>
        </p:nvSpPr>
        <p:spPr>
          <a:xfrm>
            <a:off x="5335588" y="2043113"/>
            <a:ext cx="182562" cy="3667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pc="-1">
                <a:solidFill>
                  <a:srgbClr val="0EA5E9"/>
                </a:solidFill>
                <a:latin typeface="Calibri"/>
              </a:rPr>
              <a:t>→</a:t>
            </a: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3" name="Shape 18">
            <a:extLst>
              <a:ext uri="{FF2B5EF4-FFF2-40B4-BE49-F238E27FC236}">
                <a16:creationId xmlns:a16="http://schemas.microsoft.com/office/drawing/2014/main" id="{5AFB393E-E7E5-A239-BE50-4F295968F74E}"/>
              </a:ext>
            </a:extLst>
          </p:cNvPr>
          <p:cNvSpPr/>
          <p:nvPr/>
        </p:nvSpPr>
        <p:spPr>
          <a:xfrm>
            <a:off x="5553075" y="1738313"/>
            <a:ext cx="1439863" cy="1004887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  <a:effectLst>
            <a:outerShdw dist="25455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4" name="Text 19">
            <a:extLst>
              <a:ext uri="{FF2B5EF4-FFF2-40B4-BE49-F238E27FC236}">
                <a16:creationId xmlns:a16="http://schemas.microsoft.com/office/drawing/2014/main" id="{F4265E61-63E9-93D2-244A-C6760F68034F}"/>
              </a:ext>
            </a:extLst>
          </p:cNvPr>
          <p:cNvSpPr/>
          <p:nvPr/>
        </p:nvSpPr>
        <p:spPr>
          <a:xfrm>
            <a:off x="5553075" y="1782763"/>
            <a:ext cx="1439863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>
                <a:solidFill>
                  <a:schemeClr val="bg1"/>
                </a:solidFill>
                <a:latin typeface="Calibri"/>
              </a:rPr>
              <a:t>Review</a:t>
            </a:r>
            <a:endParaRPr lang="en-US" sz="1150" spc="-1">
              <a:solidFill>
                <a:schemeClr val="bg1"/>
              </a:solidFill>
              <a:latin typeface="Calibri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>
                <a:solidFill>
                  <a:schemeClr val="bg1"/>
                </a:solidFill>
                <a:latin typeface="Calibri"/>
              </a:rPr>
              <a:t>Node</a:t>
            </a:r>
            <a:endParaRPr lang="en-US" sz="115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55" name="Text 20">
            <a:extLst>
              <a:ext uri="{FF2B5EF4-FFF2-40B4-BE49-F238E27FC236}">
                <a16:creationId xmlns:a16="http://schemas.microsoft.com/office/drawing/2014/main" id="{3040405F-3384-2185-AF41-5E6149211CE4}"/>
              </a:ext>
            </a:extLst>
          </p:cNvPr>
          <p:cNvSpPr/>
          <p:nvPr/>
        </p:nvSpPr>
        <p:spPr>
          <a:xfrm>
            <a:off x="5553075" y="2259013"/>
            <a:ext cx="1439863" cy="4111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chemeClr val="bg1"/>
                </a:solidFill>
                <a:latin typeface="Calibri"/>
              </a:rPr>
              <a:t>LangGraph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chemeClr val="bg1"/>
                </a:solidFill>
                <a:latin typeface="Calibri"/>
              </a:rPr>
              <a:t>Check</a:t>
            </a:r>
          </a:p>
        </p:txBody>
      </p:sp>
      <p:sp>
        <p:nvSpPr>
          <p:cNvPr id="756" name="Text 21">
            <a:extLst>
              <a:ext uri="{FF2B5EF4-FFF2-40B4-BE49-F238E27FC236}">
                <a16:creationId xmlns:a16="http://schemas.microsoft.com/office/drawing/2014/main" id="{95738A7D-FCDC-1678-86E9-0DB5CDADF264}"/>
              </a:ext>
            </a:extLst>
          </p:cNvPr>
          <p:cNvSpPr/>
          <p:nvPr/>
        </p:nvSpPr>
        <p:spPr>
          <a:xfrm>
            <a:off x="7043738" y="2057400"/>
            <a:ext cx="184150" cy="3667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pc="-1">
                <a:solidFill>
                  <a:srgbClr val="0EA5E9"/>
                </a:solidFill>
                <a:latin typeface="Calibri"/>
              </a:rPr>
              <a:t>→</a:t>
            </a: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7" name="Shape 22">
            <a:extLst>
              <a:ext uri="{FF2B5EF4-FFF2-40B4-BE49-F238E27FC236}">
                <a16:creationId xmlns:a16="http://schemas.microsoft.com/office/drawing/2014/main" id="{E979EFE3-0CA3-1745-C6DA-6C6F8253967E}"/>
              </a:ext>
            </a:extLst>
          </p:cNvPr>
          <p:cNvSpPr/>
          <p:nvPr/>
        </p:nvSpPr>
        <p:spPr>
          <a:xfrm>
            <a:off x="7278688" y="1727200"/>
            <a:ext cx="1441450" cy="1004888"/>
          </a:xfrm>
          <a:prstGeom prst="rect">
            <a:avLst/>
          </a:prstGeom>
          <a:solidFill>
            <a:srgbClr val="E65100"/>
          </a:solidFill>
          <a:ln w="12600">
            <a:solidFill>
              <a:srgbClr val="E65100"/>
            </a:solidFill>
            <a:miter/>
          </a:ln>
          <a:effectLst>
            <a:outerShdw dist="25455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8" name="Text 23">
            <a:extLst>
              <a:ext uri="{FF2B5EF4-FFF2-40B4-BE49-F238E27FC236}">
                <a16:creationId xmlns:a16="http://schemas.microsoft.com/office/drawing/2014/main" id="{177F4761-A3F5-0A66-E1B1-CFEF994FC275}"/>
              </a:ext>
            </a:extLst>
          </p:cNvPr>
          <p:cNvSpPr/>
          <p:nvPr/>
        </p:nvSpPr>
        <p:spPr>
          <a:xfrm>
            <a:off x="7278688" y="1771650"/>
            <a:ext cx="144145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50" b="1" spc="-1">
                <a:solidFill>
                  <a:schemeClr val="bg1"/>
                </a:solidFill>
                <a:latin typeface="Calibri"/>
              </a:rPr>
              <a:t>Publish</a:t>
            </a:r>
            <a:endParaRPr lang="en-US" sz="115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59" name="Text 24">
            <a:extLst>
              <a:ext uri="{FF2B5EF4-FFF2-40B4-BE49-F238E27FC236}">
                <a16:creationId xmlns:a16="http://schemas.microsoft.com/office/drawing/2014/main" id="{83FE78DB-2CE1-AAD5-C66D-CFDD541C3722}"/>
              </a:ext>
            </a:extLst>
          </p:cNvPr>
          <p:cNvSpPr/>
          <p:nvPr/>
        </p:nvSpPr>
        <p:spPr>
          <a:xfrm>
            <a:off x="7278688" y="2247900"/>
            <a:ext cx="1441450" cy="4111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chemeClr val="bg1"/>
                </a:solidFill>
                <a:latin typeface="Calibri"/>
              </a:rPr>
              <a:t>Tool Node</a:t>
            </a:r>
          </a:p>
        </p:txBody>
      </p:sp>
      <p:sp>
        <p:nvSpPr>
          <p:cNvPr id="760" name="Shape 25">
            <a:extLst>
              <a:ext uri="{FF2B5EF4-FFF2-40B4-BE49-F238E27FC236}">
                <a16:creationId xmlns:a16="http://schemas.microsoft.com/office/drawing/2014/main" id="{FF5B9B67-E414-D62F-94FA-3D024A99AE42}"/>
              </a:ext>
            </a:extLst>
          </p:cNvPr>
          <p:cNvSpPr/>
          <p:nvPr/>
        </p:nvSpPr>
        <p:spPr>
          <a:xfrm>
            <a:off x="411163" y="2925763"/>
            <a:ext cx="4114800" cy="960437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1" name="Shape 26">
            <a:extLst>
              <a:ext uri="{FF2B5EF4-FFF2-40B4-BE49-F238E27FC236}">
                <a16:creationId xmlns:a16="http://schemas.microsoft.com/office/drawing/2014/main" id="{29BFA79F-3B0B-5680-48F9-7B7BF6E6CBF6}"/>
              </a:ext>
            </a:extLst>
          </p:cNvPr>
          <p:cNvSpPr/>
          <p:nvPr/>
        </p:nvSpPr>
        <p:spPr>
          <a:xfrm>
            <a:off x="411163" y="2925763"/>
            <a:ext cx="55562" cy="9604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2" name="Text 27">
            <a:extLst>
              <a:ext uri="{FF2B5EF4-FFF2-40B4-BE49-F238E27FC236}">
                <a16:creationId xmlns:a16="http://schemas.microsoft.com/office/drawing/2014/main" id="{680ED572-7016-71B3-9E1D-5F68F62DF87A}"/>
              </a:ext>
            </a:extLst>
          </p:cNvPr>
          <p:cNvSpPr/>
          <p:nvPr/>
        </p:nvSpPr>
        <p:spPr>
          <a:xfrm>
            <a:off x="576263" y="2981325"/>
            <a:ext cx="3840162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1E3A8A"/>
                </a:solidFill>
                <a:latin typeface="Calibri"/>
              </a:rPr>
              <a:t>Best of Both Worlds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3" name="Text 28">
            <a:extLst>
              <a:ext uri="{FF2B5EF4-FFF2-40B4-BE49-F238E27FC236}">
                <a16:creationId xmlns:a16="http://schemas.microsoft.com/office/drawing/2014/main" id="{94DDC752-6AAA-4A27-1C81-5835D443B739}"/>
              </a:ext>
            </a:extLst>
          </p:cNvPr>
          <p:cNvSpPr/>
          <p:nvPr/>
        </p:nvSpPr>
        <p:spPr>
          <a:xfrm>
            <a:off x="576263" y="3246438"/>
            <a:ext cx="3840162" cy="5937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 dirty="0" err="1">
                <a:solidFill>
                  <a:srgbClr val="1E3A8A"/>
                </a:solidFill>
                <a:latin typeface="Calibri"/>
              </a:rPr>
              <a:t>LangGraph</a:t>
            </a:r>
            <a:r>
              <a:rPr lang="en-US" sz="1100" spc="-1" dirty="0">
                <a:solidFill>
                  <a:srgbClr val="1E3A8A"/>
                </a:solidFill>
                <a:latin typeface="Calibri"/>
              </a:rPr>
              <a:t> guarantees deterministic flow control; </a:t>
            </a:r>
            <a:r>
              <a:rPr lang="en-US" sz="1100" spc="-1" dirty="0" err="1">
                <a:solidFill>
                  <a:srgbClr val="1E3A8A"/>
                </a:solidFill>
                <a:latin typeface="Calibri"/>
              </a:rPr>
              <a:t>AutoGen</a:t>
            </a:r>
            <a:r>
              <a:rPr lang="en-US" sz="1100" spc="-1" dirty="0">
                <a:solidFill>
                  <a:srgbClr val="1E3A8A"/>
                </a:solidFill>
                <a:latin typeface="Calibri"/>
              </a:rPr>
              <a:t> delivers flexible multi-agent reasoning within each node.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4" name="Shape 29">
            <a:extLst>
              <a:ext uri="{FF2B5EF4-FFF2-40B4-BE49-F238E27FC236}">
                <a16:creationId xmlns:a16="http://schemas.microsoft.com/office/drawing/2014/main" id="{DF2BA084-EAF2-AB87-EA5F-951959FF639A}"/>
              </a:ext>
            </a:extLst>
          </p:cNvPr>
          <p:cNvSpPr/>
          <p:nvPr/>
        </p:nvSpPr>
        <p:spPr>
          <a:xfrm>
            <a:off x="4708525" y="2925763"/>
            <a:ext cx="4114800" cy="960437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5" name="Shape 30">
            <a:extLst>
              <a:ext uri="{FF2B5EF4-FFF2-40B4-BE49-F238E27FC236}">
                <a16:creationId xmlns:a16="http://schemas.microsoft.com/office/drawing/2014/main" id="{F20BD2F7-23A8-3B50-6318-42CFCE215632}"/>
              </a:ext>
            </a:extLst>
          </p:cNvPr>
          <p:cNvSpPr/>
          <p:nvPr/>
        </p:nvSpPr>
        <p:spPr>
          <a:xfrm>
            <a:off x="4708525" y="2925763"/>
            <a:ext cx="55563" cy="9604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6" name="Text 31">
            <a:extLst>
              <a:ext uri="{FF2B5EF4-FFF2-40B4-BE49-F238E27FC236}">
                <a16:creationId xmlns:a16="http://schemas.microsoft.com/office/drawing/2014/main" id="{B9E1022B-2C35-B9A7-E211-DF1DEDFD55D3}"/>
              </a:ext>
            </a:extLst>
          </p:cNvPr>
          <p:cNvSpPr/>
          <p:nvPr/>
        </p:nvSpPr>
        <p:spPr>
          <a:xfrm>
            <a:off x="4873625" y="2981325"/>
            <a:ext cx="3840163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</a:rPr>
              <a:t>Scalability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7" name="Text 32">
            <a:extLst>
              <a:ext uri="{FF2B5EF4-FFF2-40B4-BE49-F238E27FC236}">
                <a16:creationId xmlns:a16="http://schemas.microsoft.com/office/drawing/2014/main" id="{013EAE6D-70B2-EA84-83CB-3E20C4116DFB}"/>
              </a:ext>
            </a:extLst>
          </p:cNvPr>
          <p:cNvSpPr/>
          <p:nvPr/>
        </p:nvSpPr>
        <p:spPr>
          <a:xfrm>
            <a:off x="4873625" y="3246438"/>
            <a:ext cx="3840163" cy="5937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 dirty="0" err="1">
                <a:solidFill>
                  <a:srgbClr val="1E3A8A"/>
                </a:solidFill>
                <a:latin typeface="Calibri"/>
              </a:rPr>
              <a:t>AutoGen</a:t>
            </a:r>
            <a:r>
              <a:rPr lang="en-US" sz="1100" spc="-1" dirty="0">
                <a:solidFill>
                  <a:srgbClr val="1E3A8A"/>
                </a:solidFill>
                <a:latin typeface="Calibri"/>
              </a:rPr>
              <a:t> agent teams in each </a:t>
            </a:r>
            <a:r>
              <a:rPr lang="en-US" sz="1100" spc="-1" dirty="0" err="1">
                <a:solidFill>
                  <a:srgbClr val="1E3A8A"/>
                </a:solidFill>
                <a:latin typeface="Calibri"/>
              </a:rPr>
              <a:t>LangGraph</a:t>
            </a:r>
            <a:r>
              <a:rPr lang="en-US" sz="1100" spc="-1" dirty="0">
                <a:solidFill>
                  <a:srgbClr val="1E3A8A"/>
                </a:solidFill>
                <a:latin typeface="Calibri"/>
              </a:rPr>
              <a:t> node can scale independently - add more agents to any node without changing the graph.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8" name="Shape 33">
            <a:extLst>
              <a:ext uri="{FF2B5EF4-FFF2-40B4-BE49-F238E27FC236}">
                <a16:creationId xmlns:a16="http://schemas.microsoft.com/office/drawing/2014/main" id="{082C725B-6C85-151C-B73C-BD4A4CBC14E4}"/>
              </a:ext>
            </a:extLst>
          </p:cNvPr>
          <p:cNvSpPr/>
          <p:nvPr/>
        </p:nvSpPr>
        <p:spPr>
          <a:xfrm>
            <a:off x="411163" y="3932238"/>
            <a:ext cx="4114800" cy="960437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9" name="Shape 34">
            <a:extLst>
              <a:ext uri="{FF2B5EF4-FFF2-40B4-BE49-F238E27FC236}">
                <a16:creationId xmlns:a16="http://schemas.microsoft.com/office/drawing/2014/main" id="{C2F21165-98EF-021C-6D07-342CB99FB333}"/>
              </a:ext>
            </a:extLst>
          </p:cNvPr>
          <p:cNvSpPr/>
          <p:nvPr/>
        </p:nvSpPr>
        <p:spPr>
          <a:xfrm>
            <a:off x="411163" y="3932238"/>
            <a:ext cx="55562" cy="9604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0" name="Text 35">
            <a:extLst>
              <a:ext uri="{FF2B5EF4-FFF2-40B4-BE49-F238E27FC236}">
                <a16:creationId xmlns:a16="http://schemas.microsoft.com/office/drawing/2014/main" id="{FAC49454-7AED-C6A8-0ADB-1527AB2CB537}"/>
              </a:ext>
            </a:extLst>
          </p:cNvPr>
          <p:cNvSpPr/>
          <p:nvPr/>
        </p:nvSpPr>
        <p:spPr>
          <a:xfrm>
            <a:off x="576263" y="3986213"/>
            <a:ext cx="3840162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</a:rPr>
              <a:t>Observability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1" name="Text 36">
            <a:extLst>
              <a:ext uri="{FF2B5EF4-FFF2-40B4-BE49-F238E27FC236}">
                <a16:creationId xmlns:a16="http://schemas.microsoft.com/office/drawing/2014/main" id="{AC2DAFEE-D435-5628-31E4-F299A6F3E3B5}"/>
              </a:ext>
            </a:extLst>
          </p:cNvPr>
          <p:cNvSpPr/>
          <p:nvPr/>
        </p:nvSpPr>
        <p:spPr>
          <a:xfrm>
            <a:off x="576263" y="4251325"/>
            <a:ext cx="3840162" cy="595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 dirty="0" err="1">
                <a:solidFill>
                  <a:srgbClr val="1E3A8A"/>
                </a:solidFill>
                <a:latin typeface="Calibri"/>
              </a:rPr>
              <a:t>LangSmith</a:t>
            </a:r>
            <a:r>
              <a:rPr lang="en-US" sz="1100" spc="-1" dirty="0">
                <a:solidFill>
                  <a:srgbClr val="1E3A8A"/>
                </a:solidFill>
                <a:latin typeface="Calibri"/>
              </a:rPr>
              <a:t> traces the entire </a:t>
            </a:r>
            <a:r>
              <a:rPr lang="en-US" sz="1100" spc="-1" dirty="0" err="1">
                <a:solidFill>
                  <a:srgbClr val="1E3A8A"/>
                </a:solidFill>
                <a:latin typeface="Calibri"/>
              </a:rPr>
              <a:t>LangGraph</a:t>
            </a:r>
            <a:r>
              <a:rPr lang="en-US" sz="1100" spc="-1" dirty="0">
                <a:solidFill>
                  <a:srgbClr val="1E3A8A"/>
                </a:solidFill>
                <a:latin typeface="Calibri"/>
              </a:rPr>
              <a:t> execution; </a:t>
            </a:r>
            <a:r>
              <a:rPr lang="en-US" sz="1100" spc="-1" dirty="0" err="1">
                <a:solidFill>
                  <a:srgbClr val="1E3A8A"/>
                </a:solidFill>
                <a:latin typeface="Calibri"/>
              </a:rPr>
              <a:t>AutoGen</a:t>
            </a:r>
            <a:r>
              <a:rPr lang="en-US" sz="1100" spc="-1" dirty="0">
                <a:solidFill>
                  <a:srgbClr val="1E3A8A"/>
                </a:solidFill>
                <a:latin typeface="Calibri"/>
              </a:rPr>
              <a:t> Studio debugs per-node conversations - full-stack visibility.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2" name="Shape 37">
            <a:extLst>
              <a:ext uri="{FF2B5EF4-FFF2-40B4-BE49-F238E27FC236}">
                <a16:creationId xmlns:a16="http://schemas.microsoft.com/office/drawing/2014/main" id="{E399D191-4784-820B-92D6-3AB431293DE0}"/>
              </a:ext>
            </a:extLst>
          </p:cNvPr>
          <p:cNvSpPr/>
          <p:nvPr/>
        </p:nvSpPr>
        <p:spPr>
          <a:xfrm>
            <a:off x="4708525" y="3932238"/>
            <a:ext cx="4114800" cy="960437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3" name="Shape 38">
            <a:extLst>
              <a:ext uri="{FF2B5EF4-FFF2-40B4-BE49-F238E27FC236}">
                <a16:creationId xmlns:a16="http://schemas.microsoft.com/office/drawing/2014/main" id="{FDCFDE16-76DB-3579-A531-185CF776C4AC}"/>
              </a:ext>
            </a:extLst>
          </p:cNvPr>
          <p:cNvSpPr/>
          <p:nvPr/>
        </p:nvSpPr>
        <p:spPr>
          <a:xfrm>
            <a:off x="4708525" y="3932238"/>
            <a:ext cx="55563" cy="9604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4" name="Text 39">
            <a:extLst>
              <a:ext uri="{FF2B5EF4-FFF2-40B4-BE49-F238E27FC236}">
                <a16:creationId xmlns:a16="http://schemas.microsoft.com/office/drawing/2014/main" id="{584E3B1A-3459-45CD-6C00-59EAEE95F957}"/>
              </a:ext>
            </a:extLst>
          </p:cNvPr>
          <p:cNvSpPr/>
          <p:nvPr/>
        </p:nvSpPr>
        <p:spPr>
          <a:xfrm>
            <a:off x="4873625" y="3986213"/>
            <a:ext cx="3840163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</a:rPr>
              <a:t>Real-World Fit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5" name="Text 40">
            <a:extLst>
              <a:ext uri="{FF2B5EF4-FFF2-40B4-BE49-F238E27FC236}">
                <a16:creationId xmlns:a16="http://schemas.microsoft.com/office/drawing/2014/main" id="{5D31C4F2-E729-1725-2A3A-5ECC2F11CDD0}"/>
              </a:ext>
            </a:extLst>
          </p:cNvPr>
          <p:cNvSpPr/>
          <p:nvPr/>
        </p:nvSpPr>
        <p:spPr>
          <a:xfrm>
            <a:off x="4873625" y="4251325"/>
            <a:ext cx="3840163" cy="595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Most production systems need BOTH: structured orchestration + intelligent agent collaboration. This architecture delivers it.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1243" name="Picture 1">
            <a:extLst>
              <a:ext uri="{FF2B5EF4-FFF2-40B4-BE49-F238E27FC236}">
                <a16:creationId xmlns:a16="http://schemas.microsoft.com/office/drawing/2014/main" id="{BEAC8128-0C42-2C98-4A1F-B93751314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1288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9" grpId="0" animBg="1"/>
      <p:bldP spid="740" grpId="0"/>
      <p:bldP spid="741" grpId="0" animBg="1"/>
      <p:bldP spid="742" grpId="0"/>
      <p:bldP spid="743" grpId="0"/>
      <p:bldP spid="744" grpId="0"/>
      <p:bldP spid="745" grpId="0" animBg="1"/>
      <p:bldP spid="746" grpId="0"/>
      <p:bldP spid="747" grpId="0"/>
      <p:bldP spid="748" grpId="0"/>
      <p:bldP spid="749" grpId="0" animBg="1"/>
      <p:bldP spid="750" grpId="0"/>
      <p:bldP spid="751" grpId="0"/>
      <p:bldP spid="752" grpId="0"/>
      <p:bldP spid="753" grpId="0" animBg="1"/>
      <p:bldP spid="754" grpId="0"/>
      <p:bldP spid="755" grpId="0"/>
      <p:bldP spid="756" grpId="0"/>
      <p:bldP spid="757" grpId="0" animBg="1"/>
      <p:bldP spid="758" grpId="0"/>
      <p:bldP spid="759" grpId="0"/>
      <p:bldP spid="760" grpId="0" animBg="1"/>
      <p:bldP spid="761" grpId="0" animBg="1"/>
      <p:bldP spid="762" grpId="0"/>
      <p:bldP spid="763" grpId="0"/>
      <p:bldP spid="764" grpId="0" animBg="1"/>
      <p:bldP spid="765" grpId="0" animBg="1"/>
      <p:bldP spid="766" grpId="0"/>
      <p:bldP spid="767" grpId="0"/>
      <p:bldP spid="768" grpId="0" animBg="1"/>
      <p:bldP spid="769" grpId="0" animBg="1"/>
      <p:bldP spid="770" grpId="0"/>
      <p:bldP spid="771" grpId="0"/>
      <p:bldP spid="772" grpId="0" animBg="1"/>
      <p:bldP spid="773" grpId="0" animBg="1"/>
      <p:bldP spid="774" grpId="0"/>
      <p:bldP spid="77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Shape 0">
            <a:extLst>
              <a:ext uri="{FF2B5EF4-FFF2-40B4-BE49-F238E27FC236}">
                <a16:creationId xmlns:a16="http://schemas.microsoft.com/office/drawing/2014/main" id="{D6841929-96E6-2549-264C-177A00829B56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8" name="Text 1">
            <a:extLst>
              <a:ext uri="{FF2B5EF4-FFF2-40B4-BE49-F238E27FC236}">
                <a16:creationId xmlns:a16="http://schemas.microsoft.com/office/drawing/2014/main" id="{F27EE470-D96A-E346-CDC2-55602A4753C0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>
                <a:solidFill>
                  <a:srgbClr val="1E3A8A"/>
                </a:solidFill>
                <a:latin typeface="Calibri"/>
              </a:rPr>
              <a:t>BEST PRACTICES</a:t>
            </a:r>
            <a:endParaRPr lang="en-US" sz="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9" name="Text 2">
            <a:extLst>
              <a:ext uri="{FF2B5EF4-FFF2-40B4-BE49-F238E27FC236}">
                <a16:creationId xmlns:a16="http://schemas.microsoft.com/office/drawing/2014/main" id="{432ABB82-980C-21DF-3D7A-7C420331512A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200" b="1" spc="-1" dirty="0">
                <a:solidFill>
                  <a:srgbClr val="1E3A8A"/>
                </a:solidFill>
                <a:latin typeface="Calibri"/>
              </a:rPr>
              <a:t>Common Challenges &amp; Best Practices</a:t>
            </a:r>
            <a:endParaRPr lang="en-US" sz="2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0" name="Shape 3">
            <a:extLst>
              <a:ext uri="{FF2B5EF4-FFF2-40B4-BE49-F238E27FC236}">
                <a16:creationId xmlns:a16="http://schemas.microsoft.com/office/drawing/2014/main" id="{FAB8EF06-ACBF-7F52-8D25-F41D03D03A71}"/>
              </a:ext>
            </a:extLst>
          </p:cNvPr>
          <p:cNvSpPr/>
          <p:nvPr/>
        </p:nvSpPr>
        <p:spPr>
          <a:xfrm>
            <a:off x="411163" y="1050925"/>
            <a:ext cx="4114800" cy="1189038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1" name="Shape 4">
            <a:extLst>
              <a:ext uri="{FF2B5EF4-FFF2-40B4-BE49-F238E27FC236}">
                <a16:creationId xmlns:a16="http://schemas.microsoft.com/office/drawing/2014/main" id="{A2922FE2-E6B3-5A24-4C1D-8395942AE4D1}"/>
              </a:ext>
            </a:extLst>
          </p:cNvPr>
          <p:cNvSpPr/>
          <p:nvPr/>
        </p:nvSpPr>
        <p:spPr>
          <a:xfrm>
            <a:off x="411163" y="1050925"/>
            <a:ext cx="4114800" cy="55563"/>
          </a:xfrm>
          <a:prstGeom prst="rect">
            <a:avLst/>
          </a:prstGeom>
          <a:solidFill>
            <a:srgbClr val="E65100"/>
          </a:solidFill>
          <a:ln w="12600">
            <a:solidFill>
              <a:srgbClr val="E651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000" rIns="90000" bIns="9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2" name="Shape 5">
            <a:extLst>
              <a:ext uri="{FF2B5EF4-FFF2-40B4-BE49-F238E27FC236}">
                <a16:creationId xmlns:a16="http://schemas.microsoft.com/office/drawing/2014/main" id="{D2E1B71A-4F56-3186-C845-CBB7F101ECB6}"/>
              </a:ext>
            </a:extLst>
          </p:cNvPr>
          <p:cNvSpPr/>
          <p:nvPr/>
        </p:nvSpPr>
        <p:spPr>
          <a:xfrm>
            <a:off x="520700" y="1179513"/>
            <a:ext cx="641350" cy="238125"/>
          </a:xfrm>
          <a:prstGeom prst="rect">
            <a:avLst/>
          </a:prstGeom>
          <a:solidFill>
            <a:srgbClr val="E65100"/>
          </a:solidFill>
          <a:ln w="12600">
            <a:solidFill>
              <a:srgbClr val="E651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3" name="Text 6">
            <a:extLst>
              <a:ext uri="{FF2B5EF4-FFF2-40B4-BE49-F238E27FC236}">
                <a16:creationId xmlns:a16="http://schemas.microsoft.com/office/drawing/2014/main" id="{E63C9854-A77C-ABB2-1D57-1E9ED388911E}"/>
              </a:ext>
            </a:extLst>
          </p:cNvPr>
          <p:cNvSpPr/>
          <p:nvPr/>
        </p:nvSpPr>
        <p:spPr>
          <a:xfrm>
            <a:off x="520700" y="1179513"/>
            <a:ext cx="64135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 dirty="0">
                <a:solidFill>
                  <a:schemeClr val="bg1"/>
                </a:solidFill>
                <a:latin typeface="Calibri"/>
              </a:rPr>
              <a:t>Issue</a:t>
            </a:r>
            <a:endParaRPr lang="en-US" sz="10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84" name="Text 7">
            <a:extLst>
              <a:ext uri="{FF2B5EF4-FFF2-40B4-BE49-F238E27FC236}">
                <a16:creationId xmlns:a16="http://schemas.microsoft.com/office/drawing/2014/main" id="{C4BC27B0-70B5-2963-D032-A0EB14A2DD49}"/>
              </a:ext>
            </a:extLst>
          </p:cNvPr>
          <p:cNvSpPr/>
          <p:nvPr/>
        </p:nvSpPr>
        <p:spPr>
          <a:xfrm>
            <a:off x="1252538" y="1179513"/>
            <a:ext cx="3154362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1E3A8A"/>
                </a:solidFill>
                <a:latin typeface="Calibri"/>
              </a:rPr>
              <a:t>Agent Looping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5" name="Text 8">
            <a:extLst>
              <a:ext uri="{FF2B5EF4-FFF2-40B4-BE49-F238E27FC236}">
                <a16:creationId xmlns:a16="http://schemas.microsoft.com/office/drawing/2014/main" id="{FFE47B05-18F9-C548-5FB1-89E6319754DE}"/>
              </a:ext>
            </a:extLst>
          </p:cNvPr>
          <p:cNvSpPr/>
          <p:nvPr/>
        </p:nvSpPr>
        <p:spPr>
          <a:xfrm>
            <a:off x="549275" y="1481138"/>
            <a:ext cx="3840163" cy="7127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 dirty="0">
                <a:solidFill>
                  <a:srgbClr val="1E3A8A"/>
                </a:solidFill>
                <a:latin typeface="Calibri"/>
              </a:rPr>
              <a:t>Agents get stuck in cycles without terminating → Set </a:t>
            </a:r>
            <a:r>
              <a:rPr lang="en-US" sz="1200" spc="-1" dirty="0" err="1">
                <a:solidFill>
                  <a:srgbClr val="1E3A8A"/>
                </a:solidFill>
                <a:latin typeface="Calibri"/>
              </a:rPr>
              <a:t>max_round</a:t>
            </a:r>
            <a:r>
              <a:rPr lang="en-US" sz="1200" spc="-1" dirty="0">
                <a:solidFill>
                  <a:srgbClr val="1E3A8A"/>
                </a:solidFill>
                <a:latin typeface="Calibri"/>
              </a:rPr>
              <a:t>; add explicit TERMINATE conditions; use confidence thresholds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6" name="Shape 9">
            <a:extLst>
              <a:ext uri="{FF2B5EF4-FFF2-40B4-BE49-F238E27FC236}">
                <a16:creationId xmlns:a16="http://schemas.microsoft.com/office/drawing/2014/main" id="{8143DB25-FD93-EC19-4C8D-BFA8C11095E6}"/>
              </a:ext>
            </a:extLst>
          </p:cNvPr>
          <p:cNvSpPr/>
          <p:nvPr/>
        </p:nvSpPr>
        <p:spPr>
          <a:xfrm>
            <a:off x="4708525" y="1050925"/>
            <a:ext cx="4114800" cy="1189038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7" name="Shape 10">
            <a:extLst>
              <a:ext uri="{FF2B5EF4-FFF2-40B4-BE49-F238E27FC236}">
                <a16:creationId xmlns:a16="http://schemas.microsoft.com/office/drawing/2014/main" id="{1F22F9D8-6DCD-D3BF-2B44-677970267D28}"/>
              </a:ext>
            </a:extLst>
          </p:cNvPr>
          <p:cNvSpPr/>
          <p:nvPr/>
        </p:nvSpPr>
        <p:spPr>
          <a:xfrm>
            <a:off x="4708525" y="1050925"/>
            <a:ext cx="4114800" cy="55563"/>
          </a:xfrm>
          <a:prstGeom prst="rect">
            <a:avLst/>
          </a:prstGeom>
          <a:solidFill>
            <a:srgbClr val="E65100"/>
          </a:solidFill>
          <a:ln w="12600">
            <a:solidFill>
              <a:srgbClr val="E651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000" rIns="90000" bIns="9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8" name="Shape 11">
            <a:extLst>
              <a:ext uri="{FF2B5EF4-FFF2-40B4-BE49-F238E27FC236}">
                <a16:creationId xmlns:a16="http://schemas.microsoft.com/office/drawing/2014/main" id="{3B1C3C16-BFFE-4D7E-C515-0863C1396E77}"/>
              </a:ext>
            </a:extLst>
          </p:cNvPr>
          <p:cNvSpPr/>
          <p:nvPr/>
        </p:nvSpPr>
        <p:spPr>
          <a:xfrm>
            <a:off x="4819650" y="1179513"/>
            <a:ext cx="639763" cy="238125"/>
          </a:xfrm>
          <a:prstGeom prst="rect">
            <a:avLst/>
          </a:prstGeom>
          <a:solidFill>
            <a:srgbClr val="E65100"/>
          </a:solidFill>
          <a:ln w="12600">
            <a:solidFill>
              <a:srgbClr val="E651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9" name="Text 12">
            <a:extLst>
              <a:ext uri="{FF2B5EF4-FFF2-40B4-BE49-F238E27FC236}">
                <a16:creationId xmlns:a16="http://schemas.microsoft.com/office/drawing/2014/main" id="{268DA3A3-B2F5-14EC-47CD-24F67696508D}"/>
              </a:ext>
            </a:extLst>
          </p:cNvPr>
          <p:cNvSpPr/>
          <p:nvPr/>
        </p:nvSpPr>
        <p:spPr>
          <a:xfrm>
            <a:off x="4819650" y="1179513"/>
            <a:ext cx="639763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>
                <a:solidFill>
                  <a:schemeClr val="bg1"/>
                </a:solidFill>
                <a:latin typeface="Calibri"/>
              </a:rPr>
              <a:t>Issue</a:t>
            </a:r>
            <a:endParaRPr lang="en-US" sz="10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90" name="Text 13">
            <a:extLst>
              <a:ext uri="{FF2B5EF4-FFF2-40B4-BE49-F238E27FC236}">
                <a16:creationId xmlns:a16="http://schemas.microsoft.com/office/drawing/2014/main" id="{034ADC60-B600-3FFB-6158-039F196EBBE1}"/>
              </a:ext>
            </a:extLst>
          </p:cNvPr>
          <p:cNvSpPr/>
          <p:nvPr/>
        </p:nvSpPr>
        <p:spPr>
          <a:xfrm>
            <a:off x="5549900" y="1179513"/>
            <a:ext cx="315595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Context Overflow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1" name="Text 14">
            <a:extLst>
              <a:ext uri="{FF2B5EF4-FFF2-40B4-BE49-F238E27FC236}">
                <a16:creationId xmlns:a16="http://schemas.microsoft.com/office/drawing/2014/main" id="{AF577118-2AD4-D30D-ACFD-C25232834DB0}"/>
              </a:ext>
            </a:extLst>
          </p:cNvPr>
          <p:cNvSpPr/>
          <p:nvPr/>
        </p:nvSpPr>
        <p:spPr>
          <a:xfrm>
            <a:off x="4846638" y="1481138"/>
            <a:ext cx="3840162" cy="7127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rgbClr val="1E3A8A"/>
                </a:solidFill>
                <a:latin typeface="Calibri"/>
              </a:rPr>
              <a:t>Long conversations exceed LLM context window limits → Summarise older messages; use ConversationSummaryMemory; trim history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2" name="Shape 15">
            <a:extLst>
              <a:ext uri="{FF2B5EF4-FFF2-40B4-BE49-F238E27FC236}">
                <a16:creationId xmlns:a16="http://schemas.microsoft.com/office/drawing/2014/main" id="{BC4B2656-9E04-E6FE-EA21-62270F05F1AD}"/>
              </a:ext>
            </a:extLst>
          </p:cNvPr>
          <p:cNvSpPr/>
          <p:nvPr/>
        </p:nvSpPr>
        <p:spPr>
          <a:xfrm>
            <a:off x="411163" y="2378075"/>
            <a:ext cx="4114800" cy="118745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3" name="Shape 16">
            <a:extLst>
              <a:ext uri="{FF2B5EF4-FFF2-40B4-BE49-F238E27FC236}">
                <a16:creationId xmlns:a16="http://schemas.microsoft.com/office/drawing/2014/main" id="{B1BF9F61-16DB-2D34-A00E-9DDB4B6CFA8C}"/>
              </a:ext>
            </a:extLst>
          </p:cNvPr>
          <p:cNvSpPr/>
          <p:nvPr/>
        </p:nvSpPr>
        <p:spPr>
          <a:xfrm>
            <a:off x="411163" y="2378075"/>
            <a:ext cx="4114800" cy="53975"/>
          </a:xfrm>
          <a:prstGeom prst="rect">
            <a:avLst/>
          </a:prstGeom>
          <a:solidFill>
            <a:srgbClr val="E65100"/>
          </a:solidFill>
          <a:ln w="12600">
            <a:solidFill>
              <a:srgbClr val="E651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4" name="Shape 17">
            <a:extLst>
              <a:ext uri="{FF2B5EF4-FFF2-40B4-BE49-F238E27FC236}">
                <a16:creationId xmlns:a16="http://schemas.microsoft.com/office/drawing/2014/main" id="{20652F95-8338-FEC3-6422-C56898077257}"/>
              </a:ext>
            </a:extLst>
          </p:cNvPr>
          <p:cNvSpPr/>
          <p:nvPr/>
        </p:nvSpPr>
        <p:spPr>
          <a:xfrm>
            <a:off x="520700" y="2505075"/>
            <a:ext cx="641350" cy="238125"/>
          </a:xfrm>
          <a:prstGeom prst="rect">
            <a:avLst/>
          </a:prstGeom>
          <a:solidFill>
            <a:srgbClr val="E65100"/>
          </a:solidFill>
          <a:ln w="12600">
            <a:solidFill>
              <a:srgbClr val="E651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5" name="Text 18">
            <a:extLst>
              <a:ext uri="{FF2B5EF4-FFF2-40B4-BE49-F238E27FC236}">
                <a16:creationId xmlns:a16="http://schemas.microsoft.com/office/drawing/2014/main" id="{36A7B1D7-13DD-CDBC-9F47-4A42ED00EEBA}"/>
              </a:ext>
            </a:extLst>
          </p:cNvPr>
          <p:cNvSpPr/>
          <p:nvPr/>
        </p:nvSpPr>
        <p:spPr>
          <a:xfrm>
            <a:off x="520700" y="2505075"/>
            <a:ext cx="64135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>
                <a:solidFill>
                  <a:schemeClr val="bg1"/>
                </a:solidFill>
                <a:latin typeface="Calibri"/>
              </a:rPr>
              <a:t>Issue</a:t>
            </a:r>
            <a:endParaRPr lang="en-US" sz="10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96" name="Text 19">
            <a:extLst>
              <a:ext uri="{FF2B5EF4-FFF2-40B4-BE49-F238E27FC236}">
                <a16:creationId xmlns:a16="http://schemas.microsoft.com/office/drawing/2014/main" id="{1E5CFBBE-ADC9-04A9-78FE-3AEC89F42C17}"/>
              </a:ext>
            </a:extLst>
          </p:cNvPr>
          <p:cNvSpPr/>
          <p:nvPr/>
        </p:nvSpPr>
        <p:spPr>
          <a:xfrm>
            <a:off x="1252538" y="2505075"/>
            <a:ext cx="3154362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Agent Conflict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7" name="Text 20">
            <a:extLst>
              <a:ext uri="{FF2B5EF4-FFF2-40B4-BE49-F238E27FC236}">
                <a16:creationId xmlns:a16="http://schemas.microsoft.com/office/drawing/2014/main" id="{A07C7833-465D-30AA-EA94-E3BB25471C3A}"/>
              </a:ext>
            </a:extLst>
          </p:cNvPr>
          <p:cNvSpPr/>
          <p:nvPr/>
        </p:nvSpPr>
        <p:spPr>
          <a:xfrm>
            <a:off x="549275" y="2806700"/>
            <a:ext cx="3840163" cy="7143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rgbClr val="1E3A8A"/>
                </a:solidFill>
                <a:latin typeface="Calibri"/>
              </a:rPr>
              <a:t>Multiple agents give contradictory instructions → Clear system prompts; assign distinct roles; use a mediator agent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8" name="Shape 21">
            <a:extLst>
              <a:ext uri="{FF2B5EF4-FFF2-40B4-BE49-F238E27FC236}">
                <a16:creationId xmlns:a16="http://schemas.microsoft.com/office/drawing/2014/main" id="{E8A77B5B-3DF5-34CD-B860-8E20E57BDB38}"/>
              </a:ext>
            </a:extLst>
          </p:cNvPr>
          <p:cNvSpPr/>
          <p:nvPr/>
        </p:nvSpPr>
        <p:spPr>
          <a:xfrm>
            <a:off x="4708525" y="2378075"/>
            <a:ext cx="4114800" cy="118745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9" name="Shape 22">
            <a:extLst>
              <a:ext uri="{FF2B5EF4-FFF2-40B4-BE49-F238E27FC236}">
                <a16:creationId xmlns:a16="http://schemas.microsoft.com/office/drawing/2014/main" id="{5D01BF98-BB2B-2423-BF63-7474BF2C93EE}"/>
              </a:ext>
            </a:extLst>
          </p:cNvPr>
          <p:cNvSpPr/>
          <p:nvPr/>
        </p:nvSpPr>
        <p:spPr>
          <a:xfrm>
            <a:off x="4708525" y="2378075"/>
            <a:ext cx="4114800" cy="53975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0" name="Shape 23">
            <a:extLst>
              <a:ext uri="{FF2B5EF4-FFF2-40B4-BE49-F238E27FC236}">
                <a16:creationId xmlns:a16="http://schemas.microsoft.com/office/drawing/2014/main" id="{B964C57C-FA2B-757F-D6E0-305457F24B7F}"/>
              </a:ext>
            </a:extLst>
          </p:cNvPr>
          <p:cNvSpPr/>
          <p:nvPr/>
        </p:nvSpPr>
        <p:spPr>
          <a:xfrm>
            <a:off x="4819650" y="2505075"/>
            <a:ext cx="639763" cy="238125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1" name="Text 24">
            <a:extLst>
              <a:ext uri="{FF2B5EF4-FFF2-40B4-BE49-F238E27FC236}">
                <a16:creationId xmlns:a16="http://schemas.microsoft.com/office/drawing/2014/main" id="{ECBDD29A-00F0-FE9A-4197-EDA2F040F1FE}"/>
              </a:ext>
            </a:extLst>
          </p:cNvPr>
          <p:cNvSpPr/>
          <p:nvPr/>
        </p:nvSpPr>
        <p:spPr>
          <a:xfrm>
            <a:off x="4819650" y="2505075"/>
            <a:ext cx="639763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>
                <a:solidFill>
                  <a:schemeClr val="bg1"/>
                </a:solidFill>
                <a:latin typeface="Calibri"/>
              </a:rPr>
              <a:t>Tip</a:t>
            </a:r>
            <a:endParaRPr lang="en-US" sz="10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802" name="Text 25">
            <a:extLst>
              <a:ext uri="{FF2B5EF4-FFF2-40B4-BE49-F238E27FC236}">
                <a16:creationId xmlns:a16="http://schemas.microsoft.com/office/drawing/2014/main" id="{0CC8AB5C-16AF-6D4B-B976-9FDD8B68A0C9}"/>
              </a:ext>
            </a:extLst>
          </p:cNvPr>
          <p:cNvSpPr/>
          <p:nvPr/>
        </p:nvSpPr>
        <p:spPr>
          <a:xfrm>
            <a:off x="5549900" y="2505075"/>
            <a:ext cx="315595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Clear Roles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3" name="Text 26">
            <a:extLst>
              <a:ext uri="{FF2B5EF4-FFF2-40B4-BE49-F238E27FC236}">
                <a16:creationId xmlns:a16="http://schemas.microsoft.com/office/drawing/2014/main" id="{B5244FE2-9A10-CD46-8497-72B79BCE9B00}"/>
              </a:ext>
            </a:extLst>
          </p:cNvPr>
          <p:cNvSpPr/>
          <p:nvPr/>
        </p:nvSpPr>
        <p:spPr>
          <a:xfrm>
            <a:off x="4846638" y="2806700"/>
            <a:ext cx="3840162" cy="7143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rgbClr val="1E3A8A"/>
                </a:solidFill>
                <a:latin typeface="Calibri"/>
              </a:rPr>
              <a:t>Each agent should have one well-defined responsibility. Write precise system_message; avoid role overlap; test in isolation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4" name="Shape 27">
            <a:extLst>
              <a:ext uri="{FF2B5EF4-FFF2-40B4-BE49-F238E27FC236}">
                <a16:creationId xmlns:a16="http://schemas.microsoft.com/office/drawing/2014/main" id="{E7ADD69B-1251-DB5A-E6E3-D36160AAEE06}"/>
              </a:ext>
            </a:extLst>
          </p:cNvPr>
          <p:cNvSpPr/>
          <p:nvPr/>
        </p:nvSpPr>
        <p:spPr>
          <a:xfrm>
            <a:off x="411163" y="3703638"/>
            <a:ext cx="4114800" cy="1189037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5" name="Shape 28">
            <a:extLst>
              <a:ext uri="{FF2B5EF4-FFF2-40B4-BE49-F238E27FC236}">
                <a16:creationId xmlns:a16="http://schemas.microsoft.com/office/drawing/2014/main" id="{8EA8E124-0F9D-E237-B091-88AA0DAA64D0}"/>
              </a:ext>
            </a:extLst>
          </p:cNvPr>
          <p:cNvSpPr/>
          <p:nvPr/>
        </p:nvSpPr>
        <p:spPr>
          <a:xfrm>
            <a:off x="411163" y="3703638"/>
            <a:ext cx="4114800" cy="53975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6" name="Shape 29">
            <a:extLst>
              <a:ext uri="{FF2B5EF4-FFF2-40B4-BE49-F238E27FC236}">
                <a16:creationId xmlns:a16="http://schemas.microsoft.com/office/drawing/2014/main" id="{7067D738-C525-A695-7B1E-B206506B894F}"/>
              </a:ext>
            </a:extLst>
          </p:cNvPr>
          <p:cNvSpPr/>
          <p:nvPr/>
        </p:nvSpPr>
        <p:spPr>
          <a:xfrm>
            <a:off x="520700" y="3830638"/>
            <a:ext cx="641350" cy="238125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7" name="Text 30">
            <a:extLst>
              <a:ext uri="{FF2B5EF4-FFF2-40B4-BE49-F238E27FC236}">
                <a16:creationId xmlns:a16="http://schemas.microsoft.com/office/drawing/2014/main" id="{4E81CB7F-0757-2D13-A8B5-1D209F5EAC4A}"/>
              </a:ext>
            </a:extLst>
          </p:cNvPr>
          <p:cNvSpPr/>
          <p:nvPr/>
        </p:nvSpPr>
        <p:spPr>
          <a:xfrm>
            <a:off x="520700" y="3830638"/>
            <a:ext cx="64135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>
                <a:solidFill>
                  <a:schemeClr val="bg1"/>
                </a:solidFill>
                <a:latin typeface="Calibri"/>
              </a:rPr>
              <a:t>Tip</a:t>
            </a:r>
            <a:endParaRPr lang="en-US" sz="10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808" name="Text 31">
            <a:extLst>
              <a:ext uri="{FF2B5EF4-FFF2-40B4-BE49-F238E27FC236}">
                <a16:creationId xmlns:a16="http://schemas.microsoft.com/office/drawing/2014/main" id="{E350E021-F461-9A80-0B6D-A230D7181518}"/>
              </a:ext>
            </a:extLst>
          </p:cNvPr>
          <p:cNvSpPr/>
          <p:nvPr/>
        </p:nvSpPr>
        <p:spPr>
          <a:xfrm>
            <a:off x="1252538" y="3830638"/>
            <a:ext cx="3154362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Trace &amp; Debug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9" name="Text 32">
            <a:extLst>
              <a:ext uri="{FF2B5EF4-FFF2-40B4-BE49-F238E27FC236}">
                <a16:creationId xmlns:a16="http://schemas.microsoft.com/office/drawing/2014/main" id="{58AA9C7D-D02A-18DC-C4BA-D6C9EC97294C}"/>
              </a:ext>
            </a:extLst>
          </p:cNvPr>
          <p:cNvSpPr/>
          <p:nvPr/>
        </p:nvSpPr>
        <p:spPr>
          <a:xfrm>
            <a:off x="549275" y="4133850"/>
            <a:ext cx="3840163" cy="71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rgbClr val="1E3A8A"/>
                </a:solidFill>
                <a:latin typeface="Calibri"/>
              </a:rPr>
              <a:t>Multi-agent bugs are hard to find without tooling → LangSmith for LangGraph; AutoGen Studio for AutoGen; log every message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0" name="Shape 33">
            <a:extLst>
              <a:ext uri="{FF2B5EF4-FFF2-40B4-BE49-F238E27FC236}">
                <a16:creationId xmlns:a16="http://schemas.microsoft.com/office/drawing/2014/main" id="{DF680021-F11F-C1C2-C0F8-F4ED285C1E28}"/>
              </a:ext>
            </a:extLst>
          </p:cNvPr>
          <p:cNvSpPr/>
          <p:nvPr/>
        </p:nvSpPr>
        <p:spPr>
          <a:xfrm>
            <a:off x="4708525" y="3703638"/>
            <a:ext cx="4114800" cy="1189037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1" name="Shape 34">
            <a:extLst>
              <a:ext uri="{FF2B5EF4-FFF2-40B4-BE49-F238E27FC236}">
                <a16:creationId xmlns:a16="http://schemas.microsoft.com/office/drawing/2014/main" id="{EAD0EDE4-6996-E215-39B4-A5372C9F95A6}"/>
              </a:ext>
            </a:extLst>
          </p:cNvPr>
          <p:cNvSpPr/>
          <p:nvPr/>
        </p:nvSpPr>
        <p:spPr>
          <a:xfrm>
            <a:off x="4708525" y="3703638"/>
            <a:ext cx="4114800" cy="53975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2" name="Shape 35">
            <a:extLst>
              <a:ext uri="{FF2B5EF4-FFF2-40B4-BE49-F238E27FC236}">
                <a16:creationId xmlns:a16="http://schemas.microsoft.com/office/drawing/2014/main" id="{02293CFD-2612-1CB9-7D0F-0187824BF9ED}"/>
              </a:ext>
            </a:extLst>
          </p:cNvPr>
          <p:cNvSpPr/>
          <p:nvPr/>
        </p:nvSpPr>
        <p:spPr>
          <a:xfrm>
            <a:off x="4819650" y="3830638"/>
            <a:ext cx="639763" cy="238125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3" name="Text 36">
            <a:extLst>
              <a:ext uri="{FF2B5EF4-FFF2-40B4-BE49-F238E27FC236}">
                <a16:creationId xmlns:a16="http://schemas.microsoft.com/office/drawing/2014/main" id="{98C7160B-1B05-A53F-0C16-F1B5BEC936B2}"/>
              </a:ext>
            </a:extLst>
          </p:cNvPr>
          <p:cNvSpPr/>
          <p:nvPr/>
        </p:nvSpPr>
        <p:spPr>
          <a:xfrm>
            <a:off x="4819650" y="3830638"/>
            <a:ext cx="639763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>
                <a:solidFill>
                  <a:schemeClr val="bg1"/>
                </a:solidFill>
                <a:latin typeface="Calibri"/>
              </a:rPr>
              <a:t>Tip</a:t>
            </a:r>
            <a:endParaRPr lang="en-US" sz="10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814" name="Text 37">
            <a:extLst>
              <a:ext uri="{FF2B5EF4-FFF2-40B4-BE49-F238E27FC236}">
                <a16:creationId xmlns:a16="http://schemas.microsoft.com/office/drawing/2014/main" id="{9D278229-5FED-0851-9490-C30173BCF86F}"/>
              </a:ext>
            </a:extLst>
          </p:cNvPr>
          <p:cNvSpPr/>
          <p:nvPr/>
        </p:nvSpPr>
        <p:spPr>
          <a:xfrm>
            <a:off x="5549900" y="3830638"/>
            <a:ext cx="3155950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Test Agents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5" name="Text 38">
            <a:extLst>
              <a:ext uri="{FF2B5EF4-FFF2-40B4-BE49-F238E27FC236}">
                <a16:creationId xmlns:a16="http://schemas.microsoft.com/office/drawing/2014/main" id="{CF4C82CE-1BBC-2343-611B-316537C9D890}"/>
              </a:ext>
            </a:extLst>
          </p:cNvPr>
          <p:cNvSpPr/>
          <p:nvPr/>
        </p:nvSpPr>
        <p:spPr>
          <a:xfrm>
            <a:off x="4846638" y="4133850"/>
            <a:ext cx="3840162" cy="71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spc="-1">
                <a:solidFill>
                  <a:srgbClr val="1E3A8A"/>
                </a:solidFill>
                <a:latin typeface="Calibri"/>
              </a:rPr>
              <a:t>Agentic outputs are non-deterministic by default → Unit test each node/agent separately; use mock LLMs; set seed for evals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3289" name="Picture 1">
            <a:extLst>
              <a:ext uri="{FF2B5EF4-FFF2-40B4-BE49-F238E27FC236}">
                <a16:creationId xmlns:a16="http://schemas.microsoft.com/office/drawing/2014/main" id="{D2B7DCDF-0AC0-CF32-88CD-7ECB93924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01600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0" grpId="0" animBg="1"/>
      <p:bldP spid="781" grpId="0" animBg="1"/>
      <p:bldP spid="782" grpId="0" animBg="1"/>
      <p:bldP spid="783" grpId="0"/>
      <p:bldP spid="784" grpId="0"/>
      <p:bldP spid="785" grpId="0"/>
      <p:bldP spid="786" grpId="0" animBg="1"/>
      <p:bldP spid="787" grpId="0" animBg="1"/>
      <p:bldP spid="788" grpId="0" animBg="1"/>
      <p:bldP spid="789" grpId="0"/>
      <p:bldP spid="790" grpId="0"/>
      <p:bldP spid="791" grpId="0"/>
      <p:bldP spid="792" grpId="0" animBg="1"/>
      <p:bldP spid="793" grpId="0" animBg="1"/>
      <p:bldP spid="794" grpId="0" animBg="1"/>
      <p:bldP spid="795" grpId="0"/>
      <p:bldP spid="796" grpId="0"/>
      <p:bldP spid="797" grpId="0"/>
      <p:bldP spid="798" grpId="0" animBg="1"/>
      <p:bldP spid="799" grpId="0" animBg="1"/>
      <p:bldP spid="800" grpId="0" animBg="1"/>
      <p:bldP spid="801" grpId="0"/>
      <p:bldP spid="802" grpId="0"/>
      <p:bldP spid="803" grpId="0"/>
      <p:bldP spid="804" grpId="0" animBg="1"/>
      <p:bldP spid="805" grpId="0" animBg="1"/>
      <p:bldP spid="806" grpId="0" animBg="1"/>
      <p:bldP spid="807" grpId="0"/>
      <p:bldP spid="808" grpId="0"/>
      <p:bldP spid="809" grpId="0"/>
      <p:bldP spid="810" grpId="0" animBg="1"/>
      <p:bldP spid="811" grpId="0" animBg="1"/>
      <p:bldP spid="812" grpId="0" animBg="1"/>
      <p:bldP spid="813" grpId="0"/>
      <p:bldP spid="814" grpId="0"/>
      <p:bldP spid="8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Shape 0">
            <a:extLst>
              <a:ext uri="{FF2B5EF4-FFF2-40B4-BE49-F238E27FC236}">
                <a16:creationId xmlns:a16="http://schemas.microsoft.com/office/drawing/2014/main" id="{5D2BA7DE-556E-51F4-915F-9BB18ECFE4F2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8" name="Text 1">
            <a:extLst>
              <a:ext uri="{FF2B5EF4-FFF2-40B4-BE49-F238E27FC236}">
                <a16:creationId xmlns:a16="http://schemas.microsoft.com/office/drawing/2014/main" id="{DCA241D1-2E1A-B428-6E57-CB06A6975BFF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>
                <a:solidFill>
                  <a:srgbClr val="1E3A8A"/>
                </a:solidFill>
                <a:latin typeface="Calibri"/>
              </a:rPr>
              <a:t>PRODUCTION</a:t>
            </a:r>
            <a:endParaRPr lang="en-US" sz="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9" name="Text 2">
            <a:extLst>
              <a:ext uri="{FF2B5EF4-FFF2-40B4-BE49-F238E27FC236}">
                <a16:creationId xmlns:a16="http://schemas.microsoft.com/office/drawing/2014/main" id="{6D4FDD49-4817-1342-B9BD-5FA190EB7EBF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200" b="1" spc="-1">
                <a:solidFill>
                  <a:srgbClr val="1E3A8A"/>
                </a:solidFill>
                <a:latin typeface="Calibri"/>
              </a:rPr>
              <a:t>Taking Agents to Production</a:t>
            </a:r>
            <a:endParaRPr lang="en-US" sz="2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0" name="Text 3">
            <a:extLst>
              <a:ext uri="{FF2B5EF4-FFF2-40B4-BE49-F238E27FC236}">
                <a16:creationId xmlns:a16="http://schemas.microsoft.com/office/drawing/2014/main" id="{E38DA7B9-41B4-0BEA-AC65-24A623FBE260}"/>
              </a:ext>
            </a:extLst>
          </p:cNvPr>
          <p:cNvSpPr/>
          <p:nvPr/>
        </p:nvSpPr>
        <p:spPr>
          <a:xfrm>
            <a:off x="457200" y="960438"/>
            <a:ext cx="8229600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spc="-1" dirty="0">
                <a:solidFill>
                  <a:srgbClr val="1E3A8A"/>
                </a:solidFill>
                <a:latin typeface="Calibri"/>
              </a:rPr>
              <a:t>Key considerations before deploying multi-agent systems in real environments:</a:t>
            </a:r>
            <a:endParaRPr lang="en-US" sz="13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1" name="Shape 4">
            <a:extLst>
              <a:ext uri="{FF2B5EF4-FFF2-40B4-BE49-F238E27FC236}">
                <a16:creationId xmlns:a16="http://schemas.microsoft.com/office/drawing/2014/main" id="{0F2144F2-58C7-710D-D0E7-176A3A322F84}"/>
              </a:ext>
            </a:extLst>
          </p:cNvPr>
          <p:cNvSpPr/>
          <p:nvPr/>
        </p:nvSpPr>
        <p:spPr>
          <a:xfrm>
            <a:off x="411163" y="1298575"/>
            <a:ext cx="274320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2" name="Shape 5">
            <a:extLst>
              <a:ext uri="{FF2B5EF4-FFF2-40B4-BE49-F238E27FC236}">
                <a16:creationId xmlns:a16="http://schemas.microsoft.com/office/drawing/2014/main" id="{C8776496-D3CB-1789-884E-77ACB4C98090}"/>
              </a:ext>
            </a:extLst>
          </p:cNvPr>
          <p:cNvSpPr/>
          <p:nvPr/>
        </p:nvSpPr>
        <p:spPr>
          <a:xfrm>
            <a:off x="411163" y="1298575"/>
            <a:ext cx="2743200" cy="53975"/>
          </a:xfrm>
          <a:prstGeom prst="rect">
            <a:avLst/>
          </a:prstGeom>
          <a:solidFill>
            <a:srgbClr val="E65100"/>
          </a:solidFill>
          <a:ln w="12600">
            <a:solidFill>
              <a:srgbClr val="E651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3" name="Text 6">
            <a:extLst>
              <a:ext uri="{FF2B5EF4-FFF2-40B4-BE49-F238E27FC236}">
                <a16:creationId xmlns:a16="http://schemas.microsoft.com/office/drawing/2014/main" id="{373B38D3-27A6-E1A9-8931-FA4F610C6932}"/>
              </a:ext>
            </a:extLst>
          </p:cNvPr>
          <p:cNvSpPr/>
          <p:nvPr/>
        </p:nvSpPr>
        <p:spPr>
          <a:xfrm>
            <a:off x="520700" y="1427163"/>
            <a:ext cx="2524125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1E3A8A"/>
                </a:solidFill>
                <a:latin typeface="Calibri"/>
              </a:rPr>
              <a:t>Cost Management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4" name="Text 7">
            <a:extLst>
              <a:ext uri="{FF2B5EF4-FFF2-40B4-BE49-F238E27FC236}">
                <a16:creationId xmlns:a16="http://schemas.microsoft.com/office/drawing/2014/main" id="{5A33080A-AEE2-2BC3-8E19-4497FB8A3C1D}"/>
              </a:ext>
            </a:extLst>
          </p:cNvPr>
          <p:cNvSpPr/>
          <p:nvPr/>
        </p:nvSpPr>
        <p:spPr>
          <a:xfrm>
            <a:off x="520700" y="1719263"/>
            <a:ext cx="2524125" cy="10969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 dirty="0">
                <a:solidFill>
                  <a:srgbClr val="1E3A8A"/>
                </a:solidFill>
                <a:latin typeface="Calibri"/>
              </a:rPr>
              <a:t>Track token usage per agent per run. Use GPT-3.5 for fast tasks, GPT-4 for quality-critical steps. Set hard spending limits.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5" name="Shape 8">
            <a:extLst>
              <a:ext uri="{FF2B5EF4-FFF2-40B4-BE49-F238E27FC236}">
                <a16:creationId xmlns:a16="http://schemas.microsoft.com/office/drawing/2014/main" id="{0F35AFF1-41D8-CA57-9DA2-9118B626379B}"/>
              </a:ext>
            </a:extLst>
          </p:cNvPr>
          <p:cNvSpPr/>
          <p:nvPr/>
        </p:nvSpPr>
        <p:spPr>
          <a:xfrm>
            <a:off x="3336925" y="1298575"/>
            <a:ext cx="274320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6" name="Shape 9">
            <a:extLst>
              <a:ext uri="{FF2B5EF4-FFF2-40B4-BE49-F238E27FC236}">
                <a16:creationId xmlns:a16="http://schemas.microsoft.com/office/drawing/2014/main" id="{320BC4CE-4C3D-1C60-126D-1E1144A97B68}"/>
              </a:ext>
            </a:extLst>
          </p:cNvPr>
          <p:cNvSpPr/>
          <p:nvPr/>
        </p:nvSpPr>
        <p:spPr>
          <a:xfrm>
            <a:off x="3336925" y="1298575"/>
            <a:ext cx="2743200" cy="53975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7" name="Text 10">
            <a:extLst>
              <a:ext uri="{FF2B5EF4-FFF2-40B4-BE49-F238E27FC236}">
                <a16:creationId xmlns:a16="http://schemas.microsoft.com/office/drawing/2014/main" id="{CC7E5708-C759-0449-56ED-34AF6A7C0AE5}"/>
              </a:ext>
            </a:extLst>
          </p:cNvPr>
          <p:cNvSpPr/>
          <p:nvPr/>
        </p:nvSpPr>
        <p:spPr>
          <a:xfrm>
            <a:off x="3448050" y="1427163"/>
            <a:ext cx="2522538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Latency Optimization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8" name="Text 11">
            <a:extLst>
              <a:ext uri="{FF2B5EF4-FFF2-40B4-BE49-F238E27FC236}">
                <a16:creationId xmlns:a16="http://schemas.microsoft.com/office/drawing/2014/main" id="{1E49E963-6871-9961-1557-48C9D8F764C9}"/>
              </a:ext>
            </a:extLst>
          </p:cNvPr>
          <p:cNvSpPr/>
          <p:nvPr/>
        </p:nvSpPr>
        <p:spPr>
          <a:xfrm>
            <a:off x="3448050" y="1719263"/>
            <a:ext cx="2522538" cy="10969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Parallelize independent agents with asyncio. Use streaming responses. Cache repeated retrievals in vector DB.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9" name="Shape 12">
            <a:extLst>
              <a:ext uri="{FF2B5EF4-FFF2-40B4-BE49-F238E27FC236}">
                <a16:creationId xmlns:a16="http://schemas.microsoft.com/office/drawing/2014/main" id="{01CE5383-BA20-B2A4-B140-6FD29DD6F836}"/>
              </a:ext>
            </a:extLst>
          </p:cNvPr>
          <p:cNvSpPr/>
          <p:nvPr/>
        </p:nvSpPr>
        <p:spPr>
          <a:xfrm>
            <a:off x="6264275" y="1298575"/>
            <a:ext cx="274320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0" name="Shape 13">
            <a:extLst>
              <a:ext uri="{FF2B5EF4-FFF2-40B4-BE49-F238E27FC236}">
                <a16:creationId xmlns:a16="http://schemas.microsoft.com/office/drawing/2014/main" id="{F8B75074-33FD-90D4-56AE-4CD466DDFBAB}"/>
              </a:ext>
            </a:extLst>
          </p:cNvPr>
          <p:cNvSpPr/>
          <p:nvPr/>
        </p:nvSpPr>
        <p:spPr>
          <a:xfrm>
            <a:off x="6264275" y="1298575"/>
            <a:ext cx="2743200" cy="53975"/>
          </a:xfrm>
          <a:prstGeom prst="rect">
            <a:avLst/>
          </a:prstGeom>
          <a:solidFill>
            <a:srgbClr val="B71C1C"/>
          </a:solidFill>
          <a:ln w="12600">
            <a:solidFill>
              <a:srgbClr val="B71C1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1" name="Text 14">
            <a:extLst>
              <a:ext uri="{FF2B5EF4-FFF2-40B4-BE49-F238E27FC236}">
                <a16:creationId xmlns:a16="http://schemas.microsoft.com/office/drawing/2014/main" id="{EFC42896-04BA-6F81-33BE-9F3009D33153}"/>
              </a:ext>
            </a:extLst>
          </p:cNvPr>
          <p:cNvSpPr/>
          <p:nvPr/>
        </p:nvSpPr>
        <p:spPr>
          <a:xfrm>
            <a:off x="6373813" y="1427163"/>
            <a:ext cx="2522537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Error Handling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2" name="Text 15">
            <a:extLst>
              <a:ext uri="{FF2B5EF4-FFF2-40B4-BE49-F238E27FC236}">
                <a16:creationId xmlns:a16="http://schemas.microsoft.com/office/drawing/2014/main" id="{202A727A-5CA8-8DF1-1918-4F04F142A5B3}"/>
              </a:ext>
            </a:extLst>
          </p:cNvPr>
          <p:cNvSpPr/>
          <p:nvPr/>
        </p:nvSpPr>
        <p:spPr>
          <a:xfrm>
            <a:off x="6373813" y="1719263"/>
            <a:ext cx="2522537" cy="10969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Add try/catch around every LLM call. Implement fallback agents. Log failed runs for replay and debugging.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3" name="Shape 16">
            <a:extLst>
              <a:ext uri="{FF2B5EF4-FFF2-40B4-BE49-F238E27FC236}">
                <a16:creationId xmlns:a16="http://schemas.microsoft.com/office/drawing/2014/main" id="{DF2A4FA4-CEAE-FFF4-5224-659299FDEF5B}"/>
              </a:ext>
            </a:extLst>
          </p:cNvPr>
          <p:cNvSpPr/>
          <p:nvPr/>
        </p:nvSpPr>
        <p:spPr>
          <a:xfrm>
            <a:off x="411163" y="3154363"/>
            <a:ext cx="274320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4" name="Shape 17">
            <a:extLst>
              <a:ext uri="{FF2B5EF4-FFF2-40B4-BE49-F238E27FC236}">
                <a16:creationId xmlns:a16="http://schemas.microsoft.com/office/drawing/2014/main" id="{9B3C5882-2669-D5F0-5BA5-2FC0EC93708B}"/>
              </a:ext>
            </a:extLst>
          </p:cNvPr>
          <p:cNvSpPr/>
          <p:nvPr/>
        </p:nvSpPr>
        <p:spPr>
          <a:xfrm>
            <a:off x="411163" y="3154363"/>
            <a:ext cx="2743200" cy="55562"/>
          </a:xfrm>
          <a:prstGeom prst="rect">
            <a:avLst/>
          </a:prstGeom>
          <a:solidFill>
            <a:srgbClr val="37474F"/>
          </a:solidFill>
          <a:ln w="12600">
            <a:solidFill>
              <a:srgbClr val="37474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640" rIns="90000" bIns="86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5" name="Text 18">
            <a:extLst>
              <a:ext uri="{FF2B5EF4-FFF2-40B4-BE49-F238E27FC236}">
                <a16:creationId xmlns:a16="http://schemas.microsoft.com/office/drawing/2014/main" id="{BB115C2D-8E8F-CBF7-4B72-7D3E1F11FAE5}"/>
              </a:ext>
            </a:extLst>
          </p:cNvPr>
          <p:cNvSpPr/>
          <p:nvPr/>
        </p:nvSpPr>
        <p:spPr>
          <a:xfrm>
            <a:off x="520700" y="3282950"/>
            <a:ext cx="2524125" cy="255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Security &amp; Safety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6" name="Text 19">
            <a:extLst>
              <a:ext uri="{FF2B5EF4-FFF2-40B4-BE49-F238E27FC236}">
                <a16:creationId xmlns:a16="http://schemas.microsoft.com/office/drawing/2014/main" id="{D03B347A-86EC-D98D-7E21-5704D3D2C21D}"/>
              </a:ext>
            </a:extLst>
          </p:cNvPr>
          <p:cNvSpPr/>
          <p:nvPr/>
        </p:nvSpPr>
        <p:spPr>
          <a:xfrm>
            <a:off x="520700" y="3575050"/>
            <a:ext cx="2524125" cy="1096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Sandbox code execution. Validate tool call outputs. Scope tool permissions per agent. Never expose credentials in prompts.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7" name="Shape 20">
            <a:extLst>
              <a:ext uri="{FF2B5EF4-FFF2-40B4-BE49-F238E27FC236}">
                <a16:creationId xmlns:a16="http://schemas.microsoft.com/office/drawing/2014/main" id="{11F6F692-6EC4-ECA8-F892-4B7E77064998}"/>
              </a:ext>
            </a:extLst>
          </p:cNvPr>
          <p:cNvSpPr/>
          <p:nvPr/>
        </p:nvSpPr>
        <p:spPr>
          <a:xfrm>
            <a:off x="3336925" y="3154363"/>
            <a:ext cx="274320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8" name="Shape 21">
            <a:extLst>
              <a:ext uri="{FF2B5EF4-FFF2-40B4-BE49-F238E27FC236}">
                <a16:creationId xmlns:a16="http://schemas.microsoft.com/office/drawing/2014/main" id="{0F0864DB-E626-7793-5475-01F48CE4CD3F}"/>
              </a:ext>
            </a:extLst>
          </p:cNvPr>
          <p:cNvSpPr/>
          <p:nvPr/>
        </p:nvSpPr>
        <p:spPr>
          <a:xfrm>
            <a:off x="3336925" y="3154363"/>
            <a:ext cx="2743200" cy="55562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640" rIns="90000" bIns="86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9" name="Text 22">
            <a:extLst>
              <a:ext uri="{FF2B5EF4-FFF2-40B4-BE49-F238E27FC236}">
                <a16:creationId xmlns:a16="http://schemas.microsoft.com/office/drawing/2014/main" id="{D57E73A0-CF6E-6A19-8B10-8E55066CAA08}"/>
              </a:ext>
            </a:extLst>
          </p:cNvPr>
          <p:cNvSpPr/>
          <p:nvPr/>
        </p:nvSpPr>
        <p:spPr>
          <a:xfrm>
            <a:off x="3448050" y="3282950"/>
            <a:ext cx="2522538" cy="255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Observability Stack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0" name="Text 23">
            <a:extLst>
              <a:ext uri="{FF2B5EF4-FFF2-40B4-BE49-F238E27FC236}">
                <a16:creationId xmlns:a16="http://schemas.microsoft.com/office/drawing/2014/main" id="{C3C4AD53-7065-9BB5-99D0-CD63F6A35C13}"/>
              </a:ext>
            </a:extLst>
          </p:cNvPr>
          <p:cNvSpPr/>
          <p:nvPr/>
        </p:nvSpPr>
        <p:spPr>
          <a:xfrm>
            <a:off x="3448050" y="3575050"/>
            <a:ext cx="2522538" cy="1096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LangSmith for LangGraph traces. AutoGen Studio for conversation visualization. Prometheus + Grafana for system metrics.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1" name="Shape 24">
            <a:extLst>
              <a:ext uri="{FF2B5EF4-FFF2-40B4-BE49-F238E27FC236}">
                <a16:creationId xmlns:a16="http://schemas.microsoft.com/office/drawing/2014/main" id="{B1798A15-6334-D5EB-1849-4E25B2FF50E8}"/>
              </a:ext>
            </a:extLst>
          </p:cNvPr>
          <p:cNvSpPr/>
          <p:nvPr/>
        </p:nvSpPr>
        <p:spPr>
          <a:xfrm>
            <a:off x="6264275" y="3154363"/>
            <a:ext cx="2743200" cy="160020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2" name="Shape 25">
            <a:extLst>
              <a:ext uri="{FF2B5EF4-FFF2-40B4-BE49-F238E27FC236}">
                <a16:creationId xmlns:a16="http://schemas.microsoft.com/office/drawing/2014/main" id="{7D02229D-1696-3D35-48B8-F47E042C3EB6}"/>
              </a:ext>
            </a:extLst>
          </p:cNvPr>
          <p:cNvSpPr/>
          <p:nvPr/>
        </p:nvSpPr>
        <p:spPr>
          <a:xfrm>
            <a:off x="6264275" y="3154363"/>
            <a:ext cx="2743200" cy="55562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640" rIns="90000" bIns="86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3" name="Text 26">
            <a:extLst>
              <a:ext uri="{FF2B5EF4-FFF2-40B4-BE49-F238E27FC236}">
                <a16:creationId xmlns:a16="http://schemas.microsoft.com/office/drawing/2014/main" id="{5E25CE11-AA3D-D8E4-88A7-FEDA0C443185}"/>
              </a:ext>
            </a:extLst>
          </p:cNvPr>
          <p:cNvSpPr/>
          <p:nvPr/>
        </p:nvSpPr>
        <p:spPr>
          <a:xfrm>
            <a:off x="6373813" y="3282950"/>
            <a:ext cx="2522537" cy="255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Containerization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4" name="Text 27">
            <a:extLst>
              <a:ext uri="{FF2B5EF4-FFF2-40B4-BE49-F238E27FC236}">
                <a16:creationId xmlns:a16="http://schemas.microsoft.com/office/drawing/2014/main" id="{808B4806-4236-3B8C-E1EE-13A16BCAB67B}"/>
              </a:ext>
            </a:extLst>
          </p:cNvPr>
          <p:cNvSpPr/>
          <p:nvPr/>
        </p:nvSpPr>
        <p:spPr>
          <a:xfrm>
            <a:off x="6373813" y="3575050"/>
            <a:ext cx="2522537" cy="1096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Package agents as Docker containers. Deploy to Kubernetes. Use Helm charts for reproducible multi-agent deployments.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5326" name="Picture 1">
            <a:extLst>
              <a:ext uri="{FF2B5EF4-FFF2-40B4-BE49-F238E27FC236}">
                <a16:creationId xmlns:a16="http://schemas.microsoft.com/office/drawing/2014/main" id="{3D32F4CB-585F-57D9-1C88-993DCCCC5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60338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" grpId="0" animBg="1"/>
      <p:bldP spid="822" grpId="0" animBg="1"/>
      <p:bldP spid="823" grpId="0"/>
      <p:bldP spid="824" grpId="0"/>
      <p:bldP spid="825" grpId="0" animBg="1"/>
      <p:bldP spid="826" grpId="0" animBg="1"/>
      <p:bldP spid="827" grpId="0"/>
      <p:bldP spid="828" grpId="0"/>
      <p:bldP spid="829" grpId="0" animBg="1"/>
      <p:bldP spid="830" grpId="0" animBg="1"/>
      <p:bldP spid="831" grpId="0"/>
      <p:bldP spid="832" grpId="0"/>
      <p:bldP spid="833" grpId="0" animBg="1"/>
      <p:bldP spid="834" grpId="0" animBg="1"/>
      <p:bldP spid="835" grpId="0"/>
      <p:bldP spid="836" grpId="0"/>
      <p:bldP spid="837" grpId="0" animBg="1"/>
      <p:bldP spid="838" grpId="0" animBg="1"/>
      <p:bldP spid="839" grpId="0"/>
      <p:bldP spid="840" grpId="0"/>
      <p:bldP spid="841" grpId="0" animBg="1"/>
      <p:bldP spid="842" grpId="0" animBg="1"/>
      <p:bldP spid="843" grpId="0"/>
      <p:bldP spid="84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Shape 0">
            <a:extLst>
              <a:ext uri="{FF2B5EF4-FFF2-40B4-BE49-F238E27FC236}">
                <a16:creationId xmlns:a16="http://schemas.microsoft.com/office/drawing/2014/main" id="{EDDBE32C-B2A5-D863-0AB2-13083170AD1B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7" name="Text 1">
            <a:extLst>
              <a:ext uri="{FF2B5EF4-FFF2-40B4-BE49-F238E27FC236}">
                <a16:creationId xmlns:a16="http://schemas.microsoft.com/office/drawing/2014/main" id="{55D4F8A4-CFF8-DCCE-AFDC-FF03FEA2E39B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>
                <a:solidFill>
                  <a:srgbClr val="1E3A8A"/>
                </a:solidFill>
                <a:latin typeface="Calibri"/>
              </a:rPr>
              <a:t>USE CASES</a:t>
            </a:r>
            <a:endParaRPr lang="en-US" sz="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8" name="Text 2">
            <a:extLst>
              <a:ext uri="{FF2B5EF4-FFF2-40B4-BE49-F238E27FC236}">
                <a16:creationId xmlns:a16="http://schemas.microsoft.com/office/drawing/2014/main" id="{01C95EE0-7EE0-6D7E-839C-8270E1C08A9A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200" b="1" spc="-1">
                <a:solidFill>
                  <a:srgbClr val="1E3A8A"/>
                </a:solidFill>
                <a:latin typeface="Calibri"/>
              </a:rPr>
              <a:t>Real-World Multi-Agent Applications</a:t>
            </a:r>
            <a:endParaRPr lang="en-US" sz="2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9" name="Text 3">
            <a:extLst>
              <a:ext uri="{FF2B5EF4-FFF2-40B4-BE49-F238E27FC236}">
                <a16:creationId xmlns:a16="http://schemas.microsoft.com/office/drawing/2014/main" id="{53E6918B-1DD5-3948-6160-EDF2B5EE6458}"/>
              </a:ext>
            </a:extLst>
          </p:cNvPr>
          <p:cNvSpPr/>
          <p:nvPr/>
        </p:nvSpPr>
        <p:spPr>
          <a:xfrm>
            <a:off x="457200" y="960438"/>
            <a:ext cx="8229600" cy="2555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spc="-1" dirty="0">
                <a:solidFill>
                  <a:srgbClr val="1E3A8A"/>
                </a:solidFill>
                <a:latin typeface="Calibri"/>
              </a:rPr>
              <a:t>Where these systems are being deployed today - industry applications:</a:t>
            </a:r>
            <a:endParaRPr lang="en-US" sz="13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0" name="Shape 4">
            <a:extLst>
              <a:ext uri="{FF2B5EF4-FFF2-40B4-BE49-F238E27FC236}">
                <a16:creationId xmlns:a16="http://schemas.microsoft.com/office/drawing/2014/main" id="{AF6EB3AF-55CC-64D8-6EF0-DBB50685C2D3}"/>
              </a:ext>
            </a:extLst>
          </p:cNvPr>
          <p:cNvSpPr/>
          <p:nvPr/>
        </p:nvSpPr>
        <p:spPr>
          <a:xfrm>
            <a:off x="411163" y="1298575"/>
            <a:ext cx="4114800" cy="1133475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1" name="Shape 5">
            <a:extLst>
              <a:ext uri="{FF2B5EF4-FFF2-40B4-BE49-F238E27FC236}">
                <a16:creationId xmlns:a16="http://schemas.microsoft.com/office/drawing/2014/main" id="{1EC0DC41-7B8D-F12C-B884-D85A94442D87}"/>
              </a:ext>
            </a:extLst>
          </p:cNvPr>
          <p:cNvSpPr/>
          <p:nvPr/>
        </p:nvSpPr>
        <p:spPr>
          <a:xfrm>
            <a:off x="411163" y="1298575"/>
            <a:ext cx="4114800" cy="53975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2" name="Shape 6">
            <a:extLst>
              <a:ext uri="{FF2B5EF4-FFF2-40B4-BE49-F238E27FC236}">
                <a16:creationId xmlns:a16="http://schemas.microsoft.com/office/drawing/2014/main" id="{B102FF97-DB49-1518-552A-2A12C05B51B3}"/>
              </a:ext>
            </a:extLst>
          </p:cNvPr>
          <p:cNvSpPr/>
          <p:nvPr/>
        </p:nvSpPr>
        <p:spPr>
          <a:xfrm>
            <a:off x="520700" y="1417638"/>
            <a:ext cx="823913" cy="201612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3" name="Text 7">
            <a:extLst>
              <a:ext uri="{FF2B5EF4-FFF2-40B4-BE49-F238E27FC236}">
                <a16:creationId xmlns:a16="http://schemas.microsoft.com/office/drawing/2014/main" id="{9E82048F-F379-2DAA-9035-8F47EA41CBC0}"/>
              </a:ext>
            </a:extLst>
          </p:cNvPr>
          <p:cNvSpPr/>
          <p:nvPr/>
        </p:nvSpPr>
        <p:spPr>
          <a:xfrm>
            <a:off x="520700" y="1417638"/>
            <a:ext cx="823913" cy="2016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b="1" spc="-1" dirty="0" err="1">
                <a:solidFill>
                  <a:srgbClr val="1E3A8A"/>
                </a:solidFill>
                <a:latin typeface="Calibri"/>
              </a:rPr>
              <a:t>LangGraph</a:t>
            </a:r>
            <a:endParaRPr lang="en-US" sz="95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4" name="Text 8">
            <a:extLst>
              <a:ext uri="{FF2B5EF4-FFF2-40B4-BE49-F238E27FC236}">
                <a16:creationId xmlns:a16="http://schemas.microsoft.com/office/drawing/2014/main" id="{BB307157-2CCD-FB34-5AE3-F9B14C9C5BA5}"/>
              </a:ext>
            </a:extLst>
          </p:cNvPr>
          <p:cNvSpPr/>
          <p:nvPr/>
        </p:nvSpPr>
        <p:spPr>
          <a:xfrm>
            <a:off x="1417638" y="1408113"/>
            <a:ext cx="2998787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 dirty="0">
                <a:solidFill>
                  <a:srgbClr val="1E3A8A"/>
                </a:solidFill>
                <a:latin typeface="Calibri"/>
              </a:rPr>
              <a:t>Software Engineering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5" name="Text 9">
            <a:extLst>
              <a:ext uri="{FF2B5EF4-FFF2-40B4-BE49-F238E27FC236}">
                <a16:creationId xmlns:a16="http://schemas.microsoft.com/office/drawing/2014/main" id="{EB3E11E0-6E1B-7A7B-0015-D839F8041717}"/>
              </a:ext>
            </a:extLst>
          </p:cNvPr>
          <p:cNvSpPr/>
          <p:nvPr/>
        </p:nvSpPr>
        <p:spPr>
          <a:xfrm>
            <a:off x="520700" y="1682750"/>
            <a:ext cx="3878263" cy="7032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 dirty="0">
                <a:solidFill>
                  <a:srgbClr val="1E3A8A"/>
                </a:solidFill>
                <a:latin typeface="Calibri"/>
              </a:rPr>
              <a:t>GitHub Copilot Workspace - agents plan, write, test, and review code in a structured pipeline. Code review bots that classify issues, suggest fixes, and run tests.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6" name="Shape 10">
            <a:extLst>
              <a:ext uri="{FF2B5EF4-FFF2-40B4-BE49-F238E27FC236}">
                <a16:creationId xmlns:a16="http://schemas.microsoft.com/office/drawing/2014/main" id="{94150C26-158B-0BD8-3B22-A507325EC73A}"/>
              </a:ext>
            </a:extLst>
          </p:cNvPr>
          <p:cNvSpPr/>
          <p:nvPr/>
        </p:nvSpPr>
        <p:spPr>
          <a:xfrm>
            <a:off x="4708525" y="1298575"/>
            <a:ext cx="4114800" cy="1133475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7" name="Shape 11">
            <a:extLst>
              <a:ext uri="{FF2B5EF4-FFF2-40B4-BE49-F238E27FC236}">
                <a16:creationId xmlns:a16="http://schemas.microsoft.com/office/drawing/2014/main" id="{4B343FA7-8846-564A-5250-8104FD78256C}"/>
              </a:ext>
            </a:extLst>
          </p:cNvPr>
          <p:cNvSpPr/>
          <p:nvPr/>
        </p:nvSpPr>
        <p:spPr>
          <a:xfrm>
            <a:off x="4708525" y="1298575"/>
            <a:ext cx="4114800" cy="53975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8" name="Shape 12">
            <a:extLst>
              <a:ext uri="{FF2B5EF4-FFF2-40B4-BE49-F238E27FC236}">
                <a16:creationId xmlns:a16="http://schemas.microsoft.com/office/drawing/2014/main" id="{7EE9C72C-C73B-97E8-E1B7-57601107E849}"/>
              </a:ext>
            </a:extLst>
          </p:cNvPr>
          <p:cNvSpPr/>
          <p:nvPr/>
        </p:nvSpPr>
        <p:spPr>
          <a:xfrm>
            <a:off x="4819650" y="1417638"/>
            <a:ext cx="822325" cy="201612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9" name="Text 13">
            <a:extLst>
              <a:ext uri="{FF2B5EF4-FFF2-40B4-BE49-F238E27FC236}">
                <a16:creationId xmlns:a16="http://schemas.microsoft.com/office/drawing/2014/main" id="{AF36267C-B92F-BB6A-DA08-BA8FF3500286}"/>
              </a:ext>
            </a:extLst>
          </p:cNvPr>
          <p:cNvSpPr/>
          <p:nvPr/>
        </p:nvSpPr>
        <p:spPr>
          <a:xfrm>
            <a:off x="4819650" y="1417638"/>
            <a:ext cx="822325" cy="2016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b="1" spc="-1" dirty="0" err="1">
                <a:solidFill>
                  <a:srgbClr val="1E3A8A"/>
                </a:solidFill>
                <a:latin typeface="Calibri"/>
              </a:rPr>
              <a:t>LangGraph</a:t>
            </a:r>
            <a:endParaRPr lang="en-US" sz="95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0" name="Text 14">
            <a:extLst>
              <a:ext uri="{FF2B5EF4-FFF2-40B4-BE49-F238E27FC236}">
                <a16:creationId xmlns:a16="http://schemas.microsoft.com/office/drawing/2014/main" id="{48A8C3FF-4716-E6EF-CBFE-98344A615FA1}"/>
              </a:ext>
            </a:extLst>
          </p:cNvPr>
          <p:cNvSpPr/>
          <p:nvPr/>
        </p:nvSpPr>
        <p:spPr>
          <a:xfrm>
            <a:off x="5715000" y="1408113"/>
            <a:ext cx="2998788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</a:rPr>
              <a:t>Customer Support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1" name="Text 15">
            <a:extLst>
              <a:ext uri="{FF2B5EF4-FFF2-40B4-BE49-F238E27FC236}">
                <a16:creationId xmlns:a16="http://schemas.microsoft.com/office/drawing/2014/main" id="{C3D17CC6-D752-53A4-1D0E-B8E09BBBBE74}"/>
              </a:ext>
            </a:extLst>
          </p:cNvPr>
          <p:cNvSpPr/>
          <p:nvPr/>
        </p:nvSpPr>
        <p:spPr>
          <a:xfrm>
            <a:off x="4819650" y="1682750"/>
            <a:ext cx="3876675" cy="7032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Tier-1 support: classify intent → retrieve policies → draft response → escalate complex cases. Handles 60–70% of tickets autonomously with full audit trail.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2" name="Shape 16">
            <a:extLst>
              <a:ext uri="{FF2B5EF4-FFF2-40B4-BE49-F238E27FC236}">
                <a16:creationId xmlns:a16="http://schemas.microsoft.com/office/drawing/2014/main" id="{1C86E033-ACEC-B92C-E079-9849C9C04DC3}"/>
              </a:ext>
            </a:extLst>
          </p:cNvPr>
          <p:cNvSpPr/>
          <p:nvPr/>
        </p:nvSpPr>
        <p:spPr>
          <a:xfrm>
            <a:off x="411163" y="2560638"/>
            <a:ext cx="4114800" cy="1133475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3" name="Shape 17">
            <a:extLst>
              <a:ext uri="{FF2B5EF4-FFF2-40B4-BE49-F238E27FC236}">
                <a16:creationId xmlns:a16="http://schemas.microsoft.com/office/drawing/2014/main" id="{8F95C859-C834-7C23-E1B4-B24D478E0B27}"/>
              </a:ext>
            </a:extLst>
          </p:cNvPr>
          <p:cNvSpPr/>
          <p:nvPr/>
        </p:nvSpPr>
        <p:spPr>
          <a:xfrm>
            <a:off x="411163" y="2560638"/>
            <a:ext cx="4114800" cy="53975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4" name="Shape 18">
            <a:extLst>
              <a:ext uri="{FF2B5EF4-FFF2-40B4-BE49-F238E27FC236}">
                <a16:creationId xmlns:a16="http://schemas.microsoft.com/office/drawing/2014/main" id="{06D8E609-2B42-8530-B3B6-E63E9A795409}"/>
              </a:ext>
            </a:extLst>
          </p:cNvPr>
          <p:cNvSpPr/>
          <p:nvPr/>
        </p:nvSpPr>
        <p:spPr>
          <a:xfrm>
            <a:off x="520700" y="2679700"/>
            <a:ext cx="823913" cy="200025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5" name="Text 19">
            <a:extLst>
              <a:ext uri="{FF2B5EF4-FFF2-40B4-BE49-F238E27FC236}">
                <a16:creationId xmlns:a16="http://schemas.microsoft.com/office/drawing/2014/main" id="{907D3D9E-73B4-8DEE-B5F0-F9451665D418}"/>
              </a:ext>
            </a:extLst>
          </p:cNvPr>
          <p:cNvSpPr/>
          <p:nvPr/>
        </p:nvSpPr>
        <p:spPr>
          <a:xfrm>
            <a:off x="520700" y="2679700"/>
            <a:ext cx="823913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b="1" spc="-1" dirty="0" err="1">
                <a:solidFill>
                  <a:schemeClr val="bg1"/>
                </a:solidFill>
                <a:latin typeface="Calibri"/>
              </a:rPr>
              <a:t>AutoGen</a:t>
            </a:r>
            <a:endParaRPr lang="en-US" sz="95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866" name="Text 20">
            <a:extLst>
              <a:ext uri="{FF2B5EF4-FFF2-40B4-BE49-F238E27FC236}">
                <a16:creationId xmlns:a16="http://schemas.microsoft.com/office/drawing/2014/main" id="{DC21347B-24BE-3B2E-4E9B-435036BC107E}"/>
              </a:ext>
            </a:extLst>
          </p:cNvPr>
          <p:cNvSpPr/>
          <p:nvPr/>
        </p:nvSpPr>
        <p:spPr>
          <a:xfrm>
            <a:off x="1417638" y="2670175"/>
            <a:ext cx="2998787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</a:rPr>
              <a:t>Research &amp; Analysis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7" name="Text 21">
            <a:extLst>
              <a:ext uri="{FF2B5EF4-FFF2-40B4-BE49-F238E27FC236}">
                <a16:creationId xmlns:a16="http://schemas.microsoft.com/office/drawing/2014/main" id="{F75595F8-8CBF-E753-6A47-6DE38686CE35}"/>
              </a:ext>
            </a:extLst>
          </p:cNvPr>
          <p:cNvSpPr/>
          <p:nvPr/>
        </p:nvSpPr>
        <p:spPr>
          <a:xfrm>
            <a:off x="520700" y="2944813"/>
            <a:ext cx="3878263" cy="7032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AI research teams that gather sources, analyse data, fact-check, and produce structured reports. Used in financial analysis, market research, competitive intelligence.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8" name="Shape 22">
            <a:extLst>
              <a:ext uri="{FF2B5EF4-FFF2-40B4-BE49-F238E27FC236}">
                <a16:creationId xmlns:a16="http://schemas.microsoft.com/office/drawing/2014/main" id="{17569437-C1E9-A774-D851-3393D5BBB71F}"/>
              </a:ext>
            </a:extLst>
          </p:cNvPr>
          <p:cNvSpPr/>
          <p:nvPr/>
        </p:nvSpPr>
        <p:spPr>
          <a:xfrm>
            <a:off x="4708525" y="2560638"/>
            <a:ext cx="4114800" cy="1133475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9" name="Shape 23">
            <a:extLst>
              <a:ext uri="{FF2B5EF4-FFF2-40B4-BE49-F238E27FC236}">
                <a16:creationId xmlns:a16="http://schemas.microsoft.com/office/drawing/2014/main" id="{601B75F3-9D91-6EF8-27A6-13710ECEDFCC}"/>
              </a:ext>
            </a:extLst>
          </p:cNvPr>
          <p:cNvSpPr/>
          <p:nvPr/>
        </p:nvSpPr>
        <p:spPr>
          <a:xfrm>
            <a:off x="4708525" y="2560638"/>
            <a:ext cx="4114800" cy="53975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0" name="Shape 24">
            <a:extLst>
              <a:ext uri="{FF2B5EF4-FFF2-40B4-BE49-F238E27FC236}">
                <a16:creationId xmlns:a16="http://schemas.microsoft.com/office/drawing/2014/main" id="{95CA8742-505E-D74C-7071-F7C805E67F3D}"/>
              </a:ext>
            </a:extLst>
          </p:cNvPr>
          <p:cNvSpPr/>
          <p:nvPr/>
        </p:nvSpPr>
        <p:spPr>
          <a:xfrm>
            <a:off x="4819650" y="2679700"/>
            <a:ext cx="822325" cy="200025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1" name="Text 25">
            <a:extLst>
              <a:ext uri="{FF2B5EF4-FFF2-40B4-BE49-F238E27FC236}">
                <a16:creationId xmlns:a16="http://schemas.microsoft.com/office/drawing/2014/main" id="{C0FAE0C7-8BD5-938A-5C9D-C2FFB8A638E2}"/>
              </a:ext>
            </a:extLst>
          </p:cNvPr>
          <p:cNvSpPr/>
          <p:nvPr/>
        </p:nvSpPr>
        <p:spPr>
          <a:xfrm>
            <a:off x="4819650" y="2679700"/>
            <a:ext cx="822325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b="1" spc="-1">
                <a:solidFill>
                  <a:schemeClr val="bg1"/>
                </a:solidFill>
                <a:latin typeface="Calibri"/>
              </a:rPr>
              <a:t>AutoGen</a:t>
            </a:r>
            <a:endParaRPr lang="en-US" sz="95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872" name="Text 26">
            <a:extLst>
              <a:ext uri="{FF2B5EF4-FFF2-40B4-BE49-F238E27FC236}">
                <a16:creationId xmlns:a16="http://schemas.microsoft.com/office/drawing/2014/main" id="{8A337C04-83A5-D3C2-D918-5FB59B767EC4}"/>
              </a:ext>
            </a:extLst>
          </p:cNvPr>
          <p:cNvSpPr/>
          <p:nvPr/>
        </p:nvSpPr>
        <p:spPr>
          <a:xfrm>
            <a:off x="5715000" y="2670175"/>
            <a:ext cx="2998788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</a:rPr>
              <a:t>Content Production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3" name="Text 27">
            <a:extLst>
              <a:ext uri="{FF2B5EF4-FFF2-40B4-BE49-F238E27FC236}">
                <a16:creationId xmlns:a16="http://schemas.microsoft.com/office/drawing/2014/main" id="{ABF87FF8-044B-0A22-BCF4-984BDD1E3FB9}"/>
              </a:ext>
            </a:extLst>
          </p:cNvPr>
          <p:cNvSpPr/>
          <p:nvPr/>
        </p:nvSpPr>
        <p:spPr>
          <a:xfrm>
            <a:off x="4819650" y="2944813"/>
            <a:ext cx="3876675" cy="7032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Writer + editor + SEO agent + fact-checker collaborate to produce publish-ready content. Reduces content team workload by up to 40% in pilot deployments.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4" name="Shape 28">
            <a:extLst>
              <a:ext uri="{FF2B5EF4-FFF2-40B4-BE49-F238E27FC236}">
                <a16:creationId xmlns:a16="http://schemas.microsoft.com/office/drawing/2014/main" id="{9A4C2967-17C0-1A94-90A2-A3CE5B36D326}"/>
              </a:ext>
            </a:extLst>
          </p:cNvPr>
          <p:cNvSpPr/>
          <p:nvPr/>
        </p:nvSpPr>
        <p:spPr>
          <a:xfrm>
            <a:off x="411163" y="3822700"/>
            <a:ext cx="4114800" cy="1133475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5" name="Shape 29">
            <a:extLst>
              <a:ext uri="{FF2B5EF4-FFF2-40B4-BE49-F238E27FC236}">
                <a16:creationId xmlns:a16="http://schemas.microsoft.com/office/drawing/2014/main" id="{592A6B4D-8C66-5F40-7A2C-B2B6C8DE1015}"/>
              </a:ext>
            </a:extLst>
          </p:cNvPr>
          <p:cNvSpPr/>
          <p:nvPr/>
        </p:nvSpPr>
        <p:spPr>
          <a:xfrm>
            <a:off x="411163" y="3822700"/>
            <a:ext cx="4114800" cy="53975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6" name="Shape 30">
            <a:extLst>
              <a:ext uri="{FF2B5EF4-FFF2-40B4-BE49-F238E27FC236}">
                <a16:creationId xmlns:a16="http://schemas.microsoft.com/office/drawing/2014/main" id="{4D09B475-00C4-B003-341C-F19851AFF4B2}"/>
              </a:ext>
            </a:extLst>
          </p:cNvPr>
          <p:cNvSpPr/>
          <p:nvPr/>
        </p:nvSpPr>
        <p:spPr>
          <a:xfrm>
            <a:off x="520700" y="3941763"/>
            <a:ext cx="823913" cy="200025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7" name="Text 31">
            <a:extLst>
              <a:ext uri="{FF2B5EF4-FFF2-40B4-BE49-F238E27FC236}">
                <a16:creationId xmlns:a16="http://schemas.microsoft.com/office/drawing/2014/main" id="{43B25E80-68F3-03E5-7C43-FA33D4037C40}"/>
              </a:ext>
            </a:extLst>
          </p:cNvPr>
          <p:cNvSpPr/>
          <p:nvPr/>
        </p:nvSpPr>
        <p:spPr>
          <a:xfrm>
            <a:off x="520700" y="3941763"/>
            <a:ext cx="823913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b="1" spc="-1">
                <a:solidFill>
                  <a:srgbClr val="1E3A8A"/>
                </a:solidFill>
                <a:latin typeface="Calibri"/>
              </a:rPr>
              <a:t>Combined</a:t>
            </a:r>
            <a:endParaRPr lang="en-US" sz="95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8" name="Text 32">
            <a:extLst>
              <a:ext uri="{FF2B5EF4-FFF2-40B4-BE49-F238E27FC236}">
                <a16:creationId xmlns:a16="http://schemas.microsoft.com/office/drawing/2014/main" id="{63232197-32C2-DE4F-83E0-A6AE18BD623F}"/>
              </a:ext>
            </a:extLst>
          </p:cNvPr>
          <p:cNvSpPr/>
          <p:nvPr/>
        </p:nvSpPr>
        <p:spPr>
          <a:xfrm>
            <a:off x="1417638" y="3932238"/>
            <a:ext cx="2998787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</a:rPr>
              <a:t>Data Pipelines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9" name="Text 33">
            <a:extLst>
              <a:ext uri="{FF2B5EF4-FFF2-40B4-BE49-F238E27FC236}">
                <a16:creationId xmlns:a16="http://schemas.microsoft.com/office/drawing/2014/main" id="{DAA0A8BC-2441-4D10-7218-B55D3883AA15}"/>
              </a:ext>
            </a:extLst>
          </p:cNvPr>
          <p:cNvSpPr/>
          <p:nvPr/>
        </p:nvSpPr>
        <p:spPr>
          <a:xfrm>
            <a:off x="520700" y="4206875"/>
            <a:ext cx="3878263" cy="7032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LangGraph orchestrates ETL stages; AutoGen teams handle data cleaning, anomaly detection, and report generation at each step. Fully observable end-to-end.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0" name="Shape 34">
            <a:extLst>
              <a:ext uri="{FF2B5EF4-FFF2-40B4-BE49-F238E27FC236}">
                <a16:creationId xmlns:a16="http://schemas.microsoft.com/office/drawing/2014/main" id="{96401D99-746B-AB56-EDAC-8D307C2DD6A1}"/>
              </a:ext>
            </a:extLst>
          </p:cNvPr>
          <p:cNvSpPr/>
          <p:nvPr/>
        </p:nvSpPr>
        <p:spPr>
          <a:xfrm>
            <a:off x="4708525" y="3822700"/>
            <a:ext cx="4114800" cy="1133475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1" name="Shape 35">
            <a:extLst>
              <a:ext uri="{FF2B5EF4-FFF2-40B4-BE49-F238E27FC236}">
                <a16:creationId xmlns:a16="http://schemas.microsoft.com/office/drawing/2014/main" id="{802925DB-E6D9-5D3D-3F92-6732436B987A}"/>
              </a:ext>
            </a:extLst>
          </p:cNvPr>
          <p:cNvSpPr/>
          <p:nvPr/>
        </p:nvSpPr>
        <p:spPr>
          <a:xfrm>
            <a:off x="4708525" y="3822700"/>
            <a:ext cx="4114800" cy="53975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0" rIns="90000" bIns="72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2" name="Shape 36">
            <a:extLst>
              <a:ext uri="{FF2B5EF4-FFF2-40B4-BE49-F238E27FC236}">
                <a16:creationId xmlns:a16="http://schemas.microsoft.com/office/drawing/2014/main" id="{6616AFB4-989E-01EC-35C6-06D0903E936E}"/>
              </a:ext>
            </a:extLst>
          </p:cNvPr>
          <p:cNvSpPr/>
          <p:nvPr/>
        </p:nvSpPr>
        <p:spPr>
          <a:xfrm>
            <a:off x="4819650" y="3941763"/>
            <a:ext cx="822325" cy="200025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3" name="Text 37">
            <a:extLst>
              <a:ext uri="{FF2B5EF4-FFF2-40B4-BE49-F238E27FC236}">
                <a16:creationId xmlns:a16="http://schemas.microsoft.com/office/drawing/2014/main" id="{9A16611D-CBF8-4FBA-CDE7-9C5BADA38D29}"/>
              </a:ext>
            </a:extLst>
          </p:cNvPr>
          <p:cNvSpPr/>
          <p:nvPr/>
        </p:nvSpPr>
        <p:spPr>
          <a:xfrm>
            <a:off x="4819650" y="3941763"/>
            <a:ext cx="822325" cy="2000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50" b="1" spc="-1">
                <a:solidFill>
                  <a:schemeClr val="bg1"/>
                </a:solidFill>
                <a:latin typeface="Calibri"/>
              </a:rPr>
              <a:t>Combined</a:t>
            </a:r>
            <a:endParaRPr lang="en-US" sz="95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884" name="Text 38">
            <a:extLst>
              <a:ext uri="{FF2B5EF4-FFF2-40B4-BE49-F238E27FC236}">
                <a16:creationId xmlns:a16="http://schemas.microsoft.com/office/drawing/2014/main" id="{42C6800D-F1A4-5300-FB19-8748C643C34F}"/>
              </a:ext>
            </a:extLst>
          </p:cNvPr>
          <p:cNvSpPr/>
          <p:nvPr/>
        </p:nvSpPr>
        <p:spPr>
          <a:xfrm>
            <a:off x="5715000" y="3932238"/>
            <a:ext cx="2998788" cy="2190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b="1" spc="-1">
                <a:solidFill>
                  <a:srgbClr val="1E3A8A"/>
                </a:solidFill>
                <a:latin typeface="Calibri"/>
              </a:rPr>
              <a:t>Hackathon Projects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5" name="Text 39">
            <a:extLst>
              <a:ext uri="{FF2B5EF4-FFF2-40B4-BE49-F238E27FC236}">
                <a16:creationId xmlns:a16="http://schemas.microsoft.com/office/drawing/2014/main" id="{47F04563-D72D-D782-2184-2650857E5E04}"/>
              </a:ext>
            </a:extLst>
          </p:cNvPr>
          <p:cNvSpPr/>
          <p:nvPr/>
        </p:nvSpPr>
        <p:spPr>
          <a:xfrm>
            <a:off x="4819650" y="4206875"/>
            <a:ext cx="3876675" cy="7032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 dirty="0">
                <a:solidFill>
                  <a:srgbClr val="1E3A8A"/>
                </a:solidFill>
                <a:latin typeface="Calibri"/>
              </a:rPr>
              <a:t>YOU - build something in 30 minutes that a single engineer would take days to complete. Multi-agent systems are your force multiplier. Start simple, scale fast.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7386" name="Picture 1">
            <a:extLst>
              <a:ext uri="{FF2B5EF4-FFF2-40B4-BE49-F238E27FC236}">
                <a16:creationId xmlns:a16="http://schemas.microsoft.com/office/drawing/2014/main" id="{8CD0D792-CAC7-B39C-E01B-E95201810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14300"/>
            <a:ext cx="2117725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" grpId="0" animBg="1"/>
      <p:bldP spid="851" grpId="0" animBg="1"/>
      <p:bldP spid="852" grpId="0" animBg="1"/>
      <p:bldP spid="853" grpId="0"/>
      <p:bldP spid="854" grpId="0"/>
      <p:bldP spid="855" grpId="0"/>
      <p:bldP spid="856" grpId="0" animBg="1"/>
      <p:bldP spid="857" grpId="0" animBg="1"/>
      <p:bldP spid="858" grpId="0" animBg="1"/>
      <p:bldP spid="859" grpId="0"/>
      <p:bldP spid="860" grpId="0"/>
      <p:bldP spid="861" grpId="0"/>
      <p:bldP spid="862" grpId="0" animBg="1"/>
      <p:bldP spid="863" grpId="0" animBg="1"/>
      <p:bldP spid="864" grpId="0" animBg="1"/>
      <p:bldP spid="865" grpId="0"/>
      <p:bldP spid="866" grpId="0"/>
      <p:bldP spid="867" grpId="0"/>
      <p:bldP spid="868" grpId="0" animBg="1"/>
      <p:bldP spid="869" grpId="0" animBg="1"/>
      <p:bldP spid="870" grpId="0" animBg="1"/>
      <p:bldP spid="871" grpId="0"/>
      <p:bldP spid="872" grpId="0"/>
      <p:bldP spid="873" grpId="0"/>
      <p:bldP spid="874" grpId="0" animBg="1"/>
      <p:bldP spid="875" grpId="0" animBg="1"/>
      <p:bldP spid="876" grpId="0" animBg="1"/>
      <p:bldP spid="877" grpId="0"/>
      <p:bldP spid="878" grpId="0"/>
      <p:bldP spid="879" grpId="0"/>
      <p:bldP spid="880" grpId="0" animBg="1"/>
      <p:bldP spid="881" grpId="0" animBg="1"/>
      <p:bldP spid="882" grpId="0" animBg="1"/>
      <p:bldP spid="883" grpId="0"/>
      <p:bldP spid="884" grpId="0"/>
      <p:bldP spid="88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Shape 0">
            <a:extLst>
              <a:ext uri="{FF2B5EF4-FFF2-40B4-BE49-F238E27FC236}">
                <a16:creationId xmlns:a16="http://schemas.microsoft.com/office/drawing/2014/main" id="{592265F2-AA32-194F-DC1B-67B41768EA75}"/>
              </a:ext>
            </a:extLst>
          </p:cNvPr>
          <p:cNvSpPr/>
          <p:nvPr/>
        </p:nvSpPr>
        <p:spPr>
          <a:xfrm>
            <a:off x="0" y="0"/>
            <a:ext cx="9144000" cy="55563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640" rIns="90000" bIns="86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8" name="Text 1">
            <a:extLst>
              <a:ext uri="{FF2B5EF4-FFF2-40B4-BE49-F238E27FC236}">
                <a16:creationId xmlns:a16="http://schemas.microsoft.com/office/drawing/2014/main" id="{3E0CF730-4971-D6AB-D9BD-2F4E32738950}"/>
              </a:ext>
            </a:extLst>
          </p:cNvPr>
          <p:cNvSpPr/>
          <p:nvPr/>
        </p:nvSpPr>
        <p:spPr>
          <a:xfrm>
            <a:off x="457200" y="347663"/>
            <a:ext cx="8229600" cy="3476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300" b="1" spc="-1">
                <a:solidFill>
                  <a:srgbClr val="0EA5E9"/>
                </a:solidFill>
                <a:latin typeface="Calibri"/>
              </a:rPr>
              <a:t>HACKATHON</a:t>
            </a:r>
            <a:endParaRPr lang="en-US" sz="13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9" name="Text 2">
            <a:extLst>
              <a:ext uri="{FF2B5EF4-FFF2-40B4-BE49-F238E27FC236}">
                <a16:creationId xmlns:a16="http://schemas.microsoft.com/office/drawing/2014/main" id="{D076FA35-5BF9-3DDE-5C04-5FDAEDFDA4F9}"/>
              </a:ext>
            </a:extLst>
          </p:cNvPr>
          <p:cNvSpPr/>
          <p:nvPr/>
        </p:nvSpPr>
        <p:spPr>
          <a:xfrm>
            <a:off x="457200" y="731838"/>
            <a:ext cx="8229600" cy="547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b="1" spc="-1">
                <a:solidFill>
                  <a:srgbClr val="1E3A8A"/>
                </a:solidFill>
                <a:latin typeface="Calibri"/>
              </a:rPr>
              <a:t>Project Ideas to Build</a:t>
            </a:r>
            <a:endParaRPr lang="en-US" sz="2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0" name="Text 3">
            <a:extLst>
              <a:ext uri="{FF2B5EF4-FFF2-40B4-BE49-F238E27FC236}">
                <a16:creationId xmlns:a16="http://schemas.microsoft.com/office/drawing/2014/main" id="{39C5A776-DC88-3B4A-8B57-293BA9E35EB6}"/>
              </a:ext>
            </a:extLst>
          </p:cNvPr>
          <p:cNvSpPr/>
          <p:nvPr/>
        </p:nvSpPr>
        <p:spPr>
          <a:xfrm>
            <a:off x="457200" y="1298575"/>
            <a:ext cx="8229600" cy="2555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i="1" spc="-1">
                <a:solidFill>
                  <a:srgbClr val="0C4A6E"/>
                </a:solidFill>
                <a:latin typeface="Calibri"/>
              </a:rPr>
              <a:t>all are achievable in 60–90 minutes with LangGraph and/or AutoGen: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1" name="Shape 4">
            <a:extLst>
              <a:ext uri="{FF2B5EF4-FFF2-40B4-BE49-F238E27FC236}">
                <a16:creationId xmlns:a16="http://schemas.microsoft.com/office/drawing/2014/main" id="{CC9F9270-7242-1787-B0B9-B2C01B1C8DC5}"/>
              </a:ext>
            </a:extLst>
          </p:cNvPr>
          <p:cNvSpPr/>
          <p:nvPr/>
        </p:nvSpPr>
        <p:spPr>
          <a:xfrm>
            <a:off x="411163" y="1663700"/>
            <a:ext cx="4114800" cy="987425"/>
          </a:xfrm>
          <a:prstGeom prst="rect">
            <a:avLst/>
          </a:prstGeom>
          <a:solidFill>
            <a:schemeClr val="bg1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2" name="Shape 5">
            <a:extLst>
              <a:ext uri="{FF2B5EF4-FFF2-40B4-BE49-F238E27FC236}">
                <a16:creationId xmlns:a16="http://schemas.microsoft.com/office/drawing/2014/main" id="{17F0149D-7900-6A66-6F5B-99C0D0BFBE71}"/>
              </a:ext>
            </a:extLst>
          </p:cNvPr>
          <p:cNvSpPr/>
          <p:nvPr/>
        </p:nvSpPr>
        <p:spPr>
          <a:xfrm>
            <a:off x="411163" y="1663700"/>
            <a:ext cx="503237" cy="987425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3" name="Text 6">
            <a:extLst>
              <a:ext uri="{FF2B5EF4-FFF2-40B4-BE49-F238E27FC236}">
                <a16:creationId xmlns:a16="http://schemas.microsoft.com/office/drawing/2014/main" id="{DAFF4525-9029-6388-3716-1596A43A262E}"/>
              </a:ext>
            </a:extLst>
          </p:cNvPr>
          <p:cNvSpPr/>
          <p:nvPr/>
        </p:nvSpPr>
        <p:spPr>
          <a:xfrm>
            <a:off x="411163" y="1663700"/>
            <a:ext cx="503237" cy="9874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>
                <a:solidFill>
                  <a:srgbClr val="1E3A8A"/>
                </a:solidFill>
                <a:latin typeface="Calibri"/>
              </a:rPr>
              <a:t>01</a:t>
            </a:r>
            <a:endParaRPr lang="en-US" sz="16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4" name="Shape 7">
            <a:extLst>
              <a:ext uri="{FF2B5EF4-FFF2-40B4-BE49-F238E27FC236}">
                <a16:creationId xmlns:a16="http://schemas.microsoft.com/office/drawing/2014/main" id="{69A12024-1FB8-3C73-3E23-1092068551D4}"/>
              </a:ext>
            </a:extLst>
          </p:cNvPr>
          <p:cNvSpPr/>
          <p:nvPr/>
        </p:nvSpPr>
        <p:spPr>
          <a:xfrm>
            <a:off x="1006475" y="1719263"/>
            <a:ext cx="685800" cy="182562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5" name="Text 8">
            <a:extLst>
              <a:ext uri="{FF2B5EF4-FFF2-40B4-BE49-F238E27FC236}">
                <a16:creationId xmlns:a16="http://schemas.microsoft.com/office/drawing/2014/main" id="{1738B932-91F8-235D-D292-E53509BEFA20}"/>
              </a:ext>
            </a:extLst>
          </p:cNvPr>
          <p:cNvSpPr/>
          <p:nvPr/>
        </p:nvSpPr>
        <p:spPr>
          <a:xfrm>
            <a:off x="1006475" y="1719263"/>
            <a:ext cx="685800" cy="1825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b="1" spc="-1" dirty="0" err="1">
                <a:solidFill>
                  <a:srgbClr val="1E3A8A"/>
                </a:solidFill>
                <a:latin typeface="Calibri"/>
              </a:rPr>
              <a:t>LangGraph</a:t>
            </a:r>
            <a:endParaRPr lang="en-US" sz="9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6" name="Text 9">
            <a:extLst>
              <a:ext uri="{FF2B5EF4-FFF2-40B4-BE49-F238E27FC236}">
                <a16:creationId xmlns:a16="http://schemas.microsoft.com/office/drawing/2014/main" id="{49BF00C4-DC52-911E-8B2B-6946D36E1E2E}"/>
              </a:ext>
            </a:extLst>
          </p:cNvPr>
          <p:cNvSpPr/>
          <p:nvPr/>
        </p:nvSpPr>
        <p:spPr>
          <a:xfrm>
            <a:off x="1006475" y="1938338"/>
            <a:ext cx="3400425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AI Code Reviewer</a:t>
            </a:r>
            <a:endParaRPr lang="en-US" sz="1200" spc="-1" dirty="0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897" name="Text 10">
            <a:extLst>
              <a:ext uri="{FF2B5EF4-FFF2-40B4-BE49-F238E27FC236}">
                <a16:creationId xmlns:a16="http://schemas.microsoft.com/office/drawing/2014/main" id="{02D37C5C-AF9C-5A0F-A693-0477F5007133}"/>
              </a:ext>
            </a:extLst>
          </p:cNvPr>
          <p:cNvSpPr/>
          <p:nvPr/>
        </p:nvSpPr>
        <p:spPr>
          <a:xfrm>
            <a:off x="1006475" y="2193925"/>
            <a:ext cx="3400425" cy="4032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rgbClr val="0C4A6E"/>
                </a:solidFill>
                <a:latin typeface="Calibri"/>
              </a:rPr>
              <a:t>LangGraph: classify code → check bugs → suggest fixes → approve. 3 nodes, conditional edge on severity.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8" name="Shape 11">
            <a:extLst>
              <a:ext uri="{FF2B5EF4-FFF2-40B4-BE49-F238E27FC236}">
                <a16:creationId xmlns:a16="http://schemas.microsoft.com/office/drawing/2014/main" id="{4B7132C3-4AD5-42B3-0AEA-8E96FF37F594}"/>
              </a:ext>
            </a:extLst>
          </p:cNvPr>
          <p:cNvSpPr/>
          <p:nvPr/>
        </p:nvSpPr>
        <p:spPr>
          <a:xfrm>
            <a:off x="4708525" y="1663700"/>
            <a:ext cx="4114800" cy="987425"/>
          </a:xfrm>
          <a:prstGeom prst="rect">
            <a:avLst/>
          </a:prstGeom>
          <a:solidFill>
            <a:schemeClr val="bg1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9" name="Shape 12">
            <a:extLst>
              <a:ext uri="{FF2B5EF4-FFF2-40B4-BE49-F238E27FC236}">
                <a16:creationId xmlns:a16="http://schemas.microsoft.com/office/drawing/2014/main" id="{4B7E2E3E-124A-4735-C95D-F27825DF916D}"/>
              </a:ext>
            </a:extLst>
          </p:cNvPr>
          <p:cNvSpPr/>
          <p:nvPr/>
        </p:nvSpPr>
        <p:spPr>
          <a:xfrm>
            <a:off x="4708525" y="1663700"/>
            <a:ext cx="503238" cy="987425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0" name="Text 13">
            <a:extLst>
              <a:ext uri="{FF2B5EF4-FFF2-40B4-BE49-F238E27FC236}">
                <a16:creationId xmlns:a16="http://schemas.microsoft.com/office/drawing/2014/main" id="{F062D1F5-106F-A23E-9A07-59397EDE3BB0}"/>
              </a:ext>
            </a:extLst>
          </p:cNvPr>
          <p:cNvSpPr/>
          <p:nvPr/>
        </p:nvSpPr>
        <p:spPr>
          <a:xfrm>
            <a:off x="4708525" y="1663700"/>
            <a:ext cx="503238" cy="9874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 dirty="0">
                <a:solidFill>
                  <a:schemeClr val="bg1"/>
                </a:solidFill>
                <a:latin typeface="Calibri"/>
              </a:rPr>
              <a:t>02</a:t>
            </a:r>
            <a:endParaRPr lang="en-US" sz="16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901" name="Shape 14">
            <a:extLst>
              <a:ext uri="{FF2B5EF4-FFF2-40B4-BE49-F238E27FC236}">
                <a16:creationId xmlns:a16="http://schemas.microsoft.com/office/drawing/2014/main" id="{E0B27FC9-2CA6-FE47-6C66-B6CF5644C99D}"/>
              </a:ext>
            </a:extLst>
          </p:cNvPr>
          <p:cNvSpPr/>
          <p:nvPr/>
        </p:nvSpPr>
        <p:spPr>
          <a:xfrm>
            <a:off x="5303838" y="1719263"/>
            <a:ext cx="685800" cy="182562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2" name="Text 15">
            <a:extLst>
              <a:ext uri="{FF2B5EF4-FFF2-40B4-BE49-F238E27FC236}">
                <a16:creationId xmlns:a16="http://schemas.microsoft.com/office/drawing/2014/main" id="{95D24747-D999-8B84-40FF-CC208C91296E}"/>
              </a:ext>
            </a:extLst>
          </p:cNvPr>
          <p:cNvSpPr/>
          <p:nvPr/>
        </p:nvSpPr>
        <p:spPr>
          <a:xfrm>
            <a:off x="5303838" y="1719263"/>
            <a:ext cx="685800" cy="1825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b="1" spc="-1" dirty="0" err="1">
                <a:solidFill>
                  <a:schemeClr val="bg1"/>
                </a:solidFill>
                <a:latin typeface="Calibri"/>
              </a:rPr>
              <a:t>AutoGen</a:t>
            </a:r>
            <a:endParaRPr lang="en-US" sz="9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903" name="Text 16">
            <a:extLst>
              <a:ext uri="{FF2B5EF4-FFF2-40B4-BE49-F238E27FC236}">
                <a16:creationId xmlns:a16="http://schemas.microsoft.com/office/drawing/2014/main" id="{F72FA41B-CEC6-7EF2-BD4A-5F613B2265F3}"/>
              </a:ext>
            </a:extLst>
          </p:cNvPr>
          <p:cNvSpPr/>
          <p:nvPr/>
        </p:nvSpPr>
        <p:spPr>
          <a:xfrm>
            <a:off x="5303838" y="1938338"/>
            <a:ext cx="3402012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chemeClr val="accent2">
                    <a:lumMod val="75000"/>
                  </a:schemeClr>
                </a:solidFill>
                <a:latin typeface="Calibri"/>
              </a:rPr>
              <a:t>Research Summarizer</a:t>
            </a:r>
            <a:endParaRPr lang="en-US" sz="1200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904" name="Text 17">
            <a:extLst>
              <a:ext uri="{FF2B5EF4-FFF2-40B4-BE49-F238E27FC236}">
                <a16:creationId xmlns:a16="http://schemas.microsoft.com/office/drawing/2014/main" id="{3EF7421F-E400-CBCA-541F-A0FE9D41258D}"/>
              </a:ext>
            </a:extLst>
          </p:cNvPr>
          <p:cNvSpPr/>
          <p:nvPr/>
        </p:nvSpPr>
        <p:spPr>
          <a:xfrm>
            <a:off x="5303838" y="2193925"/>
            <a:ext cx="3402012" cy="4032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rgbClr val="0C4A6E"/>
                </a:solidFill>
                <a:latin typeface="Calibri"/>
              </a:rPr>
              <a:t>AutoGen: Researcher + Fact-Checker + Writer in GroupChat. Give a topic → get a cited summary.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5" name="Shape 18">
            <a:extLst>
              <a:ext uri="{FF2B5EF4-FFF2-40B4-BE49-F238E27FC236}">
                <a16:creationId xmlns:a16="http://schemas.microsoft.com/office/drawing/2014/main" id="{6D52E23F-3613-48CC-F419-72202A582CB2}"/>
              </a:ext>
            </a:extLst>
          </p:cNvPr>
          <p:cNvSpPr/>
          <p:nvPr/>
        </p:nvSpPr>
        <p:spPr>
          <a:xfrm>
            <a:off x="411163" y="2779713"/>
            <a:ext cx="4114800" cy="987425"/>
          </a:xfrm>
          <a:prstGeom prst="rect">
            <a:avLst/>
          </a:prstGeom>
          <a:solidFill>
            <a:schemeClr val="bg1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6" name="Shape 19">
            <a:extLst>
              <a:ext uri="{FF2B5EF4-FFF2-40B4-BE49-F238E27FC236}">
                <a16:creationId xmlns:a16="http://schemas.microsoft.com/office/drawing/2014/main" id="{AFB67A48-A556-ADE3-66B0-6E59124935D5}"/>
              </a:ext>
            </a:extLst>
          </p:cNvPr>
          <p:cNvSpPr/>
          <p:nvPr/>
        </p:nvSpPr>
        <p:spPr>
          <a:xfrm>
            <a:off x="411163" y="2779713"/>
            <a:ext cx="503237" cy="987425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7" name="Text 20">
            <a:extLst>
              <a:ext uri="{FF2B5EF4-FFF2-40B4-BE49-F238E27FC236}">
                <a16:creationId xmlns:a16="http://schemas.microsoft.com/office/drawing/2014/main" id="{9DAD3969-0214-5206-7332-2232D0BCF24A}"/>
              </a:ext>
            </a:extLst>
          </p:cNvPr>
          <p:cNvSpPr/>
          <p:nvPr/>
        </p:nvSpPr>
        <p:spPr>
          <a:xfrm>
            <a:off x="411163" y="2779713"/>
            <a:ext cx="503237" cy="9874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>
                <a:solidFill>
                  <a:srgbClr val="1E3A8A"/>
                </a:solidFill>
                <a:latin typeface="Calibri"/>
              </a:rPr>
              <a:t>03</a:t>
            </a:r>
            <a:endParaRPr lang="en-US" sz="16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8" name="Shape 21">
            <a:extLst>
              <a:ext uri="{FF2B5EF4-FFF2-40B4-BE49-F238E27FC236}">
                <a16:creationId xmlns:a16="http://schemas.microsoft.com/office/drawing/2014/main" id="{BB516A93-61E7-9EE9-3CD5-331F79647555}"/>
              </a:ext>
            </a:extLst>
          </p:cNvPr>
          <p:cNvSpPr/>
          <p:nvPr/>
        </p:nvSpPr>
        <p:spPr>
          <a:xfrm>
            <a:off x="1006475" y="2835275"/>
            <a:ext cx="685800" cy="182563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9" name="Text 22">
            <a:extLst>
              <a:ext uri="{FF2B5EF4-FFF2-40B4-BE49-F238E27FC236}">
                <a16:creationId xmlns:a16="http://schemas.microsoft.com/office/drawing/2014/main" id="{9CAC3807-9469-5A57-8BB2-C112BB0CFCE3}"/>
              </a:ext>
            </a:extLst>
          </p:cNvPr>
          <p:cNvSpPr/>
          <p:nvPr/>
        </p:nvSpPr>
        <p:spPr>
          <a:xfrm>
            <a:off x="1006475" y="2835275"/>
            <a:ext cx="685800" cy="1825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b="1" spc="-1">
                <a:solidFill>
                  <a:srgbClr val="1E3A8A"/>
                </a:solidFill>
                <a:latin typeface="Calibri"/>
              </a:rPr>
              <a:t>LangGraph</a:t>
            </a:r>
            <a:endParaRPr lang="en-US" sz="9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0" name="Text 23">
            <a:extLst>
              <a:ext uri="{FF2B5EF4-FFF2-40B4-BE49-F238E27FC236}">
                <a16:creationId xmlns:a16="http://schemas.microsoft.com/office/drawing/2014/main" id="{32BD5A10-A63D-2237-7AEC-1A358FDA6244}"/>
              </a:ext>
            </a:extLst>
          </p:cNvPr>
          <p:cNvSpPr/>
          <p:nvPr/>
        </p:nvSpPr>
        <p:spPr>
          <a:xfrm>
            <a:off x="1006475" y="3054350"/>
            <a:ext cx="3400425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Study Buddy Generator</a:t>
            </a:r>
            <a:endParaRPr lang="en-US" sz="1200" spc="-1" dirty="0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911" name="Text 24">
            <a:extLst>
              <a:ext uri="{FF2B5EF4-FFF2-40B4-BE49-F238E27FC236}">
                <a16:creationId xmlns:a16="http://schemas.microsoft.com/office/drawing/2014/main" id="{2A1E3D0F-F147-EEA0-F8AB-398073541F0F}"/>
              </a:ext>
            </a:extLst>
          </p:cNvPr>
          <p:cNvSpPr/>
          <p:nvPr/>
        </p:nvSpPr>
        <p:spPr>
          <a:xfrm>
            <a:off x="1006475" y="3309938"/>
            <a:ext cx="3400425" cy="4032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rgbClr val="0C4A6E"/>
                </a:solidFill>
                <a:latin typeface="Calibri"/>
              </a:rPr>
              <a:t>LangGraph: input syllabus → extract topics → generate MCQs → format quiz. Perfect for exam prep.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2" name="Shape 25">
            <a:extLst>
              <a:ext uri="{FF2B5EF4-FFF2-40B4-BE49-F238E27FC236}">
                <a16:creationId xmlns:a16="http://schemas.microsoft.com/office/drawing/2014/main" id="{F54512A3-C286-F60C-A6A7-CB3F8CFDD38B}"/>
              </a:ext>
            </a:extLst>
          </p:cNvPr>
          <p:cNvSpPr/>
          <p:nvPr/>
        </p:nvSpPr>
        <p:spPr>
          <a:xfrm>
            <a:off x="4708525" y="2779713"/>
            <a:ext cx="4114800" cy="987425"/>
          </a:xfrm>
          <a:prstGeom prst="rect">
            <a:avLst/>
          </a:prstGeom>
          <a:solidFill>
            <a:schemeClr val="bg1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3" name="Shape 26">
            <a:extLst>
              <a:ext uri="{FF2B5EF4-FFF2-40B4-BE49-F238E27FC236}">
                <a16:creationId xmlns:a16="http://schemas.microsoft.com/office/drawing/2014/main" id="{6820AE66-BE65-9BFE-DE16-7383DC573667}"/>
              </a:ext>
            </a:extLst>
          </p:cNvPr>
          <p:cNvSpPr/>
          <p:nvPr/>
        </p:nvSpPr>
        <p:spPr>
          <a:xfrm>
            <a:off x="4708525" y="2779713"/>
            <a:ext cx="503238" cy="987425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4" name="Text 27">
            <a:extLst>
              <a:ext uri="{FF2B5EF4-FFF2-40B4-BE49-F238E27FC236}">
                <a16:creationId xmlns:a16="http://schemas.microsoft.com/office/drawing/2014/main" id="{97B38A68-5FBF-E155-0EA4-B27C966BEB4D}"/>
              </a:ext>
            </a:extLst>
          </p:cNvPr>
          <p:cNvSpPr/>
          <p:nvPr/>
        </p:nvSpPr>
        <p:spPr>
          <a:xfrm>
            <a:off x="4708525" y="2779713"/>
            <a:ext cx="503238" cy="9874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>
                <a:solidFill>
                  <a:schemeClr val="bg1"/>
                </a:solidFill>
                <a:latin typeface="Calibri"/>
              </a:rPr>
              <a:t>04</a:t>
            </a:r>
            <a:endParaRPr lang="en-US" sz="16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915" name="Shape 28">
            <a:extLst>
              <a:ext uri="{FF2B5EF4-FFF2-40B4-BE49-F238E27FC236}">
                <a16:creationId xmlns:a16="http://schemas.microsoft.com/office/drawing/2014/main" id="{3F8DD4A6-3384-B02E-A8C0-1BD313E465D0}"/>
              </a:ext>
            </a:extLst>
          </p:cNvPr>
          <p:cNvSpPr/>
          <p:nvPr/>
        </p:nvSpPr>
        <p:spPr>
          <a:xfrm>
            <a:off x="5303838" y="2835275"/>
            <a:ext cx="685800" cy="182563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6" name="Text 29">
            <a:extLst>
              <a:ext uri="{FF2B5EF4-FFF2-40B4-BE49-F238E27FC236}">
                <a16:creationId xmlns:a16="http://schemas.microsoft.com/office/drawing/2014/main" id="{73FB16C1-7430-2658-A639-C23CC4A09B2D}"/>
              </a:ext>
            </a:extLst>
          </p:cNvPr>
          <p:cNvSpPr/>
          <p:nvPr/>
        </p:nvSpPr>
        <p:spPr>
          <a:xfrm>
            <a:off x="5303838" y="2835275"/>
            <a:ext cx="685800" cy="1825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b="1" spc="-1">
                <a:solidFill>
                  <a:schemeClr val="bg1"/>
                </a:solidFill>
                <a:latin typeface="Calibri"/>
              </a:rPr>
              <a:t>AutoGen</a:t>
            </a:r>
            <a:endParaRPr lang="en-US" sz="9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917" name="Text 30">
            <a:extLst>
              <a:ext uri="{FF2B5EF4-FFF2-40B4-BE49-F238E27FC236}">
                <a16:creationId xmlns:a16="http://schemas.microsoft.com/office/drawing/2014/main" id="{EE4337C4-0304-4024-0418-65C9EFBD4292}"/>
              </a:ext>
            </a:extLst>
          </p:cNvPr>
          <p:cNvSpPr/>
          <p:nvPr/>
        </p:nvSpPr>
        <p:spPr>
          <a:xfrm>
            <a:off x="5303838" y="3054350"/>
            <a:ext cx="3402012" cy="238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chemeClr val="accent2">
                    <a:lumMod val="75000"/>
                  </a:schemeClr>
                </a:solidFill>
                <a:latin typeface="Calibri"/>
              </a:rPr>
              <a:t>AI News Analyst</a:t>
            </a:r>
            <a:endParaRPr lang="en-US" sz="1200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918" name="Text 31">
            <a:extLst>
              <a:ext uri="{FF2B5EF4-FFF2-40B4-BE49-F238E27FC236}">
                <a16:creationId xmlns:a16="http://schemas.microsoft.com/office/drawing/2014/main" id="{A4CC4182-9E12-8D0C-F6FA-5F203F88657B}"/>
              </a:ext>
            </a:extLst>
          </p:cNvPr>
          <p:cNvSpPr/>
          <p:nvPr/>
        </p:nvSpPr>
        <p:spPr>
          <a:xfrm>
            <a:off x="5303838" y="3309938"/>
            <a:ext cx="3402012" cy="4032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rgbClr val="0C4A6E"/>
                </a:solidFill>
                <a:latin typeface="Calibri"/>
              </a:rPr>
              <a:t>AutoGen: Scraper + Analyst + Bias-Checker + Writer team. Daily news → balanced analysis report.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9" name="Shape 32">
            <a:extLst>
              <a:ext uri="{FF2B5EF4-FFF2-40B4-BE49-F238E27FC236}">
                <a16:creationId xmlns:a16="http://schemas.microsoft.com/office/drawing/2014/main" id="{E240BB39-BE17-CEBA-83BE-5A27AA61F6C6}"/>
              </a:ext>
            </a:extLst>
          </p:cNvPr>
          <p:cNvSpPr/>
          <p:nvPr/>
        </p:nvSpPr>
        <p:spPr>
          <a:xfrm>
            <a:off x="411163" y="3895725"/>
            <a:ext cx="4114800" cy="987425"/>
          </a:xfrm>
          <a:prstGeom prst="rect">
            <a:avLst/>
          </a:prstGeom>
          <a:solidFill>
            <a:schemeClr val="bg1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0" name="Shape 33">
            <a:extLst>
              <a:ext uri="{FF2B5EF4-FFF2-40B4-BE49-F238E27FC236}">
                <a16:creationId xmlns:a16="http://schemas.microsoft.com/office/drawing/2014/main" id="{EF2CE41D-CD2A-4DEF-17A9-00B473BF9DAD}"/>
              </a:ext>
            </a:extLst>
          </p:cNvPr>
          <p:cNvSpPr/>
          <p:nvPr/>
        </p:nvSpPr>
        <p:spPr>
          <a:xfrm>
            <a:off x="411163" y="3895725"/>
            <a:ext cx="503237" cy="987425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1" name="Text 34">
            <a:extLst>
              <a:ext uri="{FF2B5EF4-FFF2-40B4-BE49-F238E27FC236}">
                <a16:creationId xmlns:a16="http://schemas.microsoft.com/office/drawing/2014/main" id="{B0CFBE56-18E9-7620-AAA2-BA4B61C7E90F}"/>
              </a:ext>
            </a:extLst>
          </p:cNvPr>
          <p:cNvSpPr/>
          <p:nvPr/>
        </p:nvSpPr>
        <p:spPr>
          <a:xfrm>
            <a:off x="411163" y="3895725"/>
            <a:ext cx="503237" cy="9874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>
                <a:solidFill>
                  <a:schemeClr val="bg1"/>
                </a:solidFill>
                <a:latin typeface="Calibri"/>
              </a:rPr>
              <a:t>05</a:t>
            </a:r>
            <a:endParaRPr lang="en-US" sz="16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922" name="Shape 35">
            <a:extLst>
              <a:ext uri="{FF2B5EF4-FFF2-40B4-BE49-F238E27FC236}">
                <a16:creationId xmlns:a16="http://schemas.microsoft.com/office/drawing/2014/main" id="{32DAC58E-5E72-9A5E-F223-9363209F10CD}"/>
              </a:ext>
            </a:extLst>
          </p:cNvPr>
          <p:cNvSpPr/>
          <p:nvPr/>
        </p:nvSpPr>
        <p:spPr>
          <a:xfrm>
            <a:off x="1006475" y="3949700"/>
            <a:ext cx="685800" cy="184150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3" name="Text 36">
            <a:extLst>
              <a:ext uri="{FF2B5EF4-FFF2-40B4-BE49-F238E27FC236}">
                <a16:creationId xmlns:a16="http://schemas.microsoft.com/office/drawing/2014/main" id="{66D73357-DB11-44D7-1ABE-D81D048AED3A}"/>
              </a:ext>
            </a:extLst>
          </p:cNvPr>
          <p:cNvSpPr/>
          <p:nvPr/>
        </p:nvSpPr>
        <p:spPr>
          <a:xfrm>
            <a:off x="1006475" y="3949700"/>
            <a:ext cx="685800" cy="1841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b="1" spc="-1">
                <a:solidFill>
                  <a:schemeClr val="bg1"/>
                </a:solidFill>
                <a:latin typeface="Calibri"/>
              </a:rPr>
              <a:t>Combined</a:t>
            </a:r>
            <a:endParaRPr lang="en-US" sz="9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924" name="Text 37">
            <a:extLst>
              <a:ext uri="{FF2B5EF4-FFF2-40B4-BE49-F238E27FC236}">
                <a16:creationId xmlns:a16="http://schemas.microsoft.com/office/drawing/2014/main" id="{D7D129F3-E005-7F11-EC5E-566437D08EA7}"/>
              </a:ext>
            </a:extLst>
          </p:cNvPr>
          <p:cNvSpPr/>
          <p:nvPr/>
        </p:nvSpPr>
        <p:spPr>
          <a:xfrm>
            <a:off x="1006475" y="4170363"/>
            <a:ext cx="340042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chemeClr val="accent2">
                    <a:lumMod val="75000"/>
                  </a:schemeClr>
                </a:solidFill>
                <a:latin typeface="Calibri"/>
              </a:rPr>
              <a:t>Personal Finance Advisor</a:t>
            </a:r>
            <a:endParaRPr lang="en-US" sz="1200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925" name="Text 38">
            <a:extLst>
              <a:ext uri="{FF2B5EF4-FFF2-40B4-BE49-F238E27FC236}">
                <a16:creationId xmlns:a16="http://schemas.microsoft.com/office/drawing/2014/main" id="{F79EB115-7068-F293-333B-82A7EF05BE9C}"/>
              </a:ext>
            </a:extLst>
          </p:cNvPr>
          <p:cNvSpPr/>
          <p:nvPr/>
        </p:nvSpPr>
        <p:spPr>
          <a:xfrm>
            <a:off x="1006475" y="4425950"/>
            <a:ext cx="3400425" cy="401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rgbClr val="0C4A6E"/>
                </a:solidFill>
                <a:latin typeface="Calibri"/>
              </a:rPr>
              <a:t>Combined: LangGraph orchestrates budget analysis; AutoGen team debates investment recommendations.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6" name="Shape 39">
            <a:extLst>
              <a:ext uri="{FF2B5EF4-FFF2-40B4-BE49-F238E27FC236}">
                <a16:creationId xmlns:a16="http://schemas.microsoft.com/office/drawing/2014/main" id="{D6C221BA-E64C-75A8-50EF-1F9642A290D6}"/>
              </a:ext>
            </a:extLst>
          </p:cNvPr>
          <p:cNvSpPr/>
          <p:nvPr/>
        </p:nvSpPr>
        <p:spPr>
          <a:xfrm>
            <a:off x="4708525" y="3895725"/>
            <a:ext cx="4114800" cy="987425"/>
          </a:xfrm>
          <a:prstGeom prst="rect">
            <a:avLst/>
          </a:prstGeom>
          <a:solidFill>
            <a:schemeClr val="bg1"/>
          </a:solidFill>
          <a:ln w="12600">
            <a:solidFill>
              <a:srgbClr val="93C5FD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7" name="Shape 40">
            <a:extLst>
              <a:ext uri="{FF2B5EF4-FFF2-40B4-BE49-F238E27FC236}">
                <a16:creationId xmlns:a16="http://schemas.microsoft.com/office/drawing/2014/main" id="{AF456C7D-E2CF-18DD-073E-1C2EDBF808D4}"/>
              </a:ext>
            </a:extLst>
          </p:cNvPr>
          <p:cNvSpPr/>
          <p:nvPr/>
        </p:nvSpPr>
        <p:spPr>
          <a:xfrm>
            <a:off x="4708525" y="3895725"/>
            <a:ext cx="503238" cy="987425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8" name="Text 41">
            <a:extLst>
              <a:ext uri="{FF2B5EF4-FFF2-40B4-BE49-F238E27FC236}">
                <a16:creationId xmlns:a16="http://schemas.microsoft.com/office/drawing/2014/main" id="{C2F870B8-51A4-9F72-CC07-05AE33767935}"/>
              </a:ext>
            </a:extLst>
          </p:cNvPr>
          <p:cNvSpPr/>
          <p:nvPr/>
        </p:nvSpPr>
        <p:spPr>
          <a:xfrm>
            <a:off x="4708525" y="3895725"/>
            <a:ext cx="503238" cy="9874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b="1" spc="-1">
                <a:solidFill>
                  <a:srgbClr val="1E3A8A"/>
                </a:solidFill>
                <a:latin typeface="Calibri"/>
              </a:rPr>
              <a:t>06</a:t>
            </a:r>
            <a:endParaRPr lang="en-US" sz="16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9" name="Shape 42">
            <a:extLst>
              <a:ext uri="{FF2B5EF4-FFF2-40B4-BE49-F238E27FC236}">
                <a16:creationId xmlns:a16="http://schemas.microsoft.com/office/drawing/2014/main" id="{7811A5E5-D632-2BDF-8986-7562849EBA55}"/>
              </a:ext>
            </a:extLst>
          </p:cNvPr>
          <p:cNvSpPr/>
          <p:nvPr/>
        </p:nvSpPr>
        <p:spPr>
          <a:xfrm>
            <a:off x="5303838" y="3949700"/>
            <a:ext cx="685800" cy="184150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0" name="Text 43">
            <a:extLst>
              <a:ext uri="{FF2B5EF4-FFF2-40B4-BE49-F238E27FC236}">
                <a16:creationId xmlns:a16="http://schemas.microsoft.com/office/drawing/2014/main" id="{05FEC88E-D5B5-ABDA-C2E4-4494CE2A93E6}"/>
              </a:ext>
            </a:extLst>
          </p:cNvPr>
          <p:cNvSpPr/>
          <p:nvPr/>
        </p:nvSpPr>
        <p:spPr>
          <a:xfrm>
            <a:off x="5303838" y="3949700"/>
            <a:ext cx="685800" cy="1841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900" b="1" spc="-1" dirty="0" err="1">
                <a:solidFill>
                  <a:srgbClr val="1E3A8A"/>
                </a:solidFill>
                <a:latin typeface="Calibri"/>
              </a:rPr>
              <a:t>LangGraph</a:t>
            </a:r>
            <a:endParaRPr lang="en-US" sz="9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1" name="Text 44">
            <a:extLst>
              <a:ext uri="{FF2B5EF4-FFF2-40B4-BE49-F238E27FC236}">
                <a16:creationId xmlns:a16="http://schemas.microsoft.com/office/drawing/2014/main" id="{55F3538E-4771-62A3-5866-857CE31AAB87}"/>
              </a:ext>
            </a:extLst>
          </p:cNvPr>
          <p:cNvSpPr/>
          <p:nvPr/>
        </p:nvSpPr>
        <p:spPr>
          <a:xfrm>
            <a:off x="5303838" y="4170363"/>
            <a:ext cx="3402012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chemeClr val="accent2">
                    <a:lumMod val="75000"/>
                  </a:schemeClr>
                </a:solidFill>
                <a:latin typeface="Calibri"/>
              </a:rPr>
              <a:t>Automated Documentation Bot</a:t>
            </a:r>
            <a:endParaRPr lang="en-US" sz="1200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932" name="Text 45">
            <a:extLst>
              <a:ext uri="{FF2B5EF4-FFF2-40B4-BE49-F238E27FC236}">
                <a16:creationId xmlns:a16="http://schemas.microsoft.com/office/drawing/2014/main" id="{81395F7D-3DC2-F657-AC48-047BB1594F65}"/>
              </a:ext>
            </a:extLst>
          </p:cNvPr>
          <p:cNvSpPr/>
          <p:nvPr/>
        </p:nvSpPr>
        <p:spPr>
          <a:xfrm>
            <a:off x="5303838" y="4425950"/>
            <a:ext cx="3402012" cy="4016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spc="-1">
                <a:solidFill>
                  <a:srgbClr val="0C4A6E"/>
                </a:solidFill>
                <a:latin typeface="Calibri"/>
              </a:rPr>
              <a:t>LangGraph: read codebase → generate docstrings → write README → PR review. DevOps-ready.</a:t>
            </a:r>
            <a:endParaRPr lang="en-US" sz="1000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9440" name="Picture 1">
            <a:extLst>
              <a:ext uri="{FF2B5EF4-FFF2-40B4-BE49-F238E27FC236}">
                <a16:creationId xmlns:a16="http://schemas.microsoft.com/office/drawing/2014/main" id="{12D7E169-0047-5328-C840-868E59F2D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93675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1" grpId="0" animBg="1"/>
      <p:bldP spid="892" grpId="0" animBg="1"/>
      <p:bldP spid="893" grpId="0"/>
      <p:bldP spid="894" grpId="0" animBg="1"/>
      <p:bldP spid="895" grpId="0"/>
      <p:bldP spid="896" grpId="0"/>
      <p:bldP spid="897" grpId="0"/>
      <p:bldP spid="898" grpId="0" animBg="1"/>
      <p:bldP spid="899" grpId="0" animBg="1"/>
      <p:bldP spid="900" grpId="0"/>
      <p:bldP spid="901" grpId="0" animBg="1"/>
      <p:bldP spid="902" grpId="0"/>
      <p:bldP spid="903" grpId="0"/>
      <p:bldP spid="904" grpId="0"/>
      <p:bldP spid="905" grpId="0" animBg="1"/>
      <p:bldP spid="906" grpId="0" animBg="1"/>
      <p:bldP spid="907" grpId="0"/>
      <p:bldP spid="908" grpId="0" animBg="1"/>
      <p:bldP spid="909" grpId="0"/>
      <p:bldP spid="910" grpId="0"/>
      <p:bldP spid="911" grpId="0"/>
      <p:bldP spid="912" grpId="0" animBg="1"/>
      <p:bldP spid="913" grpId="0" animBg="1"/>
      <p:bldP spid="914" grpId="0"/>
      <p:bldP spid="915" grpId="0" animBg="1"/>
      <p:bldP spid="916" grpId="0"/>
      <p:bldP spid="917" grpId="0"/>
      <p:bldP spid="918" grpId="0"/>
      <p:bldP spid="919" grpId="0" animBg="1"/>
      <p:bldP spid="920" grpId="0" animBg="1"/>
      <p:bldP spid="921" grpId="0"/>
      <p:bldP spid="922" grpId="0" animBg="1"/>
      <p:bldP spid="923" grpId="0"/>
      <p:bldP spid="924" grpId="0"/>
      <p:bldP spid="925" grpId="0"/>
      <p:bldP spid="926" grpId="0" animBg="1"/>
      <p:bldP spid="927" grpId="0" animBg="1"/>
      <p:bldP spid="928" grpId="0"/>
      <p:bldP spid="929" grpId="0" animBg="1"/>
      <p:bldP spid="930" grpId="0"/>
      <p:bldP spid="931" grpId="0"/>
      <p:bldP spid="93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Shape 0">
            <a:extLst>
              <a:ext uri="{FF2B5EF4-FFF2-40B4-BE49-F238E27FC236}">
                <a16:creationId xmlns:a16="http://schemas.microsoft.com/office/drawing/2014/main" id="{05AC80DC-6C58-DE9E-8313-B4AC5EDE777C}"/>
              </a:ext>
            </a:extLst>
          </p:cNvPr>
          <p:cNvSpPr/>
          <p:nvPr/>
        </p:nvSpPr>
        <p:spPr>
          <a:xfrm>
            <a:off x="0" y="0"/>
            <a:ext cx="9144000" cy="55563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640" rIns="90000" bIns="86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5" name="Text 1">
            <a:extLst>
              <a:ext uri="{FF2B5EF4-FFF2-40B4-BE49-F238E27FC236}">
                <a16:creationId xmlns:a16="http://schemas.microsoft.com/office/drawing/2014/main" id="{5B557AC9-EA5B-A056-0D5B-F4BFE13C1ADE}"/>
              </a:ext>
            </a:extLst>
          </p:cNvPr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>
                <a:solidFill>
                  <a:srgbClr val="0EA5E9"/>
                </a:solidFill>
                <a:latin typeface="Calibri"/>
              </a:rPr>
              <a:t>SUMMARY</a:t>
            </a:r>
            <a:endParaRPr lang="en-US" sz="14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6" name="Text 2">
            <a:extLst>
              <a:ext uri="{FF2B5EF4-FFF2-40B4-BE49-F238E27FC236}">
                <a16:creationId xmlns:a16="http://schemas.microsoft.com/office/drawing/2014/main" id="{560D8ED2-9E25-A3C7-6266-6FD050032331}"/>
              </a:ext>
            </a:extLst>
          </p:cNvPr>
          <p:cNvSpPr/>
          <p:nvPr/>
        </p:nvSpPr>
        <p:spPr>
          <a:xfrm>
            <a:off x="457200" y="1874838"/>
            <a:ext cx="8229600" cy="6397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200" b="1" spc="-1">
                <a:solidFill>
                  <a:srgbClr val="1E3A8A"/>
                </a:solidFill>
                <a:latin typeface="Calibri"/>
              </a:rPr>
              <a:t>Session Summary &amp; Key Takeaways</a:t>
            </a:r>
            <a:endParaRPr lang="en-US" sz="3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7" name="Text 3">
            <a:extLst>
              <a:ext uri="{FF2B5EF4-FFF2-40B4-BE49-F238E27FC236}">
                <a16:creationId xmlns:a16="http://schemas.microsoft.com/office/drawing/2014/main" id="{B046A0B5-7FFA-D3BE-B8D1-16CED2295025}"/>
              </a:ext>
            </a:extLst>
          </p:cNvPr>
          <p:cNvSpPr/>
          <p:nvPr/>
        </p:nvSpPr>
        <p:spPr>
          <a:xfrm>
            <a:off x="457200" y="2606675"/>
            <a:ext cx="8229600" cy="3651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600" i="1" spc="-1">
                <a:solidFill>
                  <a:srgbClr val="0C4A6E"/>
                </a:solidFill>
                <a:latin typeface="Calibri"/>
              </a:rPr>
              <a:t>Everything we covered today</a:t>
            </a:r>
            <a:endParaRPr lang="en-US" sz="1600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1446" name="Picture 1">
            <a:extLst>
              <a:ext uri="{FF2B5EF4-FFF2-40B4-BE49-F238E27FC236}">
                <a16:creationId xmlns:a16="http://schemas.microsoft.com/office/drawing/2014/main" id="{46BC71D2-A712-5A72-FC84-A51DC4100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93675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Shape 0">
            <a:extLst>
              <a:ext uri="{FF2B5EF4-FFF2-40B4-BE49-F238E27FC236}">
                <a16:creationId xmlns:a16="http://schemas.microsoft.com/office/drawing/2014/main" id="{DF8C6E5B-0B2D-2CCE-3095-BE58CFBDA199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0" name="Text 1">
            <a:extLst>
              <a:ext uri="{FF2B5EF4-FFF2-40B4-BE49-F238E27FC236}">
                <a16:creationId xmlns:a16="http://schemas.microsoft.com/office/drawing/2014/main" id="{CA43DE1A-C4B4-AC52-E8F8-7B54E7C0D2A8}"/>
              </a:ext>
            </a:extLst>
          </p:cNvPr>
          <p:cNvSpPr/>
          <p:nvPr/>
        </p:nvSpPr>
        <p:spPr>
          <a:xfrm>
            <a:off x="457200" y="201613"/>
            <a:ext cx="1463675" cy="236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800" b="1" spc="-1">
                <a:solidFill>
                  <a:srgbClr val="1E3A8A"/>
                </a:solidFill>
                <a:latin typeface="Calibri"/>
              </a:rPr>
              <a:t>SUMMARY</a:t>
            </a:r>
            <a:endParaRPr lang="en-US" sz="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1" name="Text 2">
            <a:extLst>
              <a:ext uri="{FF2B5EF4-FFF2-40B4-BE49-F238E27FC236}">
                <a16:creationId xmlns:a16="http://schemas.microsoft.com/office/drawing/2014/main" id="{50CA4759-324A-264F-1110-1A9554BF94BF}"/>
              </a:ext>
            </a:extLst>
          </p:cNvPr>
          <p:cNvSpPr/>
          <p:nvPr/>
        </p:nvSpPr>
        <p:spPr>
          <a:xfrm>
            <a:off x="457200" y="503238"/>
            <a:ext cx="82296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400" b="1" spc="-1" dirty="0">
                <a:solidFill>
                  <a:srgbClr val="1E3A8A"/>
                </a:solidFill>
                <a:latin typeface="Calibri"/>
              </a:rPr>
              <a:t>Key Takeaways - Session 3</a:t>
            </a:r>
            <a:endParaRPr lang="en-US" sz="24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2" name="Shape 3">
            <a:extLst>
              <a:ext uri="{FF2B5EF4-FFF2-40B4-BE49-F238E27FC236}">
                <a16:creationId xmlns:a16="http://schemas.microsoft.com/office/drawing/2014/main" id="{36CBED0E-B241-31DD-B5D0-8637CA3ADB2E}"/>
              </a:ext>
            </a:extLst>
          </p:cNvPr>
          <p:cNvSpPr/>
          <p:nvPr/>
        </p:nvSpPr>
        <p:spPr>
          <a:xfrm>
            <a:off x="411163" y="1023938"/>
            <a:ext cx="4114800" cy="868362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3" name="Shape 4">
            <a:extLst>
              <a:ext uri="{FF2B5EF4-FFF2-40B4-BE49-F238E27FC236}">
                <a16:creationId xmlns:a16="http://schemas.microsoft.com/office/drawing/2014/main" id="{023F5A51-B710-307C-C232-E9F1F9B4FEEF}"/>
              </a:ext>
            </a:extLst>
          </p:cNvPr>
          <p:cNvSpPr/>
          <p:nvPr/>
        </p:nvSpPr>
        <p:spPr>
          <a:xfrm>
            <a:off x="411163" y="1023938"/>
            <a:ext cx="384175" cy="868362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4" name="Text 5">
            <a:extLst>
              <a:ext uri="{FF2B5EF4-FFF2-40B4-BE49-F238E27FC236}">
                <a16:creationId xmlns:a16="http://schemas.microsoft.com/office/drawing/2014/main" id="{66E8F5B4-1D15-CC47-A512-236E5155A2CF}"/>
              </a:ext>
            </a:extLst>
          </p:cNvPr>
          <p:cNvSpPr/>
          <p:nvPr/>
        </p:nvSpPr>
        <p:spPr>
          <a:xfrm>
            <a:off x="411163" y="1023938"/>
            <a:ext cx="384175" cy="8683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b="1" spc="-1">
                <a:solidFill>
                  <a:srgbClr val="1E3A8A"/>
                </a:solidFill>
                <a:latin typeface="Calibri"/>
              </a:rPr>
              <a:t>1</a:t>
            </a: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5" name="Text 6">
            <a:extLst>
              <a:ext uri="{FF2B5EF4-FFF2-40B4-BE49-F238E27FC236}">
                <a16:creationId xmlns:a16="http://schemas.microsoft.com/office/drawing/2014/main" id="{66E604DD-E0C8-D5CA-CD61-AF1542A5634F}"/>
              </a:ext>
            </a:extLst>
          </p:cNvPr>
          <p:cNvSpPr/>
          <p:nvPr/>
        </p:nvSpPr>
        <p:spPr>
          <a:xfrm>
            <a:off x="914400" y="1096963"/>
            <a:ext cx="3492500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 dirty="0">
                <a:solidFill>
                  <a:srgbClr val="1E3A8A"/>
                </a:solidFill>
                <a:latin typeface="Calibri"/>
              </a:rPr>
              <a:t>Multi-agent &gt; single agent</a:t>
            </a:r>
            <a:endParaRPr lang="en-US" sz="12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6" name="Text 7">
            <a:extLst>
              <a:ext uri="{FF2B5EF4-FFF2-40B4-BE49-F238E27FC236}">
                <a16:creationId xmlns:a16="http://schemas.microsoft.com/office/drawing/2014/main" id="{DEED5622-D027-853E-B97E-4200975633B1}"/>
              </a:ext>
            </a:extLst>
          </p:cNvPr>
          <p:cNvSpPr/>
          <p:nvPr/>
        </p:nvSpPr>
        <p:spPr>
          <a:xfrm>
            <a:off x="914400" y="1408113"/>
            <a:ext cx="3492500" cy="401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Parallel specialisation = faster + better results on complex tasks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7" name="Shape 8">
            <a:extLst>
              <a:ext uri="{FF2B5EF4-FFF2-40B4-BE49-F238E27FC236}">
                <a16:creationId xmlns:a16="http://schemas.microsoft.com/office/drawing/2014/main" id="{8C12CCB0-C56D-819B-C266-6A25E4B00044}"/>
              </a:ext>
            </a:extLst>
          </p:cNvPr>
          <p:cNvSpPr/>
          <p:nvPr/>
        </p:nvSpPr>
        <p:spPr>
          <a:xfrm>
            <a:off x="4708525" y="1023938"/>
            <a:ext cx="4114800" cy="868362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8" name="Shape 9">
            <a:extLst>
              <a:ext uri="{FF2B5EF4-FFF2-40B4-BE49-F238E27FC236}">
                <a16:creationId xmlns:a16="http://schemas.microsoft.com/office/drawing/2014/main" id="{218FB042-45F3-6234-8FE9-7224D4EC6D04}"/>
              </a:ext>
            </a:extLst>
          </p:cNvPr>
          <p:cNvSpPr/>
          <p:nvPr/>
        </p:nvSpPr>
        <p:spPr>
          <a:xfrm>
            <a:off x="4708525" y="1023938"/>
            <a:ext cx="384175" cy="868362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9" name="Text 10">
            <a:extLst>
              <a:ext uri="{FF2B5EF4-FFF2-40B4-BE49-F238E27FC236}">
                <a16:creationId xmlns:a16="http://schemas.microsoft.com/office/drawing/2014/main" id="{D8E38B33-43D8-5E4A-CA7E-C9E95CBC7D48}"/>
              </a:ext>
            </a:extLst>
          </p:cNvPr>
          <p:cNvSpPr/>
          <p:nvPr/>
        </p:nvSpPr>
        <p:spPr>
          <a:xfrm>
            <a:off x="4708525" y="1023938"/>
            <a:ext cx="384175" cy="8683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b="1" spc="-1">
                <a:solidFill>
                  <a:srgbClr val="1E3A8A"/>
                </a:solidFill>
                <a:latin typeface="Calibri"/>
              </a:rPr>
              <a:t>2</a:t>
            </a: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0" name="Text 11">
            <a:extLst>
              <a:ext uri="{FF2B5EF4-FFF2-40B4-BE49-F238E27FC236}">
                <a16:creationId xmlns:a16="http://schemas.microsoft.com/office/drawing/2014/main" id="{AC9AE2F1-FAB7-4884-49C2-E43307ECAFE1}"/>
              </a:ext>
            </a:extLst>
          </p:cNvPr>
          <p:cNvSpPr/>
          <p:nvPr/>
        </p:nvSpPr>
        <p:spPr>
          <a:xfrm>
            <a:off x="5211763" y="1096963"/>
            <a:ext cx="3494087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LangGraph = structured flow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1" name="Text 12">
            <a:extLst>
              <a:ext uri="{FF2B5EF4-FFF2-40B4-BE49-F238E27FC236}">
                <a16:creationId xmlns:a16="http://schemas.microsoft.com/office/drawing/2014/main" id="{3A817C8D-CE51-641A-AB60-C6F12377D04C}"/>
              </a:ext>
            </a:extLst>
          </p:cNvPr>
          <p:cNvSpPr/>
          <p:nvPr/>
        </p:nvSpPr>
        <p:spPr>
          <a:xfrm>
            <a:off x="5211763" y="1408113"/>
            <a:ext cx="3494087" cy="401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Graph-based, stateful, auditable. Use for deterministic controlled pipelines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2" name="Shape 13">
            <a:extLst>
              <a:ext uri="{FF2B5EF4-FFF2-40B4-BE49-F238E27FC236}">
                <a16:creationId xmlns:a16="http://schemas.microsoft.com/office/drawing/2014/main" id="{6B4358F6-1935-595E-B110-C975745D1EF9}"/>
              </a:ext>
            </a:extLst>
          </p:cNvPr>
          <p:cNvSpPr/>
          <p:nvPr/>
        </p:nvSpPr>
        <p:spPr>
          <a:xfrm>
            <a:off x="411163" y="2011363"/>
            <a:ext cx="4114800" cy="868362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3" name="Shape 14">
            <a:extLst>
              <a:ext uri="{FF2B5EF4-FFF2-40B4-BE49-F238E27FC236}">
                <a16:creationId xmlns:a16="http://schemas.microsoft.com/office/drawing/2014/main" id="{F2AEACF9-E2AA-3863-7CC9-E20C17B4D3FC}"/>
              </a:ext>
            </a:extLst>
          </p:cNvPr>
          <p:cNvSpPr/>
          <p:nvPr/>
        </p:nvSpPr>
        <p:spPr>
          <a:xfrm>
            <a:off x="411163" y="2011363"/>
            <a:ext cx="384175" cy="868362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4" name="Text 15">
            <a:extLst>
              <a:ext uri="{FF2B5EF4-FFF2-40B4-BE49-F238E27FC236}">
                <a16:creationId xmlns:a16="http://schemas.microsoft.com/office/drawing/2014/main" id="{B715A067-E8A1-42F5-4C7F-85E0702DD1AF}"/>
              </a:ext>
            </a:extLst>
          </p:cNvPr>
          <p:cNvSpPr/>
          <p:nvPr/>
        </p:nvSpPr>
        <p:spPr>
          <a:xfrm>
            <a:off x="411163" y="2011363"/>
            <a:ext cx="384175" cy="8683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b="1" spc="-1">
                <a:solidFill>
                  <a:srgbClr val="1E3A8A"/>
                </a:solidFill>
                <a:latin typeface="Calibri"/>
              </a:rPr>
              <a:t>3</a:t>
            </a: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5" name="Text 16">
            <a:extLst>
              <a:ext uri="{FF2B5EF4-FFF2-40B4-BE49-F238E27FC236}">
                <a16:creationId xmlns:a16="http://schemas.microsoft.com/office/drawing/2014/main" id="{9877148E-54C2-F593-E849-C376CCFF46C8}"/>
              </a:ext>
            </a:extLst>
          </p:cNvPr>
          <p:cNvSpPr/>
          <p:nvPr/>
        </p:nvSpPr>
        <p:spPr>
          <a:xfrm>
            <a:off x="914400" y="2084388"/>
            <a:ext cx="3492500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AutoGen = team conversation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6" name="Text 17">
            <a:extLst>
              <a:ext uri="{FF2B5EF4-FFF2-40B4-BE49-F238E27FC236}">
                <a16:creationId xmlns:a16="http://schemas.microsoft.com/office/drawing/2014/main" id="{8D88BA45-D69C-EC8F-A78F-054F8080D33E}"/>
              </a:ext>
            </a:extLst>
          </p:cNvPr>
          <p:cNvSpPr/>
          <p:nvPr/>
        </p:nvSpPr>
        <p:spPr>
          <a:xfrm>
            <a:off x="914400" y="2395538"/>
            <a:ext cx="3492500" cy="4032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Conversational, flexible, built-in code exec. Use for open-ended collaboration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7" name="Shape 18">
            <a:extLst>
              <a:ext uri="{FF2B5EF4-FFF2-40B4-BE49-F238E27FC236}">
                <a16:creationId xmlns:a16="http://schemas.microsoft.com/office/drawing/2014/main" id="{CB1FE7DB-0A93-B3AC-2B6E-905B6F075EF1}"/>
              </a:ext>
            </a:extLst>
          </p:cNvPr>
          <p:cNvSpPr/>
          <p:nvPr/>
        </p:nvSpPr>
        <p:spPr>
          <a:xfrm>
            <a:off x="4708525" y="2011363"/>
            <a:ext cx="4114800" cy="868362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8" name="Shape 19">
            <a:extLst>
              <a:ext uri="{FF2B5EF4-FFF2-40B4-BE49-F238E27FC236}">
                <a16:creationId xmlns:a16="http://schemas.microsoft.com/office/drawing/2014/main" id="{3622A643-1453-1013-C8F1-F5793B51C074}"/>
              </a:ext>
            </a:extLst>
          </p:cNvPr>
          <p:cNvSpPr/>
          <p:nvPr/>
        </p:nvSpPr>
        <p:spPr>
          <a:xfrm>
            <a:off x="4708525" y="2011363"/>
            <a:ext cx="384175" cy="868362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9" name="Text 20">
            <a:extLst>
              <a:ext uri="{FF2B5EF4-FFF2-40B4-BE49-F238E27FC236}">
                <a16:creationId xmlns:a16="http://schemas.microsoft.com/office/drawing/2014/main" id="{E0838929-44E8-79ED-3B97-EC8E9A277228}"/>
              </a:ext>
            </a:extLst>
          </p:cNvPr>
          <p:cNvSpPr/>
          <p:nvPr/>
        </p:nvSpPr>
        <p:spPr>
          <a:xfrm>
            <a:off x="4708525" y="2011363"/>
            <a:ext cx="384175" cy="8683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b="1" spc="-1">
                <a:solidFill>
                  <a:srgbClr val="1E3A8A"/>
                </a:solidFill>
                <a:latin typeface="Calibri"/>
              </a:rPr>
              <a:t>4</a:t>
            </a: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0" name="Text 21">
            <a:extLst>
              <a:ext uri="{FF2B5EF4-FFF2-40B4-BE49-F238E27FC236}">
                <a16:creationId xmlns:a16="http://schemas.microsoft.com/office/drawing/2014/main" id="{872AA6C5-21E4-1E67-5D30-66C00C9497B1}"/>
              </a:ext>
            </a:extLst>
          </p:cNvPr>
          <p:cNvSpPr/>
          <p:nvPr/>
        </p:nvSpPr>
        <p:spPr>
          <a:xfrm>
            <a:off x="5211763" y="2084388"/>
            <a:ext cx="3494087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They complement each other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1" name="Text 22">
            <a:extLst>
              <a:ext uri="{FF2B5EF4-FFF2-40B4-BE49-F238E27FC236}">
                <a16:creationId xmlns:a16="http://schemas.microsoft.com/office/drawing/2014/main" id="{F01325AE-689E-3943-8AD2-916BB61D66B5}"/>
              </a:ext>
            </a:extLst>
          </p:cNvPr>
          <p:cNvSpPr/>
          <p:nvPr/>
        </p:nvSpPr>
        <p:spPr>
          <a:xfrm>
            <a:off x="5211763" y="2395538"/>
            <a:ext cx="3494087" cy="4032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LangGraph orchestrates; AutoGen agents execute. Together = production power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2" name="Shape 23">
            <a:extLst>
              <a:ext uri="{FF2B5EF4-FFF2-40B4-BE49-F238E27FC236}">
                <a16:creationId xmlns:a16="http://schemas.microsoft.com/office/drawing/2014/main" id="{79362E06-8124-5B5E-5489-DE1B36C757C4}"/>
              </a:ext>
            </a:extLst>
          </p:cNvPr>
          <p:cNvSpPr/>
          <p:nvPr/>
        </p:nvSpPr>
        <p:spPr>
          <a:xfrm>
            <a:off x="411163" y="2998788"/>
            <a:ext cx="4114800" cy="868362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3" name="Shape 24">
            <a:extLst>
              <a:ext uri="{FF2B5EF4-FFF2-40B4-BE49-F238E27FC236}">
                <a16:creationId xmlns:a16="http://schemas.microsoft.com/office/drawing/2014/main" id="{F719BFA7-715F-23FF-9DBD-9ADA7415488C}"/>
              </a:ext>
            </a:extLst>
          </p:cNvPr>
          <p:cNvSpPr/>
          <p:nvPr/>
        </p:nvSpPr>
        <p:spPr>
          <a:xfrm>
            <a:off x="411163" y="2998788"/>
            <a:ext cx="384175" cy="868362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4" name="Text 25">
            <a:extLst>
              <a:ext uri="{FF2B5EF4-FFF2-40B4-BE49-F238E27FC236}">
                <a16:creationId xmlns:a16="http://schemas.microsoft.com/office/drawing/2014/main" id="{7416F0B9-B303-2AD8-0E77-DF087D5AD353}"/>
              </a:ext>
            </a:extLst>
          </p:cNvPr>
          <p:cNvSpPr/>
          <p:nvPr/>
        </p:nvSpPr>
        <p:spPr>
          <a:xfrm>
            <a:off x="411163" y="2998788"/>
            <a:ext cx="384175" cy="8683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b="1" spc="-1">
                <a:solidFill>
                  <a:srgbClr val="1E3A8A"/>
                </a:solidFill>
                <a:latin typeface="Calibri"/>
              </a:rPr>
              <a:t>5</a:t>
            </a: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5" name="Text 26">
            <a:extLst>
              <a:ext uri="{FF2B5EF4-FFF2-40B4-BE49-F238E27FC236}">
                <a16:creationId xmlns:a16="http://schemas.microsoft.com/office/drawing/2014/main" id="{373ED616-2255-2456-806A-5984A21B7DFA}"/>
              </a:ext>
            </a:extLst>
          </p:cNvPr>
          <p:cNvSpPr/>
          <p:nvPr/>
        </p:nvSpPr>
        <p:spPr>
          <a:xfrm>
            <a:off x="914400" y="3071813"/>
            <a:ext cx="3492500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State is everything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6" name="Text 27">
            <a:extLst>
              <a:ext uri="{FF2B5EF4-FFF2-40B4-BE49-F238E27FC236}">
                <a16:creationId xmlns:a16="http://schemas.microsoft.com/office/drawing/2014/main" id="{54400751-547F-1C90-6F2A-B0BEF5EA2F1E}"/>
              </a:ext>
            </a:extLst>
          </p:cNvPr>
          <p:cNvSpPr/>
          <p:nvPr/>
        </p:nvSpPr>
        <p:spPr>
          <a:xfrm>
            <a:off x="914400" y="3382963"/>
            <a:ext cx="3492500" cy="4032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In LangGraph: design state carefully. All agent coordination flows through it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7" name="Shape 28">
            <a:extLst>
              <a:ext uri="{FF2B5EF4-FFF2-40B4-BE49-F238E27FC236}">
                <a16:creationId xmlns:a16="http://schemas.microsoft.com/office/drawing/2014/main" id="{7CE8AD20-7F2E-3E7F-ADA3-586D64DF3A95}"/>
              </a:ext>
            </a:extLst>
          </p:cNvPr>
          <p:cNvSpPr/>
          <p:nvPr/>
        </p:nvSpPr>
        <p:spPr>
          <a:xfrm>
            <a:off x="4708525" y="2998788"/>
            <a:ext cx="4114800" cy="868362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8" name="Shape 29">
            <a:extLst>
              <a:ext uri="{FF2B5EF4-FFF2-40B4-BE49-F238E27FC236}">
                <a16:creationId xmlns:a16="http://schemas.microsoft.com/office/drawing/2014/main" id="{51F919D9-C283-7030-57AC-04AA0944685A}"/>
              </a:ext>
            </a:extLst>
          </p:cNvPr>
          <p:cNvSpPr/>
          <p:nvPr/>
        </p:nvSpPr>
        <p:spPr>
          <a:xfrm>
            <a:off x="4708525" y="2998788"/>
            <a:ext cx="384175" cy="868362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9" name="Text 30">
            <a:extLst>
              <a:ext uri="{FF2B5EF4-FFF2-40B4-BE49-F238E27FC236}">
                <a16:creationId xmlns:a16="http://schemas.microsoft.com/office/drawing/2014/main" id="{50AB2403-1A08-445D-D22A-7C535FEFD049}"/>
              </a:ext>
            </a:extLst>
          </p:cNvPr>
          <p:cNvSpPr/>
          <p:nvPr/>
        </p:nvSpPr>
        <p:spPr>
          <a:xfrm>
            <a:off x="4708525" y="2998788"/>
            <a:ext cx="384175" cy="8683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b="1" spc="-1">
                <a:solidFill>
                  <a:srgbClr val="1E3A8A"/>
                </a:solidFill>
                <a:latin typeface="Calibri"/>
              </a:rPr>
              <a:t>6</a:t>
            </a: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0" name="Text 31">
            <a:extLst>
              <a:ext uri="{FF2B5EF4-FFF2-40B4-BE49-F238E27FC236}">
                <a16:creationId xmlns:a16="http://schemas.microsoft.com/office/drawing/2014/main" id="{5FC0C42C-9DF9-47F9-FBCA-5A6AEC3E78E5}"/>
              </a:ext>
            </a:extLst>
          </p:cNvPr>
          <p:cNvSpPr/>
          <p:nvPr/>
        </p:nvSpPr>
        <p:spPr>
          <a:xfrm>
            <a:off x="5211763" y="3071813"/>
            <a:ext cx="3494087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Roles matter in AutoGen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1" name="Text 32">
            <a:extLst>
              <a:ext uri="{FF2B5EF4-FFF2-40B4-BE49-F238E27FC236}">
                <a16:creationId xmlns:a16="http://schemas.microsoft.com/office/drawing/2014/main" id="{2EA08314-AAB6-677C-C272-B035DAAC7ED4}"/>
              </a:ext>
            </a:extLst>
          </p:cNvPr>
          <p:cNvSpPr/>
          <p:nvPr/>
        </p:nvSpPr>
        <p:spPr>
          <a:xfrm>
            <a:off x="5211763" y="3382963"/>
            <a:ext cx="3494087" cy="4032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Precise system_message per agent = better specialisation + fewer conflicts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2" name="Shape 33">
            <a:extLst>
              <a:ext uri="{FF2B5EF4-FFF2-40B4-BE49-F238E27FC236}">
                <a16:creationId xmlns:a16="http://schemas.microsoft.com/office/drawing/2014/main" id="{EB792062-E8AC-9ED0-04EA-6D67461CEF49}"/>
              </a:ext>
            </a:extLst>
          </p:cNvPr>
          <p:cNvSpPr/>
          <p:nvPr/>
        </p:nvSpPr>
        <p:spPr>
          <a:xfrm>
            <a:off x="411163" y="3986213"/>
            <a:ext cx="4114800" cy="86995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3" name="Shape 34">
            <a:extLst>
              <a:ext uri="{FF2B5EF4-FFF2-40B4-BE49-F238E27FC236}">
                <a16:creationId xmlns:a16="http://schemas.microsoft.com/office/drawing/2014/main" id="{921BEBB3-0117-1236-20A4-B31045CC3831}"/>
              </a:ext>
            </a:extLst>
          </p:cNvPr>
          <p:cNvSpPr/>
          <p:nvPr/>
        </p:nvSpPr>
        <p:spPr>
          <a:xfrm>
            <a:off x="411163" y="3986213"/>
            <a:ext cx="384175" cy="869950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4" name="Text 35">
            <a:extLst>
              <a:ext uri="{FF2B5EF4-FFF2-40B4-BE49-F238E27FC236}">
                <a16:creationId xmlns:a16="http://schemas.microsoft.com/office/drawing/2014/main" id="{F77C5875-9D17-03F4-EBA8-6CDE28DF7909}"/>
              </a:ext>
            </a:extLst>
          </p:cNvPr>
          <p:cNvSpPr/>
          <p:nvPr/>
        </p:nvSpPr>
        <p:spPr>
          <a:xfrm>
            <a:off x="411163" y="3986213"/>
            <a:ext cx="384175" cy="8699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b="1" spc="-1">
                <a:solidFill>
                  <a:srgbClr val="1E3A8A"/>
                </a:solidFill>
                <a:latin typeface="Calibri"/>
              </a:rPr>
              <a:t>7</a:t>
            </a: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5" name="Text 36">
            <a:extLst>
              <a:ext uri="{FF2B5EF4-FFF2-40B4-BE49-F238E27FC236}">
                <a16:creationId xmlns:a16="http://schemas.microsoft.com/office/drawing/2014/main" id="{81A0D1B2-5CD0-BF74-05C3-A65BC5CB38DC}"/>
              </a:ext>
            </a:extLst>
          </p:cNvPr>
          <p:cNvSpPr/>
          <p:nvPr/>
        </p:nvSpPr>
        <p:spPr>
          <a:xfrm>
            <a:off x="914400" y="4059238"/>
            <a:ext cx="3492500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MCP connects the stack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6" name="Text 37">
            <a:extLst>
              <a:ext uri="{FF2B5EF4-FFF2-40B4-BE49-F238E27FC236}">
                <a16:creationId xmlns:a16="http://schemas.microsoft.com/office/drawing/2014/main" id="{825299AB-D6B4-ABBF-5DC5-C50DE6810AA9}"/>
              </a:ext>
            </a:extLst>
          </p:cNvPr>
          <p:cNvSpPr/>
          <p:nvPr/>
        </p:nvSpPr>
        <p:spPr>
          <a:xfrm>
            <a:off x="914400" y="4370388"/>
            <a:ext cx="3492500" cy="4032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MCP servers give both LangGraph nodes and AutoGen agents standardised tool access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7" name="Shape 38">
            <a:extLst>
              <a:ext uri="{FF2B5EF4-FFF2-40B4-BE49-F238E27FC236}">
                <a16:creationId xmlns:a16="http://schemas.microsoft.com/office/drawing/2014/main" id="{4E89F360-23A5-BB1B-7A63-F00DCAF95CD4}"/>
              </a:ext>
            </a:extLst>
          </p:cNvPr>
          <p:cNvSpPr/>
          <p:nvPr/>
        </p:nvSpPr>
        <p:spPr>
          <a:xfrm>
            <a:off x="4708525" y="3986213"/>
            <a:ext cx="4114800" cy="869950"/>
          </a:xfrm>
          <a:prstGeom prst="rect">
            <a:avLst/>
          </a:prstGeom>
          <a:solidFill>
            <a:srgbClr val="FFFFFF"/>
          </a:solidFill>
          <a:ln w="12600">
            <a:solidFill>
              <a:srgbClr val="F0F9FF"/>
            </a:solidFill>
            <a:miter/>
          </a:ln>
          <a:effectLst>
            <a:outerShdw dist="25455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8" name="Shape 39">
            <a:extLst>
              <a:ext uri="{FF2B5EF4-FFF2-40B4-BE49-F238E27FC236}">
                <a16:creationId xmlns:a16="http://schemas.microsoft.com/office/drawing/2014/main" id="{50FEE84D-25A9-8ED2-0637-103393D010BC}"/>
              </a:ext>
            </a:extLst>
          </p:cNvPr>
          <p:cNvSpPr/>
          <p:nvPr/>
        </p:nvSpPr>
        <p:spPr>
          <a:xfrm>
            <a:off x="4708525" y="3986213"/>
            <a:ext cx="384175" cy="869950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9" name="Text 40">
            <a:extLst>
              <a:ext uri="{FF2B5EF4-FFF2-40B4-BE49-F238E27FC236}">
                <a16:creationId xmlns:a16="http://schemas.microsoft.com/office/drawing/2014/main" id="{A369A5A6-DC70-869E-B7E3-D7A0F6DB5225}"/>
              </a:ext>
            </a:extLst>
          </p:cNvPr>
          <p:cNvSpPr/>
          <p:nvPr/>
        </p:nvSpPr>
        <p:spPr>
          <a:xfrm>
            <a:off x="4708525" y="3986213"/>
            <a:ext cx="384175" cy="8699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b="1" spc="-1">
                <a:solidFill>
                  <a:srgbClr val="1E3A8A"/>
                </a:solidFill>
                <a:latin typeface="Calibri"/>
              </a:rPr>
              <a:t>8</a:t>
            </a: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0" name="Text 41">
            <a:extLst>
              <a:ext uri="{FF2B5EF4-FFF2-40B4-BE49-F238E27FC236}">
                <a16:creationId xmlns:a16="http://schemas.microsoft.com/office/drawing/2014/main" id="{C3FF8293-19B5-FAD8-5617-6DB58710DEE1}"/>
              </a:ext>
            </a:extLst>
          </p:cNvPr>
          <p:cNvSpPr/>
          <p:nvPr/>
        </p:nvSpPr>
        <p:spPr>
          <a:xfrm>
            <a:off x="5211763" y="4059238"/>
            <a:ext cx="3494087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b="1" spc="-1">
                <a:solidFill>
                  <a:srgbClr val="1E3A8A"/>
                </a:solidFill>
                <a:latin typeface="Calibri"/>
              </a:rPr>
              <a:t>Observe everything</a:t>
            </a:r>
            <a:endParaRPr lang="en-US" sz="12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1" name="Text 42">
            <a:extLst>
              <a:ext uri="{FF2B5EF4-FFF2-40B4-BE49-F238E27FC236}">
                <a16:creationId xmlns:a16="http://schemas.microsoft.com/office/drawing/2014/main" id="{510E826E-4456-2D2A-3CFF-399EE87C3B7F}"/>
              </a:ext>
            </a:extLst>
          </p:cNvPr>
          <p:cNvSpPr/>
          <p:nvPr/>
        </p:nvSpPr>
        <p:spPr>
          <a:xfrm>
            <a:off x="5211763" y="4370388"/>
            <a:ext cx="3494087" cy="4032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>
                <a:solidFill>
                  <a:srgbClr val="1E3A8A"/>
                </a:solidFill>
                <a:latin typeface="Calibri"/>
              </a:rPr>
              <a:t>Use LangSmith + AutoGen Studio. Multi-agent bugs are invisible without traces</a:t>
            </a:r>
            <a:endParaRPr lang="en-US" sz="1100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3533" name="Picture 1">
            <a:extLst>
              <a:ext uri="{FF2B5EF4-FFF2-40B4-BE49-F238E27FC236}">
                <a16:creationId xmlns:a16="http://schemas.microsoft.com/office/drawing/2014/main" id="{4C0F0630-5DC0-95D0-D94C-6306D2B27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7638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" grpId="0" animBg="1"/>
      <p:bldP spid="943" grpId="0" animBg="1"/>
      <p:bldP spid="944" grpId="0"/>
      <p:bldP spid="945" grpId="0"/>
      <p:bldP spid="946" grpId="0"/>
      <p:bldP spid="947" grpId="0" animBg="1"/>
      <p:bldP spid="948" grpId="0" animBg="1"/>
      <p:bldP spid="949" grpId="0"/>
      <p:bldP spid="950" grpId="0"/>
      <p:bldP spid="951" grpId="0"/>
      <p:bldP spid="952" grpId="0" animBg="1"/>
      <p:bldP spid="953" grpId="0" animBg="1"/>
      <p:bldP spid="954" grpId="0"/>
      <p:bldP spid="955" grpId="0"/>
      <p:bldP spid="956" grpId="0"/>
      <p:bldP spid="957" grpId="0" animBg="1"/>
      <p:bldP spid="958" grpId="0" animBg="1"/>
      <p:bldP spid="959" grpId="0"/>
      <p:bldP spid="960" grpId="0"/>
      <p:bldP spid="961" grpId="0"/>
      <p:bldP spid="962" grpId="0" animBg="1"/>
      <p:bldP spid="963" grpId="0" animBg="1"/>
      <p:bldP spid="964" grpId="0"/>
      <p:bldP spid="965" grpId="0"/>
      <p:bldP spid="966" grpId="0"/>
      <p:bldP spid="967" grpId="0" animBg="1"/>
      <p:bldP spid="968" grpId="0" animBg="1"/>
      <p:bldP spid="969" grpId="0"/>
      <p:bldP spid="970" grpId="0"/>
      <p:bldP spid="971" grpId="0"/>
      <p:bldP spid="972" grpId="0" animBg="1"/>
      <p:bldP spid="973" grpId="0" animBg="1"/>
      <p:bldP spid="974" grpId="0"/>
      <p:bldP spid="975" grpId="0"/>
      <p:bldP spid="976" grpId="0"/>
      <p:bldP spid="977" grpId="0" animBg="1"/>
      <p:bldP spid="978" grpId="0" animBg="1"/>
      <p:bldP spid="979" grpId="0"/>
      <p:bldP spid="980" grpId="0"/>
      <p:bldP spid="98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>
            <a:extLst>
              <a:ext uri="{FF2B5EF4-FFF2-40B4-BE49-F238E27FC236}">
                <a16:creationId xmlns:a16="http://schemas.microsoft.com/office/drawing/2014/main" id="{D8CC9CFA-5E60-CB14-CBC2-19745E360D42}"/>
              </a:ext>
            </a:extLst>
          </p:cNvPr>
          <p:cNvSpPr/>
          <p:nvPr/>
        </p:nvSpPr>
        <p:spPr>
          <a:xfrm>
            <a:off x="-58738" y="2844800"/>
            <a:ext cx="2438401" cy="2459038"/>
          </a:xfrm>
          <a:prstGeom prst="line">
            <a:avLst/>
          </a:prstGeom>
          <a:ln w="12600">
            <a:solidFill>
              <a:schemeClr val="accent2">
                <a:lumMod val="75000"/>
                <a:alpha val="80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53648CA1-4FFF-418C-5E19-DAEA3474F4B9}"/>
              </a:ext>
            </a:extLst>
          </p:cNvPr>
          <p:cNvSpPr/>
          <p:nvPr/>
        </p:nvSpPr>
        <p:spPr>
          <a:xfrm>
            <a:off x="7399338" y="-342900"/>
            <a:ext cx="2286000" cy="2333625"/>
          </a:xfrm>
          <a:prstGeom prst="line">
            <a:avLst/>
          </a:prstGeom>
          <a:ln w="12600">
            <a:solidFill>
              <a:schemeClr val="accent2">
                <a:lumMod val="75000"/>
                <a:alpha val="80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4" name="Shape 1">
            <a:extLst>
              <a:ext uri="{FF2B5EF4-FFF2-40B4-BE49-F238E27FC236}">
                <a16:creationId xmlns:a16="http://schemas.microsoft.com/office/drawing/2014/main" id="{F6C8EB44-80FB-3236-A9B5-FD4EFC8A2F69}"/>
              </a:ext>
            </a:extLst>
          </p:cNvPr>
          <p:cNvSpPr/>
          <p:nvPr/>
        </p:nvSpPr>
        <p:spPr>
          <a:xfrm>
            <a:off x="-457200" y="3200400"/>
            <a:ext cx="2743200" cy="2743200"/>
          </a:xfrm>
          <a:prstGeom prst="line">
            <a:avLst/>
          </a:prstGeom>
          <a:ln w="12600">
            <a:solidFill>
              <a:schemeClr val="accent2">
                <a:lumMod val="75000"/>
                <a:alpha val="80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5" name="Shape 2">
            <a:extLst>
              <a:ext uri="{FF2B5EF4-FFF2-40B4-BE49-F238E27FC236}">
                <a16:creationId xmlns:a16="http://schemas.microsoft.com/office/drawing/2014/main" id="{31AC6F02-4CF2-4A04-BB69-BDB12AD24EDE}"/>
              </a:ext>
            </a:extLst>
          </p:cNvPr>
          <p:cNvSpPr/>
          <p:nvPr/>
        </p:nvSpPr>
        <p:spPr>
          <a:xfrm>
            <a:off x="7772400" y="-457200"/>
            <a:ext cx="2286000" cy="2286000"/>
          </a:xfrm>
          <a:prstGeom prst="line">
            <a:avLst/>
          </a:prstGeom>
          <a:ln w="12600">
            <a:solidFill>
              <a:schemeClr val="accent2">
                <a:lumMod val="75000"/>
                <a:alpha val="80000"/>
              </a:scheme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6" name="Text 3">
            <a:extLst>
              <a:ext uri="{FF2B5EF4-FFF2-40B4-BE49-F238E27FC236}">
                <a16:creationId xmlns:a16="http://schemas.microsoft.com/office/drawing/2014/main" id="{B929182F-8B02-78A2-09C2-69A6E44DD197}"/>
              </a:ext>
            </a:extLst>
          </p:cNvPr>
          <p:cNvSpPr/>
          <p:nvPr/>
        </p:nvSpPr>
        <p:spPr>
          <a:xfrm>
            <a:off x="457200" y="822325"/>
            <a:ext cx="8229600" cy="8239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4800" b="1" spc="-1">
                <a:solidFill>
                  <a:srgbClr val="1E3A8A"/>
                </a:solidFill>
                <a:latin typeface="Calibri"/>
              </a:rPr>
              <a:t>Thank You!</a:t>
            </a:r>
            <a:endParaRPr lang="en-US" sz="4800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7" name="Text 4">
            <a:extLst>
              <a:ext uri="{FF2B5EF4-FFF2-40B4-BE49-F238E27FC236}">
                <a16:creationId xmlns:a16="http://schemas.microsoft.com/office/drawing/2014/main" id="{197F5ACC-ACD0-1B8C-0064-E1C5D17B4C6C}"/>
              </a:ext>
            </a:extLst>
          </p:cNvPr>
          <p:cNvSpPr/>
          <p:nvPr/>
        </p:nvSpPr>
        <p:spPr>
          <a:xfrm>
            <a:off x="457200" y="1736725"/>
            <a:ext cx="8229600" cy="3667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spc="-1" dirty="0">
                <a:solidFill>
                  <a:srgbClr val="0C4A6E"/>
                </a:solidFill>
                <a:latin typeface="Calibri"/>
              </a:rPr>
              <a:t>Session 3 - Multi-Agent Systems</a:t>
            </a:r>
            <a:endParaRPr lang="en-US" sz="14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8" name="Shape 6">
            <a:extLst>
              <a:ext uri="{FF2B5EF4-FFF2-40B4-BE49-F238E27FC236}">
                <a16:creationId xmlns:a16="http://schemas.microsoft.com/office/drawing/2014/main" id="{8067DE01-66BB-6039-CF00-0A8DC07C16FD}"/>
              </a:ext>
            </a:extLst>
          </p:cNvPr>
          <p:cNvSpPr/>
          <p:nvPr/>
        </p:nvSpPr>
        <p:spPr>
          <a:xfrm>
            <a:off x="2286000" y="2606675"/>
            <a:ext cx="4572000" cy="0"/>
          </a:xfrm>
          <a:prstGeom prst="rect">
            <a:avLst/>
          </a:prstGeom>
          <a:solidFill>
            <a:srgbClr val="60A5FA"/>
          </a:solidFill>
          <a:ln w="12600">
            <a:solidFill>
              <a:srgbClr val="60A5F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440" rIns="90000" bIns="-46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9" name="Text 7">
            <a:extLst>
              <a:ext uri="{FF2B5EF4-FFF2-40B4-BE49-F238E27FC236}">
                <a16:creationId xmlns:a16="http://schemas.microsoft.com/office/drawing/2014/main" id="{3ED228B1-555C-B829-CD49-E1B5113471D1}"/>
              </a:ext>
            </a:extLst>
          </p:cNvPr>
          <p:cNvSpPr/>
          <p:nvPr/>
        </p:nvSpPr>
        <p:spPr>
          <a:xfrm>
            <a:off x="457200" y="2789238"/>
            <a:ext cx="8229600" cy="3190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i="1" spc="-1" dirty="0" err="1">
                <a:solidFill>
                  <a:srgbClr val="0C4A6E"/>
                </a:solidFill>
                <a:latin typeface="Calibri"/>
              </a:rPr>
              <a:t>LangGraph</a:t>
            </a:r>
            <a:r>
              <a:rPr lang="en-US" sz="1400" i="1" spc="-1" dirty="0">
                <a:solidFill>
                  <a:srgbClr val="0C4A6E"/>
                </a:solidFill>
                <a:latin typeface="Calibri"/>
              </a:rPr>
              <a:t> + </a:t>
            </a:r>
            <a:r>
              <a:rPr lang="en-US" sz="1400" i="1" spc="-1" dirty="0" err="1">
                <a:solidFill>
                  <a:srgbClr val="0C4A6E"/>
                </a:solidFill>
                <a:latin typeface="Calibri"/>
              </a:rPr>
              <a:t>AutoGen</a:t>
            </a:r>
            <a:r>
              <a:rPr lang="en-US" sz="1400" i="1" spc="-1" dirty="0">
                <a:solidFill>
                  <a:srgbClr val="0C4A6E"/>
                </a:solidFill>
                <a:latin typeface="Calibri"/>
              </a:rPr>
              <a:t> = Production-ready multi-agent systems</a:t>
            </a:r>
            <a:endParaRPr lang="en-US" sz="14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0" name="Text 8">
            <a:extLst>
              <a:ext uri="{FF2B5EF4-FFF2-40B4-BE49-F238E27FC236}">
                <a16:creationId xmlns:a16="http://schemas.microsoft.com/office/drawing/2014/main" id="{7A723E23-DB08-50C4-5AF9-E052AB69C38F}"/>
              </a:ext>
            </a:extLst>
          </p:cNvPr>
          <p:cNvSpPr/>
          <p:nvPr/>
        </p:nvSpPr>
        <p:spPr>
          <a:xfrm>
            <a:off x="457200" y="3154363"/>
            <a:ext cx="8229600" cy="2746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 dirty="0">
                <a:solidFill>
                  <a:srgbClr val="1E3A8A"/>
                </a:solidFill>
                <a:latin typeface="Calibri"/>
              </a:rPr>
              <a:t>The future of AI is collaborative - many </a:t>
            </a:r>
            <a:r>
              <a:rPr lang="en-US" sz="1100" spc="-1" dirty="0" err="1">
                <a:solidFill>
                  <a:srgbClr val="1E3A8A"/>
                </a:solidFill>
                <a:latin typeface="Calibri"/>
              </a:rPr>
              <a:t>specialised</a:t>
            </a:r>
            <a:r>
              <a:rPr lang="en-US" sz="1100" spc="-1" dirty="0">
                <a:solidFill>
                  <a:srgbClr val="1E3A8A"/>
                </a:solidFill>
                <a:latin typeface="Calibri"/>
              </a:rPr>
              <a:t> agents working as one intelligent system.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1" name="Shape 9">
            <a:extLst>
              <a:ext uri="{FF2B5EF4-FFF2-40B4-BE49-F238E27FC236}">
                <a16:creationId xmlns:a16="http://schemas.microsoft.com/office/drawing/2014/main" id="{775E2A42-FF1C-47B9-B96B-880CEAE1CAF3}"/>
              </a:ext>
            </a:extLst>
          </p:cNvPr>
          <p:cNvSpPr/>
          <p:nvPr/>
        </p:nvSpPr>
        <p:spPr>
          <a:xfrm>
            <a:off x="1006475" y="3657600"/>
            <a:ext cx="2376488" cy="822325"/>
          </a:xfrm>
          <a:prstGeom prst="rect">
            <a:avLst/>
          </a:prstGeom>
          <a:solidFill>
            <a:srgbClr val="38BDF8"/>
          </a:solidFill>
          <a:ln w="12600">
            <a:solidFill>
              <a:srgbClr val="38BDF8"/>
            </a:solidFill>
            <a:miter/>
          </a:ln>
          <a:effectLst>
            <a:outerShdw dist="38183" rotWithShape="0">
              <a:srgbClr val="000000">
                <a:alpha val="2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2" name="Text 10">
            <a:extLst>
              <a:ext uri="{FF2B5EF4-FFF2-40B4-BE49-F238E27FC236}">
                <a16:creationId xmlns:a16="http://schemas.microsoft.com/office/drawing/2014/main" id="{6ECCD0C1-2DB2-492C-2345-81DF6A81BD97}"/>
              </a:ext>
            </a:extLst>
          </p:cNvPr>
          <p:cNvSpPr/>
          <p:nvPr/>
        </p:nvSpPr>
        <p:spPr>
          <a:xfrm>
            <a:off x="1006475" y="3730625"/>
            <a:ext cx="2376488" cy="3206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 dirty="0" err="1">
                <a:solidFill>
                  <a:srgbClr val="1E3A8A"/>
                </a:solidFill>
                <a:latin typeface="Calibri"/>
              </a:rPr>
              <a:t>LangGraph</a:t>
            </a:r>
            <a:endParaRPr lang="en-US" sz="14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3" name="Text 11">
            <a:extLst>
              <a:ext uri="{FF2B5EF4-FFF2-40B4-BE49-F238E27FC236}">
                <a16:creationId xmlns:a16="http://schemas.microsoft.com/office/drawing/2014/main" id="{BB9CE977-9042-005E-8D07-16CC1872DBD6}"/>
              </a:ext>
            </a:extLst>
          </p:cNvPr>
          <p:cNvSpPr/>
          <p:nvPr/>
        </p:nvSpPr>
        <p:spPr>
          <a:xfrm>
            <a:off x="1006475" y="4068763"/>
            <a:ext cx="2376488" cy="3206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 dirty="0">
                <a:solidFill>
                  <a:srgbClr val="0C4A6E"/>
                </a:solidFill>
                <a:latin typeface="Calibri"/>
              </a:rPr>
              <a:t>Graph orchestration</a:t>
            </a:r>
            <a:endParaRPr lang="en-US" sz="11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4" name="Shape 12">
            <a:extLst>
              <a:ext uri="{FF2B5EF4-FFF2-40B4-BE49-F238E27FC236}">
                <a16:creationId xmlns:a16="http://schemas.microsoft.com/office/drawing/2014/main" id="{5F784337-7202-9FB5-D4D0-0718859B111B}"/>
              </a:ext>
            </a:extLst>
          </p:cNvPr>
          <p:cNvSpPr/>
          <p:nvPr/>
        </p:nvSpPr>
        <p:spPr>
          <a:xfrm>
            <a:off x="3657600" y="3657600"/>
            <a:ext cx="2378075" cy="822325"/>
          </a:xfrm>
          <a:prstGeom prst="rect">
            <a:avLst/>
          </a:prstGeom>
          <a:solidFill>
            <a:srgbClr val="0E7490"/>
          </a:solidFill>
          <a:ln w="12600">
            <a:solidFill>
              <a:srgbClr val="0E7490"/>
            </a:solidFill>
            <a:miter/>
          </a:ln>
          <a:effectLst>
            <a:outerShdw dist="38183" rotWithShape="0">
              <a:srgbClr val="000000">
                <a:alpha val="2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5" name="Text 13">
            <a:extLst>
              <a:ext uri="{FF2B5EF4-FFF2-40B4-BE49-F238E27FC236}">
                <a16:creationId xmlns:a16="http://schemas.microsoft.com/office/drawing/2014/main" id="{CDE3E5B7-C3CA-A713-6E2F-AAAA577E9204}"/>
              </a:ext>
            </a:extLst>
          </p:cNvPr>
          <p:cNvSpPr/>
          <p:nvPr/>
        </p:nvSpPr>
        <p:spPr>
          <a:xfrm>
            <a:off x="3657600" y="3730625"/>
            <a:ext cx="2378075" cy="3206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 dirty="0" err="1">
                <a:solidFill>
                  <a:schemeClr val="bg1"/>
                </a:solidFill>
                <a:latin typeface="Calibri"/>
              </a:rPr>
              <a:t>AutoGen</a:t>
            </a:r>
            <a:endParaRPr lang="en-US" sz="1400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996" name="Text 14">
            <a:extLst>
              <a:ext uri="{FF2B5EF4-FFF2-40B4-BE49-F238E27FC236}">
                <a16:creationId xmlns:a16="http://schemas.microsoft.com/office/drawing/2014/main" id="{A3985B19-E01C-F339-BA39-1040EF856BB9}"/>
              </a:ext>
            </a:extLst>
          </p:cNvPr>
          <p:cNvSpPr/>
          <p:nvPr/>
        </p:nvSpPr>
        <p:spPr>
          <a:xfrm>
            <a:off x="3657600" y="4068763"/>
            <a:ext cx="2378075" cy="3206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 dirty="0">
                <a:solidFill>
                  <a:schemeClr val="bg1"/>
                </a:solidFill>
                <a:latin typeface="Calibri"/>
              </a:rPr>
              <a:t>Team conversation</a:t>
            </a:r>
          </a:p>
        </p:txBody>
      </p:sp>
      <p:sp>
        <p:nvSpPr>
          <p:cNvPr id="997" name="Shape 15">
            <a:extLst>
              <a:ext uri="{FF2B5EF4-FFF2-40B4-BE49-F238E27FC236}">
                <a16:creationId xmlns:a16="http://schemas.microsoft.com/office/drawing/2014/main" id="{DE45261C-FD8D-2B36-7EAC-D46525A3320C}"/>
              </a:ext>
            </a:extLst>
          </p:cNvPr>
          <p:cNvSpPr/>
          <p:nvPr/>
        </p:nvSpPr>
        <p:spPr>
          <a:xfrm>
            <a:off x="6308725" y="3657600"/>
            <a:ext cx="2378075" cy="822325"/>
          </a:xfrm>
          <a:prstGeom prst="rect">
            <a:avLst/>
          </a:prstGeom>
          <a:solidFill>
            <a:srgbClr val="00695C"/>
          </a:solidFill>
          <a:ln w="12600">
            <a:solidFill>
              <a:srgbClr val="00695C"/>
            </a:solidFill>
            <a:miter/>
          </a:ln>
          <a:effectLst>
            <a:outerShdw dist="38183" rotWithShape="0">
              <a:srgbClr val="000000">
                <a:alpha val="2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998" name="Text 16">
            <a:extLst>
              <a:ext uri="{FF2B5EF4-FFF2-40B4-BE49-F238E27FC236}">
                <a16:creationId xmlns:a16="http://schemas.microsoft.com/office/drawing/2014/main" id="{AB4C361B-D4F7-101B-8844-D535581F0A02}"/>
              </a:ext>
            </a:extLst>
          </p:cNvPr>
          <p:cNvSpPr/>
          <p:nvPr/>
        </p:nvSpPr>
        <p:spPr>
          <a:xfrm>
            <a:off x="6308725" y="3730625"/>
            <a:ext cx="2378075" cy="3206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400" b="1" spc="-1">
                <a:solidFill>
                  <a:schemeClr val="bg1"/>
                </a:solidFill>
                <a:latin typeface="Calibri"/>
              </a:rPr>
              <a:t>Together</a:t>
            </a:r>
            <a:endParaRPr lang="en-US" sz="1400" spc="-1">
              <a:solidFill>
                <a:schemeClr val="bg1"/>
              </a:solidFill>
              <a:latin typeface="Calibri"/>
            </a:endParaRPr>
          </a:p>
        </p:txBody>
      </p:sp>
      <p:sp>
        <p:nvSpPr>
          <p:cNvPr id="999" name="Text 17">
            <a:extLst>
              <a:ext uri="{FF2B5EF4-FFF2-40B4-BE49-F238E27FC236}">
                <a16:creationId xmlns:a16="http://schemas.microsoft.com/office/drawing/2014/main" id="{276ECB55-A337-13FB-B1B1-D64642D22995}"/>
              </a:ext>
            </a:extLst>
          </p:cNvPr>
          <p:cNvSpPr/>
          <p:nvPr/>
        </p:nvSpPr>
        <p:spPr>
          <a:xfrm>
            <a:off x="6308725" y="4068763"/>
            <a:ext cx="2378075" cy="3206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100" spc="-1" dirty="0">
                <a:solidFill>
                  <a:schemeClr val="bg1"/>
                </a:solidFill>
                <a:latin typeface="Calibri"/>
              </a:rPr>
              <a:t>Production power</a:t>
            </a:r>
          </a:p>
        </p:txBody>
      </p:sp>
      <p:sp>
        <p:nvSpPr>
          <p:cNvPr id="1000" name="Text 19">
            <a:extLst>
              <a:ext uri="{FF2B5EF4-FFF2-40B4-BE49-F238E27FC236}">
                <a16:creationId xmlns:a16="http://schemas.microsoft.com/office/drawing/2014/main" id="{9AC6156D-05F7-A17D-8708-C17CFC943463}"/>
              </a:ext>
            </a:extLst>
          </p:cNvPr>
          <p:cNvSpPr/>
          <p:nvPr/>
        </p:nvSpPr>
        <p:spPr>
          <a:xfrm>
            <a:off x="457200" y="4919663"/>
            <a:ext cx="8229600" cy="2016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000" b="1" spc="-1" dirty="0">
                <a:solidFill>
                  <a:srgbClr val="1E3A8A"/>
                </a:solidFill>
                <a:latin typeface="Calibri"/>
              </a:rPr>
              <a:t>Session 3 of the Agentic AI Workshop — KLE Technological University</a:t>
            </a:r>
            <a:endParaRPr lang="en-US" sz="100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5557" name="Picture 1">
            <a:extLst>
              <a:ext uri="{FF2B5EF4-FFF2-40B4-BE49-F238E27FC236}">
                <a16:creationId xmlns:a16="http://schemas.microsoft.com/office/drawing/2014/main" id="{6EF373DF-0938-7376-DF53-BA2979FE1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93675"/>
            <a:ext cx="21177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" name="Shape 0">
            <a:extLst>
              <a:ext uri="{FF2B5EF4-FFF2-40B4-BE49-F238E27FC236}">
                <a16:creationId xmlns:a16="http://schemas.microsoft.com/office/drawing/2014/main" id="{A7EC1F30-4FDB-26DE-BD07-AAC7064FEEFA}"/>
              </a:ext>
            </a:extLst>
          </p:cNvPr>
          <p:cNvSpPr/>
          <p:nvPr/>
        </p:nvSpPr>
        <p:spPr>
          <a:xfrm>
            <a:off x="0" y="0"/>
            <a:ext cx="9144000" cy="55563"/>
          </a:xfrm>
          <a:prstGeom prst="rect">
            <a:avLst/>
          </a:prstGeom>
          <a:solidFill>
            <a:srgbClr val="0EA5E9"/>
          </a:solidFill>
          <a:ln w="12600">
            <a:solidFill>
              <a:srgbClr val="0EA5E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8640" rIns="90000" bIns="86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1545</TotalTime>
  <Words>3477</Words>
  <Application>Microsoft Office PowerPoint</Application>
  <PresentationFormat>Custom</PresentationFormat>
  <Paragraphs>620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DejaVu Sans</vt:lpstr>
      <vt:lpstr>Calibri</vt:lpstr>
      <vt:lpstr>Courier New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Akshat Dodwad</dc:creator>
  <cp:lastModifiedBy>Akshat Dodwad</cp:lastModifiedBy>
  <cp:revision>11</cp:revision>
  <dcterms:modified xsi:type="dcterms:W3CDTF">2026-04-16T16:06:21Z</dcterms:modified>
</cp:coreProperties>
</file>