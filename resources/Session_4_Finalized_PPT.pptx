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78" r:id="rId3"/>
    <p:sldId id="279" r:id="rId4"/>
    <p:sldId id="28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-556" y="-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732EF7-C2A5-458C-B1FA-4EEB134A35D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AFBE5-8383-4D00-804C-7C72D46D6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572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4572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🤖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27022"/>
            <a:ext cx="9089712" cy="517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96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8950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3" y="1"/>
            <a:ext cx="9109937" cy="516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4492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0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2575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</a:t>
            </a: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011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20116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7472" y="161848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" y="196596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an AI truly 'learn'?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868680"/>
            <a:ext cx="2011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868680"/>
            <a:ext cx="20116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960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🎮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23744" y="161848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23744" y="196596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AI like training a pet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868680"/>
            <a:ext cx="2011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868680"/>
            <a:ext cx="20116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864" y="960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00016" y="161848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Feedback (RLHF)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00016" y="196596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guide the AI's taste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03136" y="868680"/>
            <a:ext cx="2011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868680"/>
            <a:ext cx="20116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803136" y="960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76288" y="161848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Types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76288" y="196596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remembers things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697480"/>
            <a:ext cx="2011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697480"/>
            <a:ext cx="20116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788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347472" y="344728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7472" y="379476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the right examples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50592" y="2697480"/>
            <a:ext cx="2011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50592" y="2697480"/>
            <a:ext cx="20116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2450592" y="2788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🪞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2523744" y="344728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523744" y="379476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from its own mistakes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26864" y="2697480"/>
            <a:ext cx="2011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26864" y="2697480"/>
            <a:ext cx="20116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4626864" y="2788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🗺️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4700016" y="344728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700016" y="379476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GPS-style map for AI decisions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03136" y="2697480"/>
            <a:ext cx="2011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03136" y="2697480"/>
            <a:ext cx="20116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6803136" y="2788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6876288" y="344728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&amp; Future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876288" y="379476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is all heading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Cloud And Networking Lab.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🧠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Learning Agent?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AI vs. AI that grows smarter over time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Cloud And Networking Lab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Agentic 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AI vs. Learning Agent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31920" cy="3657600"/>
          </a:xfrm>
          <a:prstGeom prst="rect">
            <a:avLst/>
          </a:prstGeom>
          <a:solidFill>
            <a:srgbClr val="FFF0F0"/>
          </a:solidFill>
          <a:ln w="15240">
            <a:solidFill>
              <a:srgbClr val="E0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Static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printed encyclopedia.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gives the same answer to the same question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 no memory of past conversations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fix its own mistakes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Frozen — never updates after training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822960"/>
            <a:ext cx="3931920" cy="3657600"/>
          </a:xfrm>
          <a:prstGeom prst="rect">
            <a:avLst/>
          </a:prstGeom>
          <a:solidFill>
            <a:srgbClr val="F0FBF0"/>
          </a:solidFill>
          <a:ln w="1524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914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Learning Agent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4630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student who studies and improves.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Remembers past interactions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Learns from feedback (good or bad)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Corrects its own errors automatically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Gets smarter with each use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4572000"/>
            <a:ext cx="8595360" cy="349008"/>
          </a:xfrm>
          <a:prstGeom prst="rect">
            <a:avLst/>
          </a:prstGeom>
          <a:solidFill>
            <a:srgbClr val="FFF8DC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6634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Analogy: A static AI is like a DVD — the same movie every time. A Learning Agent is like Netflix — it learns your taste and improves recommendations!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·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Networking 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Lab.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🎮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AI using rewards and mistakes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Cloud And Networking 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Lab. 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— Training Like a Dog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RL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777240"/>
          </a:xfrm>
          <a:prstGeom prst="rect">
            <a:avLst/>
          </a:prstGeom>
          <a:solidFill>
            <a:srgbClr val="FFF8DC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🐕  Dog Training Analogy: Sit → Treats = Good. Bark = No treat. Over many tries, the dog learns the best behaviour to get rewards.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8346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37360"/>
            <a:ext cx="28346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783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21284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that takes actions (like playing a video game or answering a question).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1737360"/>
            <a:ext cx="28346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737360"/>
            <a:ext cx="28346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783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Environment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47288" y="221284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the agent interacts with — a game, a website, a conversation.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1737360"/>
            <a:ext cx="28346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737360"/>
            <a:ext cx="28346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1783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Reward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0528" y="221284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signal: +1 for a good move, -1 for a bad one. The agent learns to maximise this.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063240" y="2331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8090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26480" y="2331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8090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74320" y="3337560"/>
            <a:ext cx="8595360" cy="1554480"/>
          </a:xfrm>
          <a:prstGeom prst="rect">
            <a:avLst/>
          </a:prstGeom>
          <a:solidFill>
            <a:srgbClr val="FFF5F5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015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Problem with Simple RL in Language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22192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works brilliantly for games (chess, Go) where the reward is clear: win = +1, lose = -1.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language is messy. How do you give a 'score' for a helpful reply? Old metrics like BLEU/ROUGE measure word overlap — not real quality. This is where Human Feedback steps in.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Cloud And Networking 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.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— When Humans Become the Scoreboard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RLHF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FFF8DC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Analogy: Imagine two chefs both make soup. You taste both and say 'Chef A's soup is better.' They learn your taste. That's RLHF — humans compare AI responses to teach it what 'good' looks like.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20116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536192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5361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Fine-Tuning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97180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feed the AI thousands of example conversations written by humans. It learns the basics — grammar, format, helpfulness.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5603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50592" y="1444752"/>
            <a:ext cx="20116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44952" y="1536192"/>
            <a:ext cx="822960" cy="82296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5" name="Text 13"/>
          <p:cNvSpPr/>
          <p:nvPr/>
        </p:nvSpPr>
        <p:spPr>
          <a:xfrm>
            <a:off x="3044952" y="15361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42032" y="2423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Preference Pairs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42032" y="297180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humans two AI answers. They pick the better one. Repeat thousands of times. This builds a 'taste database'.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62272" y="25603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26864" y="1444752"/>
            <a:ext cx="20116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21224" y="1536192"/>
            <a:ext cx="822960" cy="8229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5221224" y="15361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18304" y="2423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Reward Model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18304" y="297180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AI studies those human choices and learns to predict which answers humans prefer — automatically.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38544" y="25603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03136" y="1444752"/>
            <a:ext cx="20116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97496" y="1536192"/>
            <a:ext cx="822960" cy="8229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7397496" y="15361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94576" y="2423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with PPO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94576" y="297180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AI is tweaked to produce responses that score highly on the Reward Model — while not straying too far from what it already knows.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28800" y="46908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Powers: ChatGPT · Claude · Gemini · Llama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·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Networking 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Lab.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RLAIF &amp; DPO — Cheaper, Faster Alignment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Advanced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114800" cy="640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RLAIF — AI Grades Itself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hiring humans to label millions of responses is very slow and expensive.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RLAIF solution: use a capable AI as the judge instead of humans!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reads pairs of responses, picks the better one, and generates thousands of preference labels per hour.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the judge AI may carry its own biases into the labels.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777240"/>
            <a:ext cx="4114800" cy="640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868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DPO — Skip the Middleman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needs 3 steps: train a base model → train a reward model → run PPO. That's expensive!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collapses this into just 2 steps — no separate reward model needed.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skipping the referee: instead of 'score this answer', you directly say 'prefer Answer A over Answer B' and the model adjusts itself.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faster, cheaper, stable — great for smaller organisations.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Cloud And Networking 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Lab.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📚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Types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stores and recalls what it knows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·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Networking Lab 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800" dirty="0" err="1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AI Memory — Like Your Own Brain!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Memory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475488"/>
          </a:xfrm>
          <a:prstGeom prst="rect">
            <a:avLst/>
          </a:prstGeom>
          <a:solidFill>
            <a:srgbClr val="FFF8DC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Analogy: Your brain also has 3 memory types: facts you know (Semantic), events you remember (Episodic), and skills like riding a bike (Procedural). AI works the same way!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274320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48132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📖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Knowledge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852928"/>
            <a:ext cx="24688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the AI knows about the world.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'The Eiffel Tower is in Paris.'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like a library — the AI searches for the most relevant fact using similarity.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640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48132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91840" y="2148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25146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Experiences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852928"/>
            <a:ext cx="24688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events or past interactions.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'Last Tuesday, user asked to fix a TypeError — here's what worked.'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with timestamps, retrieved to re-use successful past strategies.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141732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417320"/>
            <a:ext cx="2743200" cy="640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48132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217920" y="2148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Memory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25146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Habits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852928"/>
            <a:ext cx="24688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routines and best practices.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'Always validate JSON before sending to an API.'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muscle memory — automatically applies the right technique for a task type.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·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Networking Lab 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800" dirty="0" err="1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— The AI's Super-Organised Filing Cabinet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Storage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062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68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and sentences are converted to lists of numbers called 'vectors' that capture meaning.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'King' and 'Queen' will have similar numbers. 'Cat' and 'Car' will be very different.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ask a question, the AI searches for the most similar vectors — like finding the closest shelf in the filing cabinet.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E8F7F9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868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Eviction — When to Forget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3533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94960" y="13533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62763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Recently Used — delete what hasn't been accessed in a long time (like clearing old files)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223113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223113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2505456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Time-To-Live — memories expire automatically after a set time (like a coupon with an expiry date)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31089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94960" y="31089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Score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33832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memories that were very useful; let minor ones fade (like remembering exam answers, forgetting grocery lists)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398678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94960" y="398678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4261104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old details into a short summary (like taking notes instead of keeping every textbook)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·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Networking Lab 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800" dirty="0" err="1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🔍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the AI the right examples at the right time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·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Networking 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.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— Smarter Prompts, Zero Extra Training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1828800"/>
          </a:xfrm>
          <a:prstGeom prst="rect">
            <a:avLst/>
          </a:prstGeom>
          <a:solidFill>
            <a:srgbClr val="FFF5F5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503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Static Prompting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examples for every user, every task. Like giving every student the exact same textbook exercises regardless of what they struggle with.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743200"/>
            <a:ext cx="4114800" cy="1828800"/>
          </a:xfrm>
          <a:prstGeom prst="rect">
            <a:avLst/>
          </a:prstGeom>
          <a:solidFill>
            <a:srgbClr val="F0FB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8163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Dynamic Context Engineering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24612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most relevant past examples for THIS specific question. Like a tutor who looks at your history and gives you the exact exercises you need.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20624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8503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Dynamic Context Works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29844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Convert your question into a vector (number list)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4800600" y="1737360"/>
            <a:ext cx="393192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80136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Search memory for the most similar past questions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4800600" y="2240280"/>
            <a:ext cx="393192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30428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Retrieve the top 3–5 most relevant past answers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4800600" y="2743200"/>
            <a:ext cx="393192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8072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Score them by relevance + recency + quality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4800600" y="3246120"/>
            <a:ext cx="393192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31012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Inject the best ones into the prompt as examples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4800600" y="3749040"/>
            <a:ext cx="393192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81304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AI answers → log the new result → add to memory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274320" y="4636008"/>
            <a:ext cx="8595360" cy="347472"/>
          </a:xfrm>
          <a:prstGeom prst="rect">
            <a:avLst/>
          </a:prstGeom>
          <a:solidFill>
            <a:srgbClr val="FFF8DC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72744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Analogy: Result: significantly better answers with zero extra training. Smart retrieval beats bigger models!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-29666" y="4892459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·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Networking Lab 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</a:t>
            </a:r>
            <a:r>
              <a:rPr lang="en-US" sz="800" dirty="0" err="1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🪞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reads its own mistakes and tries again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Cloud And Networking 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Lab. 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— The AI Writes Its Own Report Card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475488"/>
          </a:xfrm>
          <a:prstGeom prst="rect">
            <a:avLst/>
          </a:prstGeom>
          <a:solidFill>
            <a:srgbClr val="FFF8DC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Analogy: Imagine a student who fails a test, writes down WHY they got each answer wrong, then uses those notes on the next attempt. That's Reflexion — the AI critiques itself in plain English, not code.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7432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274320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48132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🎭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4048" y="210312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(Tries to Solve)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2523744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the task — writes code, drafts an answer, or takes an action.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it in a safe sandbox.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 result: ✅ pass or ❌ fail + error message.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6517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8090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640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48132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🪞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10128" y="210312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(Judges It)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2523744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error message.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plain-language critique: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off-by-one error happened because I started the loop at 1, not 0.'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changes yet — just reflection.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26517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8090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26480" y="1417320"/>
            <a:ext cx="27432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417320"/>
            <a:ext cx="2743200" cy="640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48132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36208" y="210312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(Learns from It)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36208" y="2523744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written critique.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 Actor tries, this critique is injected as a reminder: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 NOT repeat this approach — here's why it failed.'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without retraining!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462272"/>
            <a:ext cx="8595360" cy="384048"/>
          </a:xfrm>
          <a:prstGeom prst="rect">
            <a:avLst/>
          </a:prstGeom>
          <a:solidFill>
            <a:srgbClr val="E8F7F9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Loop repeats up to 5 times. Guardrails: if the same error repeats, flag it as unsolvable and ask a human for help.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·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Networking 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.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🗺️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GPS-style map for AI decisions — not just a straight 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Cloud And Networking 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.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— Flowchart Thinking for 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475488"/>
          </a:xfrm>
          <a:prstGeom prst="rect">
            <a:avLst/>
          </a:prstGeom>
          <a:solidFill>
            <a:srgbClr val="FFF8DC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Analogy: Think of it like a GPS: it doesn't just say 'go straight'. It has decision points ('turn left if traffic is bad'), saves your position if you stop, and can ask you to confirm before a risky turn.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64008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087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</a:t>
            </a:r>
            <a:r>
              <a:rPr lang="en-US" sz="1300" b="1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Nodes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steps: ask a question, use a tool, write a reply. Each node does one job.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417320"/>
            <a:ext cx="64008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5087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➡️ Edges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19202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connecting steps. The output of one node flows into the next.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141732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417320"/>
            <a:ext cx="64008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5087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</a:t>
            </a:r>
            <a:r>
              <a:rPr lang="en-US" sz="1300" b="1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Conditional 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19202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arrows: 'if result is an error → retry; if result is correct → finish'.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17520"/>
            <a:ext cx="64008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1089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 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5204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progress at every step. If the server crashes, the AI picks up exactly where it left off — no lost work.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37560" y="301752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37560" y="3017520"/>
            <a:ext cx="64008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1089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Human-in-the-Loop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0" y="35204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pauses before sensitive actions (sending an email, making a purchase) and waits for your approval.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301752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0" y="3017520"/>
            <a:ext cx="64008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310896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</a:t>
            </a:r>
            <a:r>
              <a:rPr lang="en-US" sz="1300" b="1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Cycles 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Loops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35204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simple pipeline, LangGraph can loop back — essential for Reflexion retry patterns.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Cloud And Networking 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.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🚀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The Future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challenges and what's coming by 2027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·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Networking 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.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Real-World Deployments Often Fail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Enterprise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solidFill>
            <a:srgbClr val="FFF8DC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Analogy: A demo in a lab is like a toy car. Production is the real highway. The car needs safety belts, fuel efficiency, and real traffic handling — not just looking cool on the kitchen floor.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0690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71600"/>
            <a:ext cx="64008" cy="169164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46304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🪤  </a:t>
            </a:r>
            <a:r>
              <a:rPr lang="en-US" sz="1300" b="1" dirty="0" smtClean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</a:t>
            </a: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87452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looks impressive in controlled demos. In production, messy real-world data, edge cases, and latency requirements cause failures. Demos ≠ production.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17720" y="1371600"/>
            <a:ext cx="40690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371600"/>
            <a:ext cx="64008" cy="169164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4782312" y="146304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Bad Data = Bad 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82312" y="187452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AI failures trace back to poor data quality. If you feed garbage in, garbage comes out — doubly so for learning agents whose training data must be curated.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291840"/>
            <a:ext cx="40690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91840"/>
            <a:ext cx="64008" cy="169164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33832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</a:t>
            </a:r>
            <a:r>
              <a:rPr lang="en-US" sz="1300" b="1" dirty="0" smtClean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Cost </a:t>
            </a: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379476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fine-tuning and large memory stores are expensive. You must measure: (time saved × errors reduced) vs. (infrastructure + labelling cost).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3291840"/>
            <a:ext cx="40690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3291840"/>
            <a:ext cx="64008" cy="169164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4782312" y="33832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</a:t>
            </a:r>
            <a:r>
              <a:rPr lang="en-US" sz="1300" b="1" dirty="0" smtClean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Safety </a:t>
            </a: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Compliance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82312" y="379476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finance, healthcare, and legal industries, AI must have audit logs, human approval gates, and constitutional constraints baked in from day one — not added later.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-3281" y="4892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Cloud And Networking 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.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2027 Horizon — Where This Is All Heading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Future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0690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64008" cy="1874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6868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8912" y="14173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801368"/>
            <a:ext cx="3794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add their own new tools, memory modules, and update their own fine-tuned weights — without any human help. AI that upgrades itself.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777240"/>
            <a:ext cx="40690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777240"/>
            <a:ext cx="64008" cy="18745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86868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82312" y="14173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AI (Robots)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82312" y="1801368"/>
            <a:ext cx="3794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agents inside robots and self-driving cars. They learn from physical world interactions — bumping into walls, handling fragile objects — and improve continuously.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0690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34640"/>
            <a:ext cx="64008" cy="1874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92608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38912" y="3474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Governance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" y="3858768"/>
            <a:ext cx="3794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Fleets of AI agents sharing ethical rules (a 'constitution'). They review each other's work, specialise in different areas, and democratise AI alignment.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17720" y="2834640"/>
            <a:ext cx="40690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834640"/>
            <a:ext cx="64008" cy="18745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292608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82312" y="3474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Chips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82312" y="3858768"/>
            <a:ext cx="3794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Ultra-efficient chips running always-on learning agents locally on your phone or laptop — fast, private, no cloud needed.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·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Networking 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. 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What to Remember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64008" cy="7132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896112"/>
            <a:ext cx="475488" cy="475488"/>
          </a:xfrm>
          <a:prstGeom prst="ellipse">
            <a:avLst/>
          </a:prstGeom>
          <a:solidFill>
            <a:srgbClr val="E8F7F9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96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matters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63240" y="832104"/>
            <a:ext cx="5715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and RLAIF turn raw AI power into safe, helpful behaviour. Learning to align AI is as important as making it powerful.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60020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00200"/>
            <a:ext cx="64008" cy="7132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" y="1719072"/>
            <a:ext cx="475488" cy="475488"/>
          </a:xfrm>
          <a:prstGeom prst="ellipse">
            <a:avLst/>
          </a:prstGeom>
          <a:solidFill>
            <a:srgbClr val="E8F7F9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17190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1645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the superpower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63240" y="1655064"/>
            <a:ext cx="5715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+ episodic + procedural memory backed by vector databases is what separates a basic chatbot from a true learning agent.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42316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23160"/>
            <a:ext cx="64008" cy="7132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" y="2542032"/>
            <a:ext cx="475488" cy="475488"/>
          </a:xfrm>
          <a:prstGeom prst="ellipse">
            <a:avLst/>
          </a:prstGeom>
          <a:solidFill>
            <a:srgbClr val="E8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25420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2468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beats prompting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63240" y="2478024"/>
            <a:ext cx="5715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retrieving the right past examples beats any static prompt — and requires zero extra training.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24612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246120"/>
            <a:ext cx="64008" cy="7132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Shape 23"/>
          <p:cNvSpPr/>
          <p:nvPr/>
        </p:nvSpPr>
        <p:spPr>
          <a:xfrm>
            <a:off x="384048" y="3364992"/>
            <a:ext cx="475488" cy="475488"/>
          </a:xfrm>
          <a:prstGeom prst="ellipse">
            <a:avLst/>
          </a:prstGeom>
          <a:solidFill>
            <a:srgbClr val="E8F7F9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3364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🪞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291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enables autonomy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63240" y="3300984"/>
            <a:ext cx="5715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Generator–Evaluator–Memory loop is the most practical way to build self-correcting agents today.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069080"/>
            <a:ext cx="64008" cy="7132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Shape 29"/>
          <p:cNvSpPr/>
          <p:nvPr/>
        </p:nvSpPr>
        <p:spPr>
          <a:xfrm>
            <a:off x="384048" y="4187952"/>
            <a:ext cx="475488" cy="475488"/>
          </a:xfrm>
          <a:prstGeom prst="ellipse">
            <a:avLst/>
          </a:prstGeom>
          <a:solidFill>
            <a:srgbClr val="E8F7F9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" y="4187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05840" y="4114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beat chains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063240" y="4123944"/>
            <a:ext cx="5715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LangGraph's graph model with checkpointing and human approval gates is the production-ready way to orchestrate complex agents.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·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Networking Lab 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800" dirty="0" err="1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r>
              <a:rPr lang="en-US" sz="800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  ·  Session 4 – Simplified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🎉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4871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– Learning Agents (Simplified Edition)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063240"/>
            <a:ext cx="274320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3246120"/>
            <a:ext cx="1371600" cy="457200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&amp; RLHF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3246120"/>
            <a:ext cx="1371600" cy="457200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24028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86200" y="3246120"/>
            <a:ext cx="1371600" cy="457200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88620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32120" y="3246120"/>
            <a:ext cx="1371600" cy="457200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53212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3246120"/>
            <a:ext cx="1371600" cy="457200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886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44988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  ·  </a:t>
            </a:r>
            <a:r>
              <a:rPr lang="en-US" sz="1000" dirty="0" smtClean="0">
                <a:solidFill>
                  <a:srgbClr val="7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Networking Lab .</a:t>
            </a:r>
            <a:r>
              <a:rPr lang="en-US" sz="1000" dirty="0">
                <a:solidFill>
                  <a:srgbClr val="7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7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</a:t>
            </a:r>
            <a:r>
              <a:rPr lang="en-US" sz="1000" dirty="0">
                <a:solidFill>
                  <a:srgbClr val="7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CSE  ·  Agentic AI Workshop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2525</Words>
  <Application>Microsoft Office PowerPoint</Application>
  <PresentationFormat>On-screen Show (16:9)</PresentationFormat>
  <Paragraphs>316</Paragraphs>
  <Slides>25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Agents – Simplified</dc:title>
  <dc:subject>PptxGenJS Presentation</dc:subject>
  <dc:creator>PptxGenJS</dc:creator>
  <cp:lastModifiedBy>MyPc</cp:lastModifiedBy>
  <cp:revision>4</cp:revision>
  <dcterms:created xsi:type="dcterms:W3CDTF">2026-04-13T17:43:37Z</dcterms:created>
  <dcterms:modified xsi:type="dcterms:W3CDTF">2026-04-13T18:35:07Z</dcterms:modified>
</cp:coreProperties>
</file>